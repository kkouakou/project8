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Roboto"/>
      <p:regular r:id="rId24"/>
      <p:bold r:id="rId25"/>
      <p:italic r:id="rId26"/>
      <p:boldItalic r:id="rId27"/>
    </p:embeddedFont>
    <p:embeddedFont>
      <p:font typeface="Yeseva One"/>
      <p:regular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exvQVYDWAm17uCS4GrbwiP4oF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YesevaOne-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RobotoMono-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F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1: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63" name="Google Shape;63;p1:notes"/>
          <p:cNvSpPr txBox="1"/>
          <p:nvPr>
            <p:ph idx="12" type="sldNum"/>
          </p:nvPr>
        </p:nvSpPr>
        <p:spPr>
          <a:xfrm>
            <a:off x="3884760" y="8685360"/>
            <a:ext cx="2962080" cy="44892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fr-FR"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2:notes"/>
          <p:cNvSpPr txBox="1"/>
          <p:nvPr>
            <p:ph idx="1" type="body"/>
          </p:nvPr>
        </p:nvSpPr>
        <p:spPr>
          <a:xfrm>
            <a:off x="685800" y="4400640"/>
            <a:ext cx="5476680" cy="35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73" name="Google Shape;73;p2:notes"/>
          <p:cNvSpPr txBox="1"/>
          <p:nvPr>
            <p:ph idx="12" type="sldNum"/>
          </p:nvPr>
        </p:nvSpPr>
        <p:spPr>
          <a:xfrm>
            <a:off x="3884760" y="8685360"/>
            <a:ext cx="2962080" cy="44892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fr-FR"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8" name="Google Shape;78;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5896f6180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g395896f6180_0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4" name="Google Shape;84;g395896f6180_0_0: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2" name="Google Shape;92;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58445f59d_3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958445f59d_3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8" name="Google Shape;98;g3958445f59d_3_0: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58445f59d_7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g3958445f59d_7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4" name="Google Shape;104;g3958445f59d_7_0: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58445f59d_8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g3958445f59d_8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0" name="Google Shape;110;g3958445f59d_8_0: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587452415_0_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g39587452415_0_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6" name="Google Shape;116;g39587452415_0_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4: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14: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rm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C’est comme cela que l’on fait pour faire du Traitement sur différents Ordinateurs ( un Cluster de serveurs )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Spark ( un Framework ) est la méthode qui permet de faire travailler ensemble différents calculateurs ( parce que ce n’est pas forcément des serveurs ) : c’est ce qui est affiché à droite dans le Cluster de serveurs.  </a:t>
            </a:r>
            <a:endParaRPr b="0" sz="1200" strike="noStrike">
              <a:latin typeface="Arial"/>
              <a:ea typeface="Arial"/>
              <a:cs typeface="Arial"/>
              <a:sym typeface="Arial"/>
            </a:endParaRPr>
          </a:p>
        </p:txBody>
      </p:sp>
      <p:sp>
        <p:nvSpPr>
          <p:cNvPr id="122" name="Google Shape;122;p14:notes"/>
          <p:cNvSpPr txBox="1"/>
          <p:nvPr>
            <p:ph idx="12" type="sldNum"/>
          </p:nvPr>
        </p:nvSpPr>
        <p:spPr>
          <a:xfrm>
            <a:off x="3884760" y="8685360"/>
            <a:ext cx="2962080" cy="44892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fr-FR"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5876a071c_4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95876a071c_4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31" name="Google Shape;131;g395876a071c_4_0: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7: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Dans ce Slide, C’est l’Architecture à mettre en place ou bien choisi pour utiliser SPARK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définir c’est quoi RDD ou HDFS avec les autres éléments cités dans ce slide : pouvoir connaître la définition de tous les éléments de ce slide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200" strike="noStrike">
              <a:latin typeface="Arial"/>
              <a:ea typeface="Arial"/>
              <a:cs typeface="Arial"/>
              <a:sym typeface="Arial"/>
            </a:endParaRPr>
          </a:p>
        </p:txBody>
      </p:sp>
      <p:sp>
        <p:nvSpPr>
          <p:cNvPr id="136" name="Google Shape;136;p17: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9: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19: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rm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DataFrame : groupe de Données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Spark SQL DataFrame ( source de données ) et Apache Spark ML ( Machine Learning ) sont des fonctions différentes.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C’est un ordonnancement de mes processus ( un workflow ) : c’est un slides de méthodologie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Amazon S3 : c’est une solution qui permet de faire du Cloud sur internet ( c’est très coûteux de faire du Cloud sur internet )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Parquet est une technologie ( rien de particulier )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un calcul distribué est un traitement qui est partagé entre plusieurs ordinateurs , autrement appelé unité de calcul.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mon prétraitement : ma préparation des données ( au départ, j’ai des images, et après traitement, j’ai des données qui sont utilisables ) </a:t>
            </a:r>
            <a:endParaRPr b="0" sz="1200" strike="noStrike">
              <a:latin typeface="Arial"/>
              <a:ea typeface="Arial"/>
              <a:cs typeface="Arial"/>
              <a:sym typeface="Arial"/>
            </a:endParaRPr>
          </a:p>
        </p:txBody>
      </p:sp>
      <p:sp>
        <p:nvSpPr>
          <p:cNvPr id="143" name="Google Shape;143;p19:notes"/>
          <p:cNvSpPr txBox="1"/>
          <p:nvPr>
            <p:ph idx="12" type="sldNum"/>
          </p:nvPr>
        </p:nvSpPr>
        <p:spPr>
          <a:xfrm>
            <a:off x="3884760" y="8685360"/>
            <a:ext cx="2962080" cy="44892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fr-FR"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0: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C’est pour dire les données qui se cachent  derrière cette image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UDF User Define Fonction ( fonction défini par l’utilisateur )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Spark.save : sauvegarder ce que je suis en train de faire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SparkContext : Récupérer le contexte qu’il y a derrière Spark / récupérer les informations qui se cachent derrière ce contexte </a:t>
            </a:r>
            <a:endParaRPr b="0" sz="1200" strike="noStrike">
              <a:latin typeface="Arial"/>
              <a:ea typeface="Arial"/>
              <a:cs typeface="Arial"/>
              <a:sym typeface="Arial"/>
            </a:endParaRPr>
          </a:p>
        </p:txBody>
      </p:sp>
      <p:sp>
        <p:nvSpPr>
          <p:cNvPr id="159" name="Google Shape;159;p20: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1: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Avg = average et FC = forecast / max pool = le nombre d’itérations en nombres de données : le nombre de fois où le logiciel a tourné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CONV = Convolutional ,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ResNet utilise des connexions résiduelles pour permettre un apprentissage plus profond sans disparition du gradient. EfficientNet ajuste de manière adaptative la profondeur, la largeur et la résolution de l'image pour une utilisation efficace des ressources.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1. **Batch Norm (Normalisation par lots)** : Une technique qui normalise les activations intermédiaires d'un réseau de neurones par mini-lots d'entrées, améliorant ainsi la stabilité de l'apprentissage.</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2. **ReLu (Rectified Linear Unit)** : Une fonction d'activation couramment utilisée qui retourne l'entrée si elle est positive et zéro sinon, favorisant l'apprentissage de caractéristiques importantes dans les réseaux de neurones.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3. **Conv Block (Bloc de convolution)** : Un ensemble de couches de convolution suivies généralement de couches de normalisation et d'activation, utilisé pour extraire des caractéristiques d'une image ou d'une donnée.</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4. **ID Block (Bloc identité)** : Un bloc résiduel dans une architecture de réseau de neurones qui permet le passage d'informations directement d'une couche à l'autre, ce qui aide à prévenir la disparition des gradients pendant l'entraînement.</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5. **Flattening (Aplatissement)** : La conversion d'un tenseur multidimensionnel en un vecteur unidimensionnel, souvent utilisée pour connecter les couches de convolution à des couches entièrement connectées.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6. **Max Pool (Agrégation maximale)** : Une opération de sous-échantillonnage qui réduit la dimension d'une image ou d'une carte de caractéristiques en ne conservant que la valeur maximale dans chaque région, ce qui aide à réduire la complexité du modèle.</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1. **Avg (average)** : La moyenne arithmétique, qui est calculée en ajoutant toutes les valeurs d'un ensemble de données et en les divisant par le nombre total de valeurs. Elle est utilisée pour résumer et caractériser la tendance centrale des données.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2. **FC (forecast)** : La prévision, qui consiste à estimer ou prédire une valeur future en se basant sur des données passées et des modèles statistiques ou d'apprentissage automatique. Les prévisions sont couramment utilisées pour anticiper des événements futurs ou prendre des décisions éclairées.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100" strike="noStrike">
                <a:solidFill>
                  <a:srgbClr val="222222"/>
                </a:solidFill>
                <a:highlight>
                  <a:srgbClr val="FFFFFF"/>
                </a:highlight>
                <a:latin typeface="Arial"/>
                <a:ea typeface="Arial"/>
                <a:cs typeface="Arial"/>
                <a:sym typeface="Arial"/>
              </a:rPr>
              <a:t>Ces deux termes sont fondamentaux en Data Science, car la moyenne est souvent utilisée pour résumer des données et la prévision permet de faire des projections basées sur des données historiques.</a:t>
            </a:r>
            <a:endParaRPr b="0" sz="11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t/>
            </a:r>
            <a:endParaRPr b="0" sz="1100" strike="noStrike">
              <a:latin typeface="Arial"/>
              <a:ea typeface="Arial"/>
              <a:cs typeface="Arial"/>
              <a:sym typeface="Arial"/>
            </a:endParaRPr>
          </a:p>
        </p:txBody>
      </p:sp>
      <p:sp>
        <p:nvSpPr>
          <p:cNvPr id="180" name="Google Shape;180;p21: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3: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CLI = client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S3 = le Service d’Amazon : le logiciel pour Amazon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EC2 : concerne les calculs et T2.xlarge : mon type de serveur de calcul qui veut dire assez puissant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MLLib : le nom de la librairie pour traitement ML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 SSH : protocole de communication </a:t>
            </a:r>
            <a:endParaRPr b="0" sz="1200" strike="noStrike">
              <a:latin typeface="Arial"/>
              <a:ea typeface="Arial"/>
              <a:cs typeface="Arial"/>
              <a:sym typeface="Arial"/>
            </a:endParaRPr>
          </a:p>
          <a:p>
            <a:pPr indent="-216000" lvl="0" marL="216000" rtl="0" algn="l">
              <a:lnSpc>
                <a:spcPct val="100000"/>
              </a:lnSpc>
              <a:spcBef>
                <a:spcPts val="0"/>
              </a:spcBef>
              <a:spcAft>
                <a:spcPts val="0"/>
              </a:spcAft>
              <a:buSzPts val="1400"/>
              <a:buNone/>
            </a:pPr>
            <a:r>
              <a:rPr b="0" lang="fr-FR" sz="1200" strike="noStrike">
                <a:solidFill>
                  <a:srgbClr val="000000"/>
                </a:solidFill>
                <a:latin typeface="Calibri"/>
                <a:ea typeface="Calibri"/>
                <a:cs typeface="Calibri"/>
                <a:sym typeface="Calibri"/>
              </a:rPr>
              <a:t>IAM : Sécurisation de AWS : cryptage de AWS  </a:t>
            </a:r>
            <a:endParaRPr b="0" sz="1200" strike="noStrike">
              <a:latin typeface="Arial"/>
              <a:ea typeface="Arial"/>
              <a:cs typeface="Arial"/>
              <a:sym typeface="Arial"/>
            </a:endParaRPr>
          </a:p>
        </p:txBody>
      </p:sp>
      <p:sp>
        <p:nvSpPr>
          <p:cNvPr id="187" name="Google Shape;187;p23: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588013f93_8_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g39588013f93_8_8: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7" name="Google Shape;197;g39588013f93_8_8: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588013f93_8_13: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9588013f93_8_13: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03" name="Google Shape;203;g39588013f93_8_13: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6:notes"/>
          <p:cNvSpPr/>
          <p:nvPr>
            <p:ph idx="2" type="sldImg"/>
          </p:nvPr>
        </p:nvSpPr>
        <p:spPr>
          <a:xfrm>
            <a:off x="685800" y="1143000"/>
            <a:ext cx="5476680" cy="3076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26:notes"/>
          <p:cNvSpPr txBox="1"/>
          <p:nvPr>
            <p:ph idx="1" type="body"/>
          </p:nvPr>
        </p:nvSpPr>
        <p:spPr>
          <a:xfrm>
            <a:off x="685800" y="4400640"/>
            <a:ext cx="5476680" cy="359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09" name="Google Shape;209;p26:notes"/>
          <p:cNvSpPr txBox="1"/>
          <p:nvPr>
            <p:ph idx="12" type="sldNum"/>
          </p:nvPr>
        </p:nvSpPr>
        <p:spPr>
          <a:xfrm>
            <a:off x="3884760" y="8685360"/>
            <a:ext cx="2962080" cy="44892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fr-FR"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 name="Shape 13"/>
        <p:cNvGrpSpPr/>
        <p:nvPr/>
      </p:nvGrpSpPr>
      <p:grpSpPr>
        <a:xfrm>
          <a:off x="0" y="0"/>
          <a:ext cx="0" cy="0"/>
          <a:chOff x="0" y="0"/>
          <a:chExt cx="0" cy="0"/>
        </a:xfrm>
      </p:grpSpPr>
      <p:sp>
        <p:nvSpPr>
          <p:cNvPr id="14" name="Google Shape;14;p3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3"/>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33"/>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 name="Shape 17"/>
        <p:cNvGrpSpPr/>
        <p:nvPr/>
      </p:nvGrpSpPr>
      <p:grpSpPr>
        <a:xfrm>
          <a:off x="0" y="0"/>
          <a:ext cx="0" cy="0"/>
          <a:chOff x="0" y="0"/>
          <a:chExt cx="0" cy="0"/>
        </a:xfrm>
      </p:grpSpPr>
      <p:sp>
        <p:nvSpPr>
          <p:cNvPr id="18" name="Google Shape;18;p3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1"/>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0" name="Shape 20"/>
        <p:cNvGrpSpPr/>
        <p:nvPr/>
      </p:nvGrpSpPr>
      <p:grpSpPr>
        <a:xfrm>
          <a:off x="0" y="0"/>
          <a:ext cx="0" cy="0"/>
          <a:chOff x="0" y="0"/>
          <a:chExt cx="0" cy="0"/>
        </a:xfrm>
      </p:grpSpPr>
      <p:sp>
        <p:nvSpPr>
          <p:cNvPr id="21" name="Google Shape;21;p3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2"/>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35"/>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3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36"/>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36"/>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3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7"/>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3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37"/>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3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3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38"/>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3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9"/>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39"/>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4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4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40"/>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40"/>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4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1"/>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41"/>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41"/>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41"/>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41"/>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41"/>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7"/>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
          <p:cNvPicPr preferRelativeResize="0"/>
          <p:nvPr/>
        </p:nvPicPr>
        <p:blipFill rotWithShape="1">
          <a:blip r:embed="rId3">
            <a:alphaModFix/>
          </a:blip>
          <a:srcRect b="0" l="0" r="0" t="0"/>
          <a:stretch/>
        </p:blipFill>
        <p:spPr>
          <a:xfrm>
            <a:off x="0" y="360"/>
            <a:ext cx="12182400" cy="6848280"/>
          </a:xfrm>
          <a:prstGeom prst="rect">
            <a:avLst/>
          </a:prstGeom>
          <a:noFill/>
          <a:ln>
            <a:noFill/>
          </a:ln>
        </p:spPr>
      </p:pic>
      <p:sp>
        <p:nvSpPr>
          <p:cNvPr id="66" name="Google Shape;66;p1"/>
          <p:cNvSpPr/>
          <p:nvPr/>
        </p:nvSpPr>
        <p:spPr>
          <a:xfrm>
            <a:off x="360000" y="1279080"/>
            <a:ext cx="8582400" cy="2680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rgbClr val="FFFFFF"/>
                </a:solidFill>
                <a:latin typeface="Yeseva One"/>
                <a:ea typeface="Yeseva One"/>
                <a:cs typeface="Yeseva One"/>
                <a:sym typeface="Yeseva One"/>
              </a:rPr>
              <a:t>Name: Kevin Moihie KOUAKOU</a:t>
            </a:r>
            <a:endParaRPr b="1" i="0" sz="4400" u="none" cap="none" strike="noStrike">
              <a:solidFill>
                <a:srgbClr val="FFFFFF"/>
              </a:solidFill>
              <a:latin typeface="Yeseva One"/>
              <a:ea typeface="Yeseva One"/>
              <a:cs typeface="Yeseva One"/>
              <a:sym typeface="Yeseva One"/>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Yeseva One"/>
              <a:ea typeface="Yeseva One"/>
              <a:cs typeface="Yeseva One"/>
              <a:sym typeface="Yeseva One"/>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Yeseva One"/>
              <a:ea typeface="Yeseva One"/>
              <a:cs typeface="Yeseva One"/>
              <a:sym typeface="Yeseva One"/>
            </a:endParaRPr>
          </a:p>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rgbClr val="FFFFFF"/>
                </a:solidFill>
                <a:latin typeface="Yeseva One"/>
                <a:ea typeface="Yeseva One"/>
                <a:cs typeface="Yeseva One"/>
                <a:sym typeface="Yeseva One"/>
              </a:rPr>
              <a:t>School : OPENCLASSROOMS</a:t>
            </a:r>
            <a:endParaRPr b="0" i="0" sz="4400" u="none" cap="none" strike="noStrike">
              <a:solidFill>
                <a:srgbClr val="000000"/>
              </a:solidFill>
              <a:latin typeface="Arial"/>
              <a:ea typeface="Arial"/>
              <a:cs typeface="Arial"/>
              <a:sym typeface="Arial"/>
            </a:endParaRPr>
          </a:p>
        </p:txBody>
      </p:sp>
      <p:sp>
        <p:nvSpPr>
          <p:cNvPr id="67" name="Google Shape;67;p1"/>
          <p:cNvSpPr/>
          <p:nvPr/>
        </p:nvSpPr>
        <p:spPr>
          <a:xfrm>
            <a:off x="516240" y="3658320"/>
            <a:ext cx="3927240" cy="360"/>
          </a:xfrm>
          <a:custGeom>
            <a:rect b="b" l="l" r="r" t="t"/>
            <a:pathLst>
              <a:path extrusionOk="0" h="21600" w="21600">
                <a:moveTo>
                  <a:pt x="0" y="0"/>
                </a:moveTo>
                <a:lnTo>
                  <a:pt x="21600" y="21600"/>
                </a:lnTo>
              </a:path>
            </a:pathLst>
          </a:custGeom>
          <a:noFill/>
          <a:ln cap="flat" cmpd="sng" w="9525">
            <a:solidFill>
              <a:srgbClr val="FFFFFF"/>
            </a:solidFill>
            <a:prstDash val="solid"/>
            <a:round/>
            <a:headEnd len="sm" w="sm" type="none"/>
            <a:tailEnd len="sm" w="sm" type="none"/>
          </a:ln>
        </p:spPr>
      </p:sp>
      <p:sp>
        <p:nvSpPr>
          <p:cNvPr id="68" name="Google Shape;68;p1"/>
          <p:cNvSpPr/>
          <p:nvPr/>
        </p:nvSpPr>
        <p:spPr>
          <a:xfrm>
            <a:off x="303120" y="360000"/>
            <a:ext cx="9407520" cy="759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rgbClr val="FFFFFF"/>
                </a:solidFill>
                <a:latin typeface="Calibri"/>
                <a:ea typeface="Calibri"/>
                <a:cs typeface="Calibri"/>
                <a:sym typeface="Calibri"/>
              </a:rPr>
              <a:t>DÉPLOYEZ UN MODÈLE DANS LE CLOUD</a:t>
            </a:r>
            <a:endParaRPr b="0" i="0" sz="4400" u="none" cap="none" strike="noStrike">
              <a:solidFill>
                <a:srgbClr val="000000"/>
              </a:solidFill>
              <a:latin typeface="Arial"/>
              <a:ea typeface="Arial"/>
              <a:cs typeface="Arial"/>
              <a:sym typeface="Arial"/>
            </a:endParaRPr>
          </a:p>
        </p:txBody>
      </p:sp>
      <p:sp>
        <p:nvSpPr>
          <p:cNvPr id="69" name="Google Shape;69;p1"/>
          <p:cNvSpPr/>
          <p:nvPr/>
        </p:nvSpPr>
        <p:spPr>
          <a:xfrm>
            <a:off x="247320" y="4320000"/>
            <a:ext cx="9283680" cy="1200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rgbClr val="FFFFFF"/>
                </a:solidFill>
                <a:latin typeface="Calibri"/>
                <a:ea typeface="Calibri"/>
                <a:cs typeface="Calibri"/>
                <a:sym typeface="Calibri"/>
              </a:rPr>
              <a:t>Sous-titre : Pipeline de Feature Extraction distribué pour la classification d'images de fruits  </a:t>
            </a:r>
            <a:endParaRPr b="0" i="0" sz="44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5"/>
                                        </p:tgtEl>
                                        <p:attrNameLst>
                                          <p:attrName>style.visibility</p:attrName>
                                        </p:attrNameLst>
                                      </p:cBhvr>
                                      <p:to>
                                        <p:strVal val="visible"/>
                                      </p:to>
                                    </p:set>
                                    <p:anim calcmode="lin" valueType="num">
                                      <p:cBhvr additive="base">
                                        <p:cTn dur="500"/>
                                        <p:tgtEl>
                                          <p:spTgt spid="65"/>
                                        </p:tgtEl>
                                        <p:attrNameLst>
                                          <p:attrName>ppt_w</p:attrName>
                                        </p:attrNameLst>
                                      </p:cBhvr>
                                      <p:tavLst>
                                        <p:tav fmla="" tm="0">
                                          <p:val>
                                            <p:strVal val="0"/>
                                          </p:val>
                                        </p:tav>
                                        <p:tav fmla="" tm="100000">
                                          <p:val>
                                            <p:strVal val="#ppt_w"/>
                                          </p:val>
                                        </p:tav>
                                      </p:tavLst>
                                    </p:anim>
                                    <p:anim calcmode="lin" valueType="num">
                                      <p:cBhvr additive="base">
                                        <p:cTn dur="500"/>
                                        <p:tgtEl>
                                          <p:spTgt spid="6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400"/>
                                  </p:stCondLst>
                                  <p:childTnLst>
                                    <p:set>
                                      <p:cBhvr>
                                        <p:cTn dur="1" fill="hold">
                                          <p:stCondLst>
                                            <p:cond delay="0"/>
                                          </p:stCondLst>
                                        </p:cTn>
                                        <p:tgtEl>
                                          <p:spTgt spid="66"/>
                                        </p:tgtEl>
                                        <p:attrNameLst>
                                          <p:attrName>style.visibility</p:attrName>
                                        </p:attrNameLst>
                                      </p:cBhvr>
                                      <p:to>
                                        <p:strVal val="visible"/>
                                      </p:to>
                                    </p:set>
                                    <p:animEffect filter="fade" transition="in">
                                      <p:cBhvr>
                                        <p:cTn dur="750"/>
                                        <p:tgtEl>
                                          <p:spTgt spid="66"/>
                                        </p:tgtEl>
                                      </p:cBhvr>
                                    </p:animEffect>
                                  </p:childTnLst>
                                </p:cTn>
                              </p:par>
                              <p:par>
                                <p:cTn fill="hold" nodeType="withEffect" presetClass="entr" presetID="10" presetSubtype="0">
                                  <p:stCondLst>
                                    <p:cond delay="300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p:nvPr/>
        </p:nvSpPr>
        <p:spPr>
          <a:xfrm>
            <a:off x="0" y="0"/>
            <a:ext cx="12279960" cy="63097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Clr>
                <a:srgbClr val="000000"/>
              </a:buClr>
              <a:buSzPts val="5200"/>
              <a:buFont typeface="Arial"/>
              <a:buNone/>
            </a:pPr>
            <a:r>
              <a:rPr b="1" i="0" lang="fr-FR" sz="5200" u="none" cap="none" strike="noStrike">
                <a:solidFill>
                  <a:srgbClr val="0000FF"/>
                </a:solidFill>
                <a:latin typeface="Arial"/>
                <a:ea typeface="Arial"/>
                <a:cs typeface="Arial"/>
                <a:sym typeface="Arial"/>
              </a:rPr>
              <a:t>Présentation </a:t>
            </a:r>
            <a:endParaRPr b="0" i="0" sz="5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highlight>
                  <a:srgbClr val="FFFFFF"/>
                </a:highlight>
                <a:latin typeface="Arial"/>
                <a:ea typeface="Arial"/>
                <a:cs typeface="Arial"/>
                <a:sym typeface="Arial"/>
              </a:rPr>
              <a:t>Introduction : </a:t>
            </a:r>
            <a:r>
              <a:rPr b="0" i="1" lang="fr-FR" sz="3500" u="none" cap="none" strike="noStrike">
                <a:solidFill>
                  <a:srgbClr val="FF00FF"/>
                </a:solidFill>
                <a:highlight>
                  <a:srgbClr val="FFFFFF"/>
                </a:highlight>
                <a:latin typeface="Arial"/>
                <a:ea typeface="Arial"/>
                <a:cs typeface="Arial"/>
                <a:sym typeface="Arial"/>
              </a:rPr>
              <a:t>Objectif et Spécifications du Projet</a:t>
            </a:r>
            <a:r>
              <a:rPr b="1" i="1" lang="fr-FR" sz="3500" u="none" cap="none" strike="noStrike">
                <a:solidFill>
                  <a:srgbClr val="FF00FF"/>
                </a:solidFill>
                <a:highlight>
                  <a:srgbClr val="FFFFFF"/>
                </a:highlight>
                <a:latin typeface="Arial"/>
                <a:ea typeface="Arial"/>
                <a:cs typeface="Arial"/>
                <a:sym typeface="Arial"/>
              </a:rPr>
              <a:t>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Description du Jeu de Données</a:t>
            </a:r>
            <a:r>
              <a:rPr b="0" i="1" lang="fr-FR" sz="3500" u="none" cap="none" strike="noStrike">
                <a:solidFill>
                  <a:srgbClr val="FF00FF"/>
                </a:solidFill>
                <a:latin typeface="Arial"/>
                <a:ea typeface="Arial"/>
                <a:cs typeface="Arial"/>
                <a:sym typeface="Arial"/>
              </a:rPr>
              <a:t> : Fruits-360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Préparation de l'Environnement</a:t>
            </a:r>
            <a:r>
              <a:rPr b="0" i="1" lang="fr-FR" sz="3500" u="none" cap="none" strike="noStrike">
                <a:solidFill>
                  <a:srgbClr val="FF00FF"/>
                </a:solidFill>
                <a:latin typeface="Arial"/>
                <a:ea typeface="Arial"/>
                <a:cs typeface="Arial"/>
                <a:sym typeface="Arial"/>
              </a:rPr>
              <a:t> : Local vs. Cloud (AWS)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Architecture de la Solution :</a:t>
            </a:r>
            <a:r>
              <a:rPr b="0" i="1" lang="fr-FR" sz="3500" u="none" cap="none" strike="noStrike">
                <a:solidFill>
                  <a:srgbClr val="FF00FF"/>
                </a:solidFill>
                <a:latin typeface="Arial"/>
                <a:ea typeface="Arial"/>
                <a:cs typeface="Arial"/>
                <a:sym typeface="Arial"/>
              </a:rPr>
              <a:t>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0" i="1" lang="fr-FR" sz="3500" u="none" cap="none" strike="noStrike">
                <a:solidFill>
                  <a:srgbClr val="FF00FF"/>
                </a:solidFill>
                <a:latin typeface="Arial"/>
                <a:ea typeface="Arial"/>
                <a:cs typeface="Arial"/>
                <a:sym typeface="Arial"/>
              </a:rPr>
              <a:t>Traitement distribué avec PySpark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Méthodologie :</a:t>
            </a:r>
            <a:r>
              <a:rPr b="0" i="1" lang="fr-FR" sz="3500" u="none" cap="none" strike="noStrike">
                <a:solidFill>
                  <a:srgbClr val="FF00FF"/>
                </a:solidFill>
                <a:latin typeface="Arial"/>
                <a:ea typeface="Arial"/>
                <a:cs typeface="Arial"/>
                <a:sym typeface="Arial"/>
              </a:rPr>
              <a:t> Pipeline d'Extraction de Features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Déploiement sur AWS :</a:t>
            </a:r>
            <a:r>
              <a:rPr b="0" i="1" lang="fr-FR" sz="3500" u="none" cap="none" strike="noStrike">
                <a:solidFill>
                  <a:srgbClr val="FF00FF"/>
                </a:solidFill>
                <a:latin typeface="Arial"/>
                <a:ea typeface="Arial"/>
                <a:cs typeface="Arial"/>
                <a:sym typeface="Arial"/>
              </a:rPr>
              <a:t> Configuration et Mise en Œuvre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Analyse des Résultats &amp; Conclusion</a:t>
            </a:r>
            <a:r>
              <a:rPr b="0" i="1" lang="fr-FR" sz="3500" u="none" cap="none" strike="noStrike">
                <a:solidFill>
                  <a:srgbClr val="FF00FF"/>
                </a:solidFill>
                <a:latin typeface="Arial"/>
                <a:ea typeface="Arial"/>
                <a:cs typeface="Arial"/>
                <a:sym typeface="Arial"/>
              </a:rPr>
              <a:t>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rPr b="1" i="1" lang="fr-FR" sz="3500" u="none" cap="none" strike="noStrike">
                <a:solidFill>
                  <a:srgbClr val="FF00FF"/>
                </a:solidFill>
                <a:latin typeface="Arial"/>
                <a:ea typeface="Arial"/>
                <a:cs typeface="Arial"/>
                <a:sym typeface="Arial"/>
              </a:rPr>
              <a:t>Apprentissages Clés &amp; Perspectives</a:t>
            </a:r>
            <a:r>
              <a:rPr b="0" i="1" lang="fr-FR" sz="3500" u="none" cap="none" strike="noStrike">
                <a:solidFill>
                  <a:srgbClr val="FF00FF"/>
                </a:solidFill>
                <a:latin typeface="Arial"/>
                <a:ea typeface="Arial"/>
                <a:cs typeface="Arial"/>
                <a:sym typeface="Arial"/>
              </a:rPr>
              <a:t> </a:t>
            </a:r>
            <a:endParaRPr b="0" i="0" sz="3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p:nvPr/>
        </p:nvSpPr>
        <p:spPr>
          <a:xfrm>
            <a:off x="43200" y="61200"/>
            <a:ext cx="12143520" cy="67435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2200"/>
              <a:buFont typeface="Arial"/>
              <a:buNone/>
            </a:pPr>
            <a:r>
              <a:rPr b="1" i="1" lang="fr-FR" sz="2200" u="none" cap="none" strike="noStrike">
                <a:solidFill>
                  <a:srgbClr val="FF0000"/>
                </a:solidFill>
                <a:latin typeface="Arial"/>
                <a:ea typeface="Arial"/>
                <a:cs typeface="Arial"/>
                <a:sym typeface="Arial"/>
              </a:rPr>
              <a:t>Introduction - Objectif et Spécifications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Objectif du Projet : </a:t>
            </a:r>
            <a:endParaRPr b="1"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fr-FR" sz="2200" u="none" cap="none" strike="noStrike">
                <a:solidFill>
                  <a:srgbClr val="000000"/>
                </a:solidFill>
                <a:latin typeface="Arial"/>
                <a:ea typeface="Arial"/>
                <a:cs typeface="Arial"/>
                <a:sym typeface="Arial"/>
              </a:rPr>
              <a:t>Développer un pipeline de traitement d'images capable de s'adapter à de très grands volumes de données, en utilisant le calcul distribué.</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fr-FR" sz="2200" u="none" cap="none" strike="noStrike">
                <a:solidFill>
                  <a:srgbClr val="000000"/>
                </a:solidFill>
                <a:latin typeface="Arial"/>
                <a:ea typeface="Arial"/>
                <a:cs typeface="Arial"/>
                <a:sym typeface="Arial"/>
              </a:rPr>
              <a:t>Extraire des caractéristiques (features) d'images de fruits et légumes de manière distribuée.</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fr-FR" sz="2200" u="none" cap="none" strike="noStrike">
                <a:solidFill>
                  <a:srgbClr val="000000"/>
                </a:solidFill>
                <a:latin typeface="Arial"/>
                <a:ea typeface="Arial"/>
                <a:cs typeface="Arial"/>
                <a:sym typeface="Arial"/>
              </a:rPr>
              <a:t>Préparer les données pour une future phase de classification/apprentissage automatique.</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fr-FR" sz="2200" u="none" cap="none" strike="noStrike">
                <a:solidFill>
                  <a:srgbClr val="000000"/>
                </a:solidFill>
                <a:latin typeface="Arial"/>
                <a:ea typeface="Arial"/>
                <a:cs typeface="Arial"/>
                <a:sym typeface="Arial"/>
              </a:rPr>
              <a:t>Mettre en œuvre une architecture scalable sur le cloud (AWS) pour industrialiser le processus.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fr-FR" sz="2200" u="none" cap="none" strike="noStrike">
                <a:solidFill>
                  <a:srgbClr val="000000"/>
                </a:solidFill>
                <a:latin typeface="Arial"/>
                <a:ea typeface="Arial"/>
                <a:cs typeface="Arial"/>
                <a:sym typeface="Arial"/>
              </a:rPr>
              <a:t>Déployer la solution sur une infrastructure cloud scalable (AWS).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Spécifications Techniques du Prototype :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Framework Big Data</a:t>
            </a:r>
            <a:r>
              <a:rPr b="0" i="0" lang="fr-FR" sz="2200" u="none" cap="none" strike="noStrike">
                <a:solidFill>
                  <a:srgbClr val="000000"/>
                </a:solidFill>
                <a:latin typeface="Arial"/>
                <a:ea typeface="Arial"/>
                <a:cs typeface="Arial"/>
                <a:sym typeface="Arial"/>
              </a:rPr>
              <a:t> : Apache Spark (via PySpark) pour le traitement distribué.</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Deep Learning :</a:t>
            </a:r>
            <a:r>
              <a:rPr b="0" i="0" lang="fr-FR" sz="2200" u="none" cap="none" strike="noStrike">
                <a:solidFill>
                  <a:srgbClr val="000000"/>
                </a:solidFill>
                <a:latin typeface="Arial"/>
                <a:ea typeface="Arial"/>
                <a:cs typeface="Arial"/>
                <a:sym typeface="Arial"/>
              </a:rPr>
              <a:t> TensorFlow / Keras pour l'extraction de features.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Modèle de Feature Extraction :</a:t>
            </a:r>
            <a:r>
              <a:rPr b="0" i="0" lang="fr-FR" sz="2200" u="none" cap="none" strike="noStrike">
                <a:solidFill>
                  <a:srgbClr val="000000"/>
                </a:solidFill>
                <a:latin typeface="Arial"/>
                <a:ea typeface="Arial"/>
                <a:cs typeface="Arial"/>
                <a:sym typeface="Arial"/>
              </a:rPr>
              <a:t> MobileNetV2, pré-entraîné sur ImageNet, choisi pour sa légèreté, sa rapidité et la faible dimension de son vecteur de sortie (1280).</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Infrastructure Cible :</a:t>
            </a:r>
            <a:r>
              <a:rPr b="0" i="0" lang="fr-FR" sz="2200" u="none" cap="none" strike="noStrike">
                <a:solidFill>
                  <a:srgbClr val="000000"/>
                </a:solidFill>
                <a:latin typeface="Arial"/>
                <a:ea typeface="Arial"/>
                <a:cs typeface="Arial"/>
                <a:sym typeface="Arial"/>
              </a:rPr>
              <a:t> Cluster AWS EMR (Elastic MapReduce) pour le calcul à la demande.</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rgbClr val="000000"/>
                </a:solidFill>
                <a:latin typeface="Arial"/>
                <a:ea typeface="Arial"/>
                <a:cs typeface="Arial"/>
                <a:sym typeface="Arial"/>
              </a:rPr>
              <a:t>Stockage :</a:t>
            </a:r>
            <a:r>
              <a:rPr b="0" i="0" lang="fr-FR" sz="2200" u="none" cap="none" strike="noStrike">
                <a:solidFill>
                  <a:srgbClr val="000000"/>
                </a:solidFill>
                <a:latin typeface="Arial"/>
                <a:ea typeface="Arial"/>
                <a:cs typeface="Arial"/>
                <a:sym typeface="Arial"/>
              </a:rPr>
              <a:t> AWS S3 (Simple Storage Service) pour un stockage durable, scalable des données et indépendant du cluster de calcul.</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95896f6180_0_0"/>
          <p:cNvSpPr txBox="1"/>
          <p:nvPr>
            <p:ph type="title"/>
          </p:nvPr>
        </p:nvSpPr>
        <p:spPr>
          <a:xfrm>
            <a:off x="609480" y="273600"/>
            <a:ext cx="10972500" cy="1144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7" name="Google Shape;87;g395896f6180_0_0"/>
          <p:cNvSpPr txBox="1"/>
          <p:nvPr>
            <p:ph idx="1" type="body"/>
          </p:nvPr>
        </p:nvSpPr>
        <p:spPr>
          <a:xfrm>
            <a:off x="66375" y="-230900"/>
            <a:ext cx="5897400" cy="6985800"/>
          </a:xfrm>
          <a:prstGeom prst="rect">
            <a:avLst/>
          </a:prstGeom>
          <a:noFill/>
          <a:ln>
            <a:noFill/>
          </a:ln>
        </p:spPr>
        <p:txBody>
          <a:bodyPr anchorCtr="0" anchor="t" bIns="0" lIns="0" spcFirstLastPara="1" rIns="0" wrap="square" tIns="0">
            <a:normAutofit fontScale="85000" lnSpcReduction="20000"/>
          </a:bodyPr>
          <a:lstStyle/>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SzPct val="86687"/>
              <a:buNone/>
            </a:pPr>
            <a:r>
              <a:t/>
            </a:r>
            <a:endParaRPr sz="1900">
              <a:solidFill>
                <a:schemeClr val="dk1"/>
              </a:solidFill>
            </a:endParaRPr>
          </a:p>
          <a:p>
            <a:pPr indent="0" lvl="0" marL="0" rtl="0" algn="l">
              <a:lnSpc>
                <a:spcPct val="100000"/>
              </a:lnSpc>
              <a:spcBef>
                <a:spcPts val="0"/>
              </a:spcBef>
              <a:spcAft>
                <a:spcPts val="0"/>
              </a:spcAft>
              <a:buSzPct val="86687"/>
              <a:buNone/>
            </a:pPr>
            <a:r>
              <a:t/>
            </a:r>
            <a:endParaRPr sz="1900">
              <a:solidFill>
                <a:schemeClr val="dk1"/>
              </a:solidFill>
            </a:endParaRPr>
          </a:p>
          <a:p>
            <a:pPr indent="0" lvl="0" marL="0" rtl="0" algn="l">
              <a:lnSpc>
                <a:spcPct val="100000"/>
              </a:lnSpc>
              <a:spcBef>
                <a:spcPts val="0"/>
              </a:spcBef>
              <a:spcAft>
                <a:spcPts val="0"/>
              </a:spcAft>
              <a:buSzPct val="86687"/>
              <a:buNone/>
            </a:pPr>
            <a:r>
              <a:t/>
            </a:r>
            <a:endParaRPr sz="1900">
              <a:solidFill>
                <a:schemeClr val="dk1"/>
              </a:solidFill>
            </a:endParaRPr>
          </a:p>
          <a:p>
            <a:pPr indent="0" lvl="0" marL="0" rtl="0" algn="l">
              <a:lnSpc>
                <a:spcPct val="100000"/>
              </a:lnSpc>
              <a:spcBef>
                <a:spcPts val="0"/>
              </a:spcBef>
              <a:spcAft>
                <a:spcPts val="0"/>
              </a:spcAft>
              <a:buSzPct val="57509"/>
              <a:buNone/>
            </a:pPr>
            <a:r>
              <a:t/>
            </a:r>
            <a:endParaRPr b="1" i="1" sz="2864">
              <a:solidFill>
                <a:srgbClr val="FF0000"/>
              </a:solidFill>
            </a:endParaRPr>
          </a:p>
          <a:p>
            <a:pPr indent="0" lvl="0" marL="0" rtl="0" algn="l">
              <a:lnSpc>
                <a:spcPct val="100000"/>
              </a:lnSpc>
              <a:spcBef>
                <a:spcPts val="0"/>
              </a:spcBef>
              <a:spcAft>
                <a:spcPts val="0"/>
              </a:spcAft>
              <a:buSzPct val="57509"/>
              <a:buNone/>
            </a:pPr>
            <a:r>
              <a:t/>
            </a:r>
            <a:endParaRPr b="1" i="1" sz="2864">
              <a:solidFill>
                <a:srgbClr val="FF0000"/>
              </a:solidFill>
            </a:endParaRPr>
          </a:p>
          <a:p>
            <a:pPr indent="0" lvl="0" marL="0" rtl="0" algn="l">
              <a:lnSpc>
                <a:spcPct val="100000"/>
              </a:lnSpc>
              <a:spcBef>
                <a:spcPts val="0"/>
              </a:spcBef>
              <a:spcAft>
                <a:spcPts val="0"/>
              </a:spcAft>
              <a:buClr>
                <a:schemeClr val="dk1"/>
              </a:buClr>
              <a:buSzPct val="57509"/>
              <a:buFont typeface="Arial"/>
              <a:buNone/>
            </a:pPr>
            <a:r>
              <a:rPr b="1" i="1" lang="fr-FR" sz="2864">
                <a:solidFill>
                  <a:srgbClr val="FF0000"/>
                </a:solidFill>
              </a:rPr>
              <a:t>Le Jeu de Données - Fruits 360</a:t>
            </a:r>
            <a:endParaRPr sz="2864">
              <a:solidFill>
                <a:schemeClr val="dk1"/>
              </a:solidFill>
            </a:endParaRPr>
          </a:p>
          <a:p>
            <a:pPr indent="0" lvl="0" marL="0" rtl="0" algn="l">
              <a:lnSpc>
                <a:spcPct val="100000"/>
              </a:lnSpc>
              <a:spcBef>
                <a:spcPts val="0"/>
              </a:spcBef>
              <a:spcAft>
                <a:spcPts val="0"/>
              </a:spcAft>
              <a:buSzPct val="86687"/>
              <a:buNone/>
            </a:pPr>
            <a:r>
              <a:t/>
            </a:r>
            <a:endParaRPr b="1" i="1" sz="1900">
              <a:solidFill>
                <a:schemeClr val="dk1"/>
              </a:solidFill>
            </a:endParaRPr>
          </a:p>
          <a:p>
            <a:pPr indent="0" lvl="0" marL="0" rtl="0" algn="l">
              <a:lnSpc>
                <a:spcPct val="100000"/>
              </a:lnSpc>
              <a:spcBef>
                <a:spcPts val="0"/>
              </a:spcBef>
              <a:spcAft>
                <a:spcPts val="0"/>
              </a:spcAft>
              <a:buSzPct val="86687"/>
              <a:buNone/>
            </a:pPr>
            <a:r>
              <a:t/>
            </a:r>
            <a:endParaRPr b="1" i="1" sz="1900">
              <a:solidFill>
                <a:schemeClr val="dk1"/>
              </a:solidFill>
            </a:endParaRPr>
          </a:p>
          <a:p>
            <a:pPr indent="0" lvl="0" marL="0" rtl="0" algn="l">
              <a:lnSpc>
                <a:spcPct val="100000"/>
              </a:lnSpc>
              <a:spcBef>
                <a:spcPts val="0"/>
              </a:spcBef>
              <a:spcAft>
                <a:spcPts val="0"/>
              </a:spcAft>
              <a:buSzPct val="86687"/>
              <a:buNone/>
            </a:pPr>
            <a:r>
              <a:rPr b="1" i="1" lang="fr-FR" sz="1900">
                <a:solidFill>
                  <a:schemeClr val="dk1"/>
                </a:solidFill>
              </a:rPr>
              <a:t>Source :</a:t>
            </a:r>
            <a:r>
              <a:rPr lang="fr-FR" sz="1900">
                <a:solidFill>
                  <a:schemeClr val="dk1"/>
                </a:solidFill>
              </a:rPr>
              <a:t> Dataset public "Fruits 360".</a:t>
            </a:r>
            <a:endParaRPr b="1" i="1" sz="1900">
              <a:solidFill>
                <a:schemeClr val="dk1"/>
              </a:solidFill>
            </a:endParaRPr>
          </a:p>
          <a:p>
            <a:pPr indent="0" lvl="0" marL="0" rtl="0" algn="l">
              <a:lnSpc>
                <a:spcPct val="100000"/>
              </a:lnSpc>
              <a:spcBef>
                <a:spcPts val="0"/>
              </a:spcBef>
              <a:spcAft>
                <a:spcPts val="0"/>
              </a:spcAft>
              <a:buSzPct val="86687"/>
              <a:buNone/>
            </a:pPr>
            <a:r>
              <a:t/>
            </a:r>
            <a:endParaRPr b="1" i="1"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b="1" i="1" lang="fr-FR" sz="1900">
                <a:solidFill>
                  <a:schemeClr val="dk1"/>
                </a:solidFill>
              </a:rPr>
              <a:t>Description générale :</a:t>
            </a:r>
            <a:r>
              <a:rPr lang="fr-FR" sz="1900">
                <a:solidFill>
                  <a:schemeClr val="dk1"/>
                </a:solidFill>
              </a:rPr>
              <a:t> Contient 90,380 images de 131 fruits et légumes différents.</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b="1" i="1" lang="fr-FR" sz="1900">
                <a:solidFill>
                  <a:schemeClr val="dk1"/>
                </a:solidFill>
              </a:rPr>
              <a:t>Sous-ensemble utilisé pour le prototype :</a:t>
            </a:r>
            <a:r>
              <a:rPr lang="fr-FR" sz="1900">
                <a:solidFill>
                  <a:schemeClr val="dk1"/>
                </a:solidFill>
              </a:rPr>
              <a:t> 10 catégories (ex: Fraise, Pomme Red Delicious, Poivron Vert, Maïs, Banane, Tomate, Pomme de terre, Ananas, Orange, Pêche).</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b="1" i="1" lang="fr-FR" sz="1900">
                <a:solidFill>
                  <a:schemeClr val="dk1"/>
                </a:solidFill>
              </a:rPr>
              <a:t>Caractéristiques des images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i="1" lang="fr-FR" sz="1900">
                <a:solidFill>
                  <a:schemeClr val="dk1"/>
                </a:solidFill>
              </a:rPr>
              <a:t>Dimensions :</a:t>
            </a:r>
            <a:r>
              <a:rPr lang="fr-FR" sz="1900">
                <a:solidFill>
                  <a:schemeClr val="dk1"/>
                </a:solidFill>
              </a:rPr>
              <a:t> 100 x 100 pixels.</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i="1" lang="fr-FR" sz="1900">
                <a:solidFill>
                  <a:schemeClr val="dk1"/>
                </a:solidFill>
              </a:rPr>
              <a:t>Type :</a:t>
            </a:r>
            <a:r>
              <a:rPr lang="fr-FR" sz="1900">
                <a:solidFill>
                  <a:schemeClr val="dk1"/>
                </a:solidFill>
              </a:rPr>
              <a:t> Couleur (RVB - 3 canaux).</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b="1" i="1" lang="fr-FR" sz="1900">
                <a:solidFill>
                  <a:schemeClr val="dk1"/>
                </a:solidFill>
              </a:rPr>
              <a:t>Volume des données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lang="fr-FR" sz="1900">
                <a:solidFill>
                  <a:schemeClr val="dk1"/>
                </a:solidFill>
              </a:rPr>
              <a:t>67,692 images pour l'entraînement.</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lang="fr-FR" sz="1900">
                <a:solidFill>
                  <a:schemeClr val="dk1"/>
                </a:solidFill>
              </a:rPr>
              <a:t>22,688 images pour le test.</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t/>
            </a:r>
            <a:endParaRPr sz="1900">
              <a:solidFill>
                <a:schemeClr val="dk1"/>
              </a:solidFill>
            </a:endParaRPr>
          </a:p>
          <a:p>
            <a:pPr indent="0" lvl="0" marL="0" rtl="0" algn="l">
              <a:lnSpc>
                <a:spcPct val="100000"/>
              </a:lnSpc>
              <a:spcBef>
                <a:spcPts val="0"/>
              </a:spcBef>
              <a:spcAft>
                <a:spcPts val="0"/>
              </a:spcAft>
              <a:buClr>
                <a:schemeClr val="dk1"/>
              </a:buClr>
              <a:buSzPct val="86687"/>
              <a:buFont typeface="Arial"/>
              <a:buNone/>
            </a:pPr>
            <a:r>
              <a:rPr b="1" i="1" lang="fr-FR" sz="1900">
                <a:solidFill>
                  <a:schemeClr val="dk1"/>
                </a:solidFill>
              </a:rPr>
              <a:t>Objectif :</a:t>
            </a:r>
            <a:r>
              <a:rPr lang="fr-FR" sz="1900">
                <a:solidFill>
                  <a:schemeClr val="dk1"/>
                </a:solidFill>
              </a:rPr>
              <a:t> Utiliser ce dataset comme base pour valider un pipeline d'extraction de features à grande échelle.</a:t>
            </a:r>
            <a:endParaRPr sz="1900">
              <a:solidFill>
                <a:schemeClr val="dk1"/>
              </a:solidFill>
            </a:endParaRPr>
          </a:p>
          <a:p>
            <a:pPr indent="0" lvl="0" marL="0" rtl="0" algn="l">
              <a:lnSpc>
                <a:spcPct val="100000"/>
              </a:lnSpc>
              <a:spcBef>
                <a:spcPts val="0"/>
              </a:spcBef>
              <a:spcAft>
                <a:spcPts val="0"/>
              </a:spcAft>
              <a:buSzPct val="91503"/>
              <a:buNone/>
            </a:pPr>
            <a:r>
              <a:t/>
            </a:r>
            <a:endParaRPr/>
          </a:p>
        </p:txBody>
      </p:sp>
      <p:sp>
        <p:nvSpPr>
          <p:cNvPr id="88" name="Google Shape;88;g395896f6180_0_0"/>
          <p:cNvSpPr txBox="1"/>
          <p:nvPr>
            <p:ph idx="2" type="body"/>
          </p:nvPr>
        </p:nvSpPr>
        <p:spPr>
          <a:xfrm>
            <a:off x="6227575" y="-230900"/>
            <a:ext cx="5354400" cy="7089000"/>
          </a:xfrm>
          <a:prstGeom prst="rect">
            <a:avLst/>
          </a:prstGeom>
          <a:noFill/>
          <a:ln>
            <a:noFill/>
          </a:ln>
        </p:spPr>
        <p:txBody>
          <a:bodyPr anchorCtr="0" anchor="t" bIns="0" lIns="0" spcFirstLastPara="1" rIns="0" wrap="square" tIns="0">
            <a:normAutofit/>
          </a:bodyPr>
          <a:lstStyle/>
          <a:p>
            <a:pPr indent="0" lvl="0" marL="0" rtl="0" algn="ctr">
              <a:lnSpc>
                <a:spcPct val="80000"/>
              </a:lnSpc>
              <a:spcBef>
                <a:spcPts val="0"/>
              </a:spcBef>
              <a:spcAft>
                <a:spcPts val="0"/>
              </a:spcAft>
              <a:buNone/>
            </a:pPr>
            <a:r>
              <a:t/>
            </a:r>
            <a:endParaRPr sz="4300">
              <a:solidFill>
                <a:schemeClr val="dk1"/>
              </a:solidFill>
              <a:latin typeface="Calibri"/>
              <a:ea typeface="Calibri"/>
              <a:cs typeface="Calibri"/>
              <a:sym typeface="Calibri"/>
            </a:endParaRPr>
          </a:p>
          <a:p>
            <a:pPr indent="0" lvl="0" marL="0" rtl="0" algn="ctr">
              <a:lnSpc>
                <a:spcPct val="80000"/>
              </a:lnSpc>
              <a:spcBef>
                <a:spcPts val="0"/>
              </a:spcBef>
              <a:spcAft>
                <a:spcPts val="0"/>
              </a:spcAft>
              <a:buNone/>
            </a:pPr>
            <a:r>
              <a:rPr lang="fr-FR" sz="4300">
                <a:solidFill>
                  <a:schemeClr val="dk1"/>
                </a:solidFill>
                <a:latin typeface="Calibri"/>
                <a:ea typeface="Calibri"/>
                <a:cs typeface="Calibri"/>
                <a:sym typeface="Calibri"/>
              </a:rPr>
              <a:t>Dataset Description</a:t>
            </a:r>
            <a:endParaRPr sz="27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fr-FR" sz="2700">
                <a:solidFill>
                  <a:schemeClr val="dk1"/>
                </a:solidFill>
                <a:latin typeface="Calibri"/>
                <a:ea typeface="Calibri"/>
                <a:cs typeface="Calibri"/>
                <a:sym typeface="Calibri"/>
              </a:rPr>
              <a:t>Fruit 360 is a dataset with 90380 images of 131 fruits and vegetables, containing only 10 fruits/vegetables (Strawberry, Apple_Red_Delicious, Pepper_Green, Corn, Banana, Tomato_1, Potato_White, Pineapple, Orange, and Peach)</a:t>
            </a:r>
            <a:endParaRPr sz="2700">
              <a:solidFill>
                <a:schemeClr val="dk1"/>
              </a:solidFill>
            </a:endParaRPr>
          </a:p>
          <a:p>
            <a:pPr indent="0" lvl="0" marL="0" rtl="0" algn="l">
              <a:lnSpc>
                <a:spcPct val="80000"/>
              </a:lnSpc>
              <a:spcBef>
                <a:spcPts val="1001"/>
              </a:spcBef>
              <a:spcAft>
                <a:spcPts val="0"/>
              </a:spcAft>
              <a:buNone/>
            </a:pPr>
            <a:r>
              <a:rPr lang="fr-FR" sz="2700">
                <a:solidFill>
                  <a:schemeClr val="dk1"/>
                </a:solidFill>
                <a:latin typeface="Calibri"/>
                <a:ea typeface="Calibri"/>
                <a:cs typeface="Calibri"/>
                <a:sym typeface="Calibri"/>
              </a:rPr>
              <a:t>Images are 100 pixel by 100 pixel and are color (RGB) images (Hence, 3 values for each pixel). </a:t>
            </a:r>
            <a:endParaRPr sz="2700">
              <a:solidFill>
                <a:schemeClr val="dk1"/>
              </a:solidFill>
            </a:endParaRPr>
          </a:p>
          <a:p>
            <a:pPr indent="0" lvl="0" marL="0" rtl="0" algn="l">
              <a:lnSpc>
                <a:spcPct val="80000"/>
              </a:lnSpc>
              <a:spcBef>
                <a:spcPts val="1001"/>
              </a:spcBef>
              <a:spcAft>
                <a:spcPts val="0"/>
              </a:spcAft>
              <a:buNone/>
            </a:pPr>
            <a:r>
              <a:rPr lang="fr-FR" sz="2700">
                <a:solidFill>
                  <a:schemeClr val="dk1"/>
                </a:solidFill>
                <a:latin typeface="Calibri"/>
                <a:ea typeface="Calibri"/>
                <a:cs typeface="Calibri"/>
                <a:sym typeface="Calibri"/>
              </a:rPr>
              <a:t>67,692 images in the training dataset.</a:t>
            </a:r>
            <a:endParaRPr sz="2700">
              <a:solidFill>
                <a:schemeClr val="dk1"/>
              </a:solidFill>
            </a:endParaRPr>
          </a:p>
          <a:p>
            <a:pPr indent="0" lvl="0" marL="0" rtl="0" algn="l">
              <a:lnSpc>
                <a:spcPct val="80000"/>
              </a:lnSpc>
              <a:spcBef>
                <a:spcPts val="1001"/>
              </a:spcBef>
              <a:spcAft>
                <a:spcPts val="0"/>
              </a:spcAft>
              <a:buNone/>
            </a:pPr>
            <a:r>
              <a:rPr lang="fr-FR" sz="2700">
                <a:solidFill>
                  <a:schemeClr val="dk1"/>
                </a:solidFill>
                <a:latin typeface="Calibri"/>
                <a:ea typeface="Calibri"/>
                <a:cs typeface="Calibri"/>
                <a:sym typeface="Calibri"/>
              </a:rPr>
              <a:t>22,688 images in the test dataset.</a:t>
            </a:r>
            <a:endParaRPr sz="2700">
              <a:solidFill>
                <a:schemeClr val="dk1"/>
              </a:solidFill>
            </a:endParaRPr>
          </a:p>
          <a:p>
            <a:pPr indent="0" lvl="0" marL="0" rtl="0" algn="l">
              <a:lnSpc>
                <a:spcPct val="80000"/>
              </a:lnSpc>
              <a:spcBef>
                <a:spcPts val="1001"/>
              </a:spcBef>
              <a:spcAft>
                <a:spcPts val="0"/>
              </a:spcAft>
              <a:buClr>
                <a:schemeClr val="dk1"/>
              </a:buClr>
              <a:buSzPts val="1400"/>
              <a:buFont typeface="Arial"/>
              <a:buNone/>
            </a:pPr>
            <a:r>
              <a:t/>
            </a:r>
            <a:endParaRPr sz="2700">
              <a:solidFill>
                <a:schemeClr val="dk1"/>
              </a:solidFill>
            </a:endParaRPr>
          </a:p>
          <a:p>
            <a:pPr indent="0" lvl="0" marL="0" rtl="0" algn="l">
              <a:lnSpc>
                <a:spcPct val="90000"/>
              </a:lnSpc>
              <a:spcBef>
                <a:spcPts val="0"/>
              </a:spcBef>
              <a:spcAft>
                <a:spcPts val="0"/>
              </a:spcAft>
              <a:buSzPts val="1400"/>
              <a:buNone/>
            </a:pPr>
            <a:r>
              <a:t/>
            </a:r>
            <a:endParaRPr sz="1700"/>
          </a:p>
        </p:txBody>
      </p:sp>
      <p:pic>
        <p:nvPicPr>
          <p:cNvPr id="89" name="Google Shape;89;g395896f6180_0_0"/>
          <p:cNvPicPr preferRelativeResize="0"/>
          <p:nvPr/>
        </p:nvPicPr>
        <p:blipFill rotWithShape="1">
          <a:blip r:embed="rId3">
            <a:alphaModFix/>
          </a:blip>
          <a:srcRect b="0" l="0" r="0" t="34533"/>
          <a:stretch/>
        </p:blipFill>
        <p:spPr>
          <a:xfrm>
            <a:off x="5963765" y="5642650"/>
            <a:ext cx="6001199" cy="12153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p:nvPr/>
        </p:nvSpPr>
        <p:spPr>
          <a:xfrm>
            <a:off x="0" y="0"/>
            <a:ext cx="12192000" cy="685800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2400"/>
              </a:spcBef>
              <a:spcAft>
                <a:spcPts val="0"/>
              </a:spcAft>
              <a:buClr>
                <a:schemeClr val="dk1"/>
              </a:buClr>
              <a:buSzPts val="1100"/>
              <a:buFont typeface="Arial"/>
              <a:buNone/>
            </a:pPr>
            <a:r>
              <a:rPr b="1" i="0" lang="fr-FR" sz="2100" u="none" cap="none" strike="noStrike">
                <a:solidFill>
                  <a:srgbClr val="0F1115"/>
                </a:solidFill>
                <a:highlight>
                  <a:srgbClr val="FFFFFF"/>
                </a:highlight>
                <a:latin typeface="Roboto"/>
                <a:ea typeface="Roboto"/>
                <a:cs typeface="Roboto"/>
                <a:sym typeface="Roboto"/>
              </a:rPr>
              <a:t>Préparation de l'Environnement - Défis et Solutions</a:t>
            </a:r>
            <a:endParaRPr b="1" i="0" sz="2100" u="none" cap="none" strike="noStrike">
              <a:solidFill>
                <a:srgbClr val="0F1115"/>
              </a:solidFill>
              <a:highlight>
                <a:srgbClr val="FFFFFF"/>
              </a:highlight>
              <a:latin typeface="Roboto"/>
              <a:ea typeface="Roboto"/>
              <a:cs typeface="Roboto"/>
              <a:sym typeface="Roboto"/>
            </a:endParaRPr>
          </a:p>
          <a:p>
            <a:pPr indent="-342900" lvl="0" marL="457200" marR="0" rtl="0" algn="l">
              <a:lnSpc>
                <a:spcPct val="115000"/>
              </a:lnSpc>
              <a:spcBef>
                <a:spcPts val="120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Développement en local (Simulation sur Windows) :</a:t>
            </a:r>
            <a:endParaRPr b="1" i="0" sz="18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1800" u="none" cap="none" strike="noStrike">
                <a:solidFill>
                  <a:srgbClr val="0F1115"/>
                </a:solidFill>
                <a:highlight>
                  <a:srgbClr val="FFFFFF"/>
                </a:highlight>
                <a:latin typeface="Roboto"/>
                <a:ea typeface="Roboto"/>
                <a:cs typeface="Roboto"/>
                <a:sym typeface="Roboto"/>
              </a:rPr>
              <a:t>Configuration :</a:t>
            </a:r>
            <a:r>
              <a:rPr b="0" i="0" lang="fr-FR" sz="1800" u="none" cap="none" strike="noStrike">
                <a:solidFill>
                  <a:srgbClr val="0F1115"/>
                </a:solidFill>
                <a:highlight>
                  <a:srgbClr val="FFFFFF"/>
                </a:highlight>
                <a:latin typeface="Roboto"/>
                <a:ea typeface="Roboto"/>
                <a:cs typeface="Roboto"/>
                <a:sym typeface="Roboto"/>
              </a:rPr>
              <a:t> Spark en mode </a:t>
            </a:r>
            <a:r>
              <a:rPr b="0" i="0" lang="fr-FR" sz="1650" u="none" cap="none" strike="noStrike">
                <a:solidFill>
                  <a:srgbClr val="0F1115"/>
                </a:solidFill>
                <a:highlight>
                  <a:srgbClr val="EBEEF2"/>
                </a:highlight>
                <a:latin typeface="Roboto Mono"/>
                <a:ea typeface="Roboto Mono"/>
                <a:cs typeface="Roboto Mono"/>
                <a:sym typeface="Roboto Mono"/>
              </a:rPr>
              <a:t>local[*]</a:t>
            </a:r>
            <a:r>
              <a:rPr b="0" i="0" lang="fr-FR" sz="1800" u="none" cap="none" strike="noStrike">
                <a:solidFill>
                  <a:srgbClr val="0F1115"/>
                </a:solidFill>
                <a:highlight>
                  <a:srgbClr val="FFFFFF"/>
                </a:highlight>
                <a:latin typeface="Roboto"/>
                <a:ea typeface="Roboto"/>
                <a:cs typeface="Roboto"/>
                <a:sym typeface="Roboto"/>
              </a:rPr>
              <a:t>, simulant un cluster en utilisant tous les cœurs du processeur.</a:t>
            </a:r>
            <a:endParaRPr b="0" i="0" sz="1800" u="none" cap="none" strike="noStrike">
              <a:solidFill>
                <a:srgbClr val="0F1115"/>
              </a:solidFill>
              <a:highlight>
                <a:srgbClr val="FFFFFF"/>
              </a:highlight>
              <a:latin typeface="Roboto"/>
              <a:ea typeface="Roboto"/>
              <a:cs typeface="Roboto"/>
              <a:sym typeface="Roboto"/>
            </a:endParaRPr>
          </a:p>
          <a:p>
            <a:pPr indent="-342900" lvl="1" marL="9144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Objectif :</a:t>
            </a:r>
            <a:r>
              <a:rPr b="0" i="0" lang="fr-FR" sz="1800" u="none" cap="none" strike="noStrike">
                <a:solidFill>
                  <a:srgbClr val="0F1115"/>
                </a:solidFill>
                <a:highlight>
                  <a:srgbClr val="FFFFFF"/>
                </a:highlight>
                <a:latin typeface="Roboto"/>
                <a:ea typeface="Roboto"/>
                <a:cs typeface="Roboto"/>
                <a:sym typeface="Roboto"/>
              </a:rPr>
              <a:t> Valider la logique du code et la chaîne de traitement (prétraitement, UDF) avant le déploiement cloud.</a:t>
            </a:r>
            <a:endParaRPr b="0" i="0" sz="1800" u="none" cap="none" strike="noStrike">
              <a:solidFill>
                <a:srgbClr val="0F1115"/>
              </a:solidFill>
              <a:highlight>
                <a:srgbClr val="FFFFFF"/>
              </a:highlight>
              <a:latin typeface="Roboto"/>
              <a:ea typeface="Roboto"/>
              <a:cs typeface="Roboto"/>
              <a:sym typeface="Roboto"/>
            </a:endParaRPr>
          </a:p>
          <a:p>
            <a:pPr indent="-342900" lvl="1" marL="9144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Défis rencontrés (spécifiques à Windows) :</a:t>
            </a:r>
            <a:endParaRPr b="1" i="0" sz="1800" u="none" cap="none" strike="noStrike">
              <a:solidFill>
                <a:srgbClr val="0F1115"/>
              </a:solidFill>
              <a:highlight>
                <a:srgbClr val="FFFFFF"/>
              </a:highlight>
              <a:latin typeface="Roboto"/>
              <a:ea typeface="Roboto"/>
              <a:cs typeface="Roboto"/>
              <a:sym typeface="Roboto"/>
            </a:endParaRPr>
          </a:p>
          <a:p>
            <a:pPr indent="-342900" lvl="2" marL="1371600" marR="0" rtl="0" algn="l">
              <a:lnSpc>
                <a:spcPct val="115000"/>
              </a:lnSpc>
              <a:spcBef>
                <a:spcPts val="0"/>
              </a:spcBef>
              <a:spcAft>
                <a:spcPts val="0"/>
              </a:spcAft>
              <a:buClr>
                <a:srgbClr val="0F1115"/>
              </a:buClr>
              <a:buSzPts val="1800"/>
              <a:buFont typeface="Roboto"/>
              <a:buChar char="■"/>
            </a:pPr>
            <a:r>
              <a:rPr b="0" i="0" lang="fr-FR" sz="1800" u="none" cap="none" strike="noStrike">
                <a:solidFill>
                  <a:srgbClr val="0F1115"/>
                </a:solidFill>
                <a:highlight>
                  <a:srgbClr val="FFFFFF"/>
                </a:highlight>
                <a:latin typeface="Roboto"/>
                <a:ea typeface="Roboto"/>
                <a:cs typeface="Roboto"/>
                <a:sym typeface="Roboto"/>
              </a:rPr>
              <a:t>Problèmes de compatibilité </a:t>
            </a:r>
            <a:r>
              <a:rPr b="1" i="0" lang="fr-FR" sz="1800" u="none" cap="none" strike="noStrike">
                <a:solidFill>
                  <a:srgbClr val="0F1115"/>
                </a:solidFill>
                <a:highlight>
                  <a:srgbClr val="FFFFFF"/>
                </a:highlight>
                <a:latin typeface="Roboto"/>
                <a:ea typeface="Roboto"/>
                <a:cs typeface="Roboto"/>
                <a:sym typeface="Roboto"/>
              </a:rPr>
              <a:t>Hadoop/Windows</a:t>
            </a:r>
            <a:r>
              <a:rPr b="0" i="0" lang="fr-FR" sz="1800" u="none" cap="none" strike="noStrike">
                <a:solidFill>
                  <a:srgbClr val="0F1115"/>
                </a:solidFill>
                <a:highlight>
                  <a:srgbClr val="FFFFFF"/>
                </a:highlight>
                <a:latin typeface="Roboto"/>
                <a:ea typeface="Roboto"/>
                <a:cs typeface="Roboto"/>
                <a:sym typeface="Roboto"/>
              </a:rPr>
              <a:t> (nécessité de winutils) lors de la lecture de fichiers.</a:t>
            </a:r>
            <a:endParaRPr b="0" i="0" sz="18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0" i="0" lang="fr-FR" sz="1800" u="none" cap="none" strike="noStrike">
                <a:solidFill>
                  <a:srgbClr val="0F1115"/>
                </a:solidFill>
                <a:highlight>
                  <a:srgbClr val="FFFFFF"/>
                </a:highlight>
                <a:latin typeface="Roboto"/>
                <a:ea typeface="Roboto"/>
                <a:cs typeface="Roboto"/>
                <a:sym typeface="Roboto"/>
              </a:rPr>
              <a:t>Instabilité des UDF complexes (</a:t>
            </a:r>
            <a:r>
              <a:rPr b="0" i="0" lang="fr-FR" sz="1650" u="none" cap="none" strike="noStrike">
                <a:solidFill>
                  <a:srgbClr val="0F1115"/>
                </a:solidFill>
                <a:highlight>
                  <a:srgbClr val="EBEEF2"/>
                </a:highlight>
                <a:latin typeface="Roboto Mono"/>
                <a:ea typeface="Roboto Mono"/>
                <a:cs typeface="Roboto Mono"/>
                <a:sym typeface="Roboto Mono"/>
              </a:rPr>
              <a:t>SCALAR_ITER</a:t>
            </a:r>
            <a:r>
              <a:rPr b="0" i="0" lang="fr-FR" sz="1800" u="none" cap="none" strike="noStrike">
                <a:solidFill>
                  <a:srgbClr val="0F1115"/>
                </a:solidFill>
                <a:highlight>
                  <a:srgbClr val="FFFFFF"/>
                </a:highlight>
                <a:latin typeface="Roboto"/>
                <a:ea typeface="Roboto"/>
                <a:cs typeface="Roboto"/>
                <a:sym typeface="Roboto"/>
              </a:rPr>
              <a:t>) et erreurs de mémoire.</a:t>
            </a:r>
            <a:endParaRPr b="0" i="0" sz="18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0" i="0" lang="fr-FR" sz="1800" u="none" cap="none" strike="noStrike">
                <a:solidFill>
                  <a:srgbClr val="0F1115"/>
                </a:solidFill>
                <a:highlight>
                  <a:srgbClr val="FFFFFF"/>
                </a:highlight>
                <a:latin typeface="Roboto"/>
                <a:ea typeface="Roboto"/>
                <a:cs typeface="Roboto"/>
                <a:sym typeface="Roboto"/>
              </a:rPr>
              <a:t>Limitations de la configuration </a:t>
            </a:r>
            <a:r>
              <a:rPr b="0" i="0" lang="fr-FR" sz="1650" u="none" cap="none" strike="noStrike">
                <a:solidFill>
                  <a:srgbClr val="0F1115"/>
                </a:solidFill>
                <a:highlight>
                  <a:srgbClr val="EBEEF2"/>
                </a:highlight>
                <a:latin typeface="Roboto Mono"/>
                <a:ea typeface="Roboto Mono"/>
                <a:cs typeface="Roboto Mono"/>
                <a:sym typeface="Roboto Mono"/>
              </a:rPr>
              <a:t>local[*]</a:t>
            </a:r>
            <a:r>
              <a:rPr b="0" i="0" lang="fr-FR" sz="1800" u="none" cap="none" strike="noStrike">
                <a:solidFill>
                  <a:srgbClr val="0F1115"/>
                </a:solidFill>
                <a:highlight>
                  <a:srgbClr val="FFFFFF"/>
                </a:highlight>
                <a:latin typeface="Roboto"/>
                <a:ea typeface="Roboto"/>
                <a:cs typeface="Roboto"/>
                <a:sym typeface="Roboto"/>
              </a:rPr>
              <a:t> pour le test à grande échelle.</a:t>
            </a:r>
            <a:endParaRPr b="0" i="0" sz="18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1800" u="none" cap="none" strike="noStrike">
                <a:solidFill>
                  <a:srgbClr val="0F1115"/>
                </a:solidFill>
                <a:highlight>
                  <a:srgbClr val="FFFFFF"/>
                </a:highlight>
                <a:latin typeface="Roboto"/>
                <a:ea typeface="Roboto"/>
                <a:cs typeface="Roboto"/>
                <a:sym typeface="Roboto"/>
              </a:rPr>
              <a:t>Solution :</a:t>
            </a:r>
            <a:r>
              <a:rPr b="0" i="0" lang="fr-FR" sz="1800" u="none" cap="none" strike="noStrike">
                <a:solidFill>
                  <a:srgbClr val="0F1115"/>
                </a:solidFill>
                <a:highlight>
                  <a:srgbClr val="FFFFFF"/>
                </a:highlight>
                <a:latin typeface="Roboto"/>
                <a:ea typeface="Roboto"/>
                <a:cs typeface="Roboto"/>
                <a:sym typeface="Roboto"/>
              </a:rPr>
              <a:t> Adaptation du code avec une UDF </a:t>
            </a:r>
            <a:r>
              <a:rPr b="0" i="0" lang="fr-FR" sz="1650" u="none" cap="none" strike="noStrike">
                <a:solidFill>
                  <a:srgbClr val="0F1115"/>
                </a:solidFill>
                <a:highlight>
                  <a:srgbClr val="EBEEF2"/>
                </a:highlight>
                <a:latin typeface="Roboto Mono"/>
                <a:ea typeface="Roboto Mono"/>
                <a:cs typeface="Roboto Mono"/>
                <a:sym typeface="Roboto Mono"/>
              </a:rPr>
              <a:t>SCALAR</a:t>
            </a:r>
            <a:r>
              <a:rPr b="0" i="0" lang="fr-FR" sz="1800" u="none" cap="none" strike="noStrike">
                <a:solidFill>
                  <a:srgbClr val="0F1115"/>
                </a:solidFill>
                <a:highlight>
                  <a:srgbClr val="FFFFFF"/>
                </a:highlight>
                <a:latin typeface="Roboto"/>
                <a:ea typeface="Roboto"/>
                <a:cs typeface="Roboto"/>
                <a:sym typeface="Roboto"/>
              </a:rPr>
              <a:t> simplifiée et plus stable pour assurer la stabilité et prouver le concept.</a:t>
            </a:r>
            <a:endParaRPr b="0" i="0" sz="1800" u="none" cap="none" strike="noStrike">
              <a:solidFill>
                <a:srgbClr val="0F1115"/>
              </a:solidFill>
              <a:highlight>
                <a:srgbClr val="FFFFFF"/>
              </a:highlight>
              <a:latin typeface="Roboto"/>
              <a:ea typeface="Roboto"/>
              <a:cs typeface="Roboto"/>
              <a:sym typeface="Roboto"/>
            </a:endParaRPr>
          </a:p>
          <a:p>
            <a:pPr indent="-342900" lvl="0" marL="4572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Déploiement sur le Cloud (AWS) :</a:t>
            </a:r>
            <a:endParaRPr b="1" i="0" sz="1800" u="none" cap="none" strike="noStrike">
              <a:solidFill>
                <a:srgbClr val="0F1115"/>
              </a:solidFill>
              <a:highlight>
                <a:srgbClr val="FFFFFF"/>
              </a:highlight>
              <a:latin typeface="Roboto"/>
              <a:ea typeface="Roboto"/>
              <a:cs typeface="Roboto"/>
              <a:sym typeface="Roboto"/>
            </a:endParaRPr>
          </a:p>
          <a:p>
            <a:pPr indent="-342900" lvl="1" marL="9144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Pourquoi le cloud ?</a:t>
            </a:r>
            <a:r>
              <a:rPr b="0" i="0" lang="fr-FR" sz="1800" u="none" cap="none" strike="noStrike">
                <a:solidFill>
                  <a:srgbClr val="0F1115"/>
                </a:solidFill>
                <a:highlight>
                  <a:srgbClr val="FFFFFF"/>
                </a:highlight>
                <a:latin typeface="Roboto"/>
                <a:ea typeface="Roboto"/>
                <a:cs typeface="Roboto"/>
                <a:sym typeface="Roboto"/>
              </a:rPr>
              <a:t> Scalabilité, résilience, gestion simplifiée de l'infrastructure.</a:t>
            </a:r>
            <a:endParaRPr b="0" i="0" sz="1800" u="none" cap="none" strike="noStrike">
              <a:solidFill>
                <a:srgbClr val="0F1115"/>
              </a:solidFill>
              <a:highlight>
                <a:srgbClr val="FFFFFF"/>
              </a:highlight>
              <a:latin typeface="Roboto"/>
              <a:ea typeface="Roboto"/>
              <a:cs typeface="Roboto"/>
              <a:sym typeface="Roboto"/>
            </a:endParaRPr>
          </a:p>
          <a:p>
            <a:pPr indent="-342900" lvl="1" marL="9144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Services choisis :</a:t>
            </a:r>
            <a:endParaRPr b="1" i="0" sz="1800" u="none" cap="none" strike="noStrike">
              <a:solidFill>
                <a:srgbClr val="0F1115"/>
              </a:solidFill>
              <a:highlight>
                <a:srgbClr val="FFFFFF"/>
              </a:highlight>
              <a:latin typeface="Roboto"/>
              <a:ea typeface="Roboto"/>
              <a:cs typeface="Roboto"/>
              <a:sym typeface="Roboto"/>
            </a:endParaRPr>
          </a:p>
          <a:p>
            <a:pPr indent="-342900" lvl="2" marL="13716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AWS EMR (Elastic MapReduce) :</a:t>
            </a:r>
            <a:r>
              <a:rPr b="0" i="0" lang="fr-FR" sz="1800" u="none" cap="none" strike="noStrike">
                <a:solidFill>
                  <a:srgbClr val="0F1115"/>
                </a:solidFill>
                <a:highlight>
                  <a:srgbClr val="FFFFFF"/>
                </a:highlight>
                <a:latin typeface="Roboto"/>
                <a:ea typeface="Roboto"/>
                <a:cs typeface="Roboto"/>
                <a:sym typeface="Roboto"/>
              </a:rPr>
              <a:t> Pour louer un cluster Spark/Hadoop pré-configuré.</a:t>
            </a:r>
            <a:endParaRPr b="0" i="0" sz="1800" u="none" cap="none" strike="noStrike">
              <a:solidFill>
                <a:srgbClr val="0F1115"/>
              </a:solidFill>
              <a:highlight>
                <a:srgbClr val="FFFFFF"/>
              </a:highlight>
              <a:latin typeface="Roboto"/>
              <a:ea typeface="Roboto"/>
              <a:cs typeface="Roboto"/>
              <a:sym typeface="Roboto"/>
            </a:endParaRPr>
          </a:p>
          <a:p>
            <a:pPr indent="-304800" lvl="3" marL="1828800" marR="0" rtl="0" algn="l">
              <a:lnSpc>
                <a:spcPct val="115000"/>
              </a:lnSpc>
              <a:spcBef>
                <a:spcPts val="0"/>
              </a:spcBef>
              <a:spcAft>
                <a:spcPts val="0"/>
              </a:spcAft>
              <a:buClr>
                <a:srgbClr val="0F1115"/>
              </a:buClr>
              <a:buSzPts val="1200"/>
              <a:buFont typeface="Roboto"/>
              <a:buChar char="■"/>
            </a:pPr>
            <a:r>
              <a:rPr b="0" i="0" lang="fr-FR" sz="1800" u="none" cap="none" strike="noStrike">
                <a:solidFill>
                  <a:srgbClr val="0F1115"/>
                </a:solidFill>
                <a:highlight>
                  <a:srgbClr val="FFFFFF"/>
                </a:highlight>
                <a:latin typeface="Roboto"/>
                <a:ea typeface="Roboto"/>
                <a:cs typeface="Roboto"/>
                <a:sym typeface="Roboto"/>
              </a:rPr>
              <a:t>Architecture du cluster : </a:t>
            </a:r>
            <a:r>
              <a:rPr b="1" i="0" lang="fr-FR" sz="1800" u="none" cap="none" strike="noStrike">
                <a:solidFill>
                  <a:srgbClr val="0F1115"/>
                </a:solidFill>
                <a:highlight>
                  <a:srgbClr val="FFFFFF"/>
                </a:highlight>
                <a:latin typeface="Roboto"/>
                <a:ea typeface="Roboto"/>
                <a:cs typeface="Roboto"/>
                <a:sym typeface="Roboto"/>
              </a:rPr>
              <a:t>1 instance Master (Driver), 2 instances Core (Workers)</a:t>
            </a:r>
            <a:r>
              <a:rPr b="0" i="0" lang="fr-FR" sz="1800" u="none" cap="none" strike="noStrike">
                <a:solidFill>
                  <a:srgbClr val="0F1115"/>
                </a:solidFill>
                <a:highlight>
                  <a:srgbClr val="FFFFFF"/>
                </a:highlight>
                <a:latin typeface="Roboto"/>
                <a:ea typeface="Roboto"/>
                <a:cs typeface="Roboto"/>
                <a:sym typeface="Roboto"/>
              </a:rPr>
              <a:t> de type </a:t>
            </a:r>
            <a:r>
              <a:rPr b="0" i="0" lang="fr-FR" sz="1650" u="none" cap="none" strike="noStrike">
                <a:solidFill>
                  <a:srgbClr val="0F1115"/>
                </a:solidFill>
                <a:highlight>
                  <a:srgbClr val="EBEEF2"/>
                </a:highlight>
                <a:latin typeface="Roboto Mono"/>
                <a:ea typeface="Roboto Mono"/>
                <a:cs typeface="Roboto Mono"/>
                <a:sym typeface="Roboto Mono"/>
              </a:rPr>
              <a:t>m5.xlarge</a:t>
            </a:r>
            <a:r>
              <a:rPr b="0" i="0" lang="fr-FR" sz="1800" u="none" cap="none" strike="noStrike">
                <a:solidFill>
                  <a:srgbClr val="0F1115"/>
                </a:solidFill>
                <a:highlight>
                  <a:srgbClr val="FFFFFF"/>
                </a:highlight>
                <a:latin typeface="Roboto"/>
                <a:ea typeface="Roboto"/>
                <a:cs typeface="Roboto"/>
                <a:sym typeface="Roboto"/>
              </a:rPr>
              <a:t>.</a:t>
            </a:r>
            <a:endParaRPr b="0" i="0" sz="1800" u="none" cap="none" strike="noStrike">
              <a:solidFill>
                <a:srgbClr val="0F1115"/>
              </a:solidFill>
              <a:highlight>
                <a:srgbClr val="FFFFFF"/>
              </a:highlight>
              <a:latin typeface="Roboto"/>
              <a:ea typeface="Roboto"/>
              <a:cs typeface="Roboto"/>
              <a:sym typeface="Roboto"/>
            </a:endParaRPr>
          </a:p>
          <a:p>
            <a:pPr indent="-342900" lvl="2" marL="13716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AWS S3 (Simple Storage Service) :</a:t>
            </a:r>
            <a:r>
              <a:rPr b="0" i="0" lang="fr-FR" sz="1800" u="none" cap="none" strike="noStrike">
                <a:solidFill>
                  <a:srgbClr val="0F1115"/>
                </a:solidFill>
                <a:highlight>
                  <a:srgbClr val="FFFFFF"/>
                </a:highlight>
                <a:latin typeface="Roboto"/>
                <a:ea typeface="Roboto"/>
                <a:cs typeface="Roboto"/>
                <a:sym typeface="Roboto"/>
              </a:rPr>
              <a:t> Pour le stockage des données d'entrée (images) et de sortie (features).</a:t>
            </a:r>
            <a:endParaRPr b="0" i="0" sz="1800" u="none" cap="none" strike="noStrike">
              <a:solidFill>
                <a:srgbClr val="0F1115"/>
              </a:solidFill>
              <a:highlight>
                <a:srgbClr val="FFFFFF"/>
              </a:highlight>
              <a:latin typeface="Roboto"/>
              <a:ea typeface="Roboto"/>
              <a:cs typeface="Roboto"/>
              <a:sym typeface="Roboto"/>
            </a:endParaRPr>
          </a:p>
          <a:p>
            <a:pPr indent="-342900" lvl="3" marL="1828800" marR="0" rtl="0" algn="l">
              <a:lnSpc>
                <a:spcPct val="115000"/>
              </a:lnSpc>
              <a:spcBef>
                <a:spcPts val="0"/>
              </a:spcBef>
              <a:spcAft>
                <a:spcPts val="0"/>
              </a:spcAft>
              <a:buClr>
                <a:srgbClr val="0F1115"/>
              </a:buClr>
              <a:buSzPts val="1800"/>
              <a:buFont typeface="Roboto"/>
              <a:buChar char="■"/>
            </a:pPr>
            <a:r>
              <a:rPr b="1" i="0" lang="fr-FR" sz="1800" u="none" cap="none" strike="noStrike">
                <a:solidFill>
                  <a:srgbClr val="0F1115"/>
                </a:solidFill>
                <a:highlight>
                  <a:srgbClr val="FFFFFF"/>
                </a:highlight>
                <a:latin typeface="Roboto"/>
                <a:ea typeface="Roboto"/>
                <a:cs typeface="Roboto"/>
                <a:sym typeface="Roboto"/>
              </a:rPr>
              <a:t>Avantage clé :</a:t>
            </a:r>
            <a:r>
              <a:rPr b="0" i="0" lang="fr-FR" sz="1800" u="none" cap="none" strike="noStrike">
                <a:solidFill>
                  <a:srgbClr val="0F1115"/>
                </a:solidFill>
                <a:highlight>
                  <a:srgbClr val="FFFFFF"/>
                </a:highlight>
                <a:latin typeface="Roboto"/>
                <a:ea typeface="Roboto"/>
                <a:cs typeface="Roboto"/>
                <a:sym typeface="Roboto"/>
              </a:rPr>
              <a:t> Séparation du stockage et du calcul. Les données persistent même après l'arrêt du cluster, et sont accessibles par tous les nœuds.</a:t>
            </a:r>
            <a:endParaRPr b="0" i="0" sz="1800" u="none" cap="none" strike="noStrike">
              <a:solidFill>
                <a:srgbClr val="0F1115"/>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958445f59d_3_0"/>
          <p:cNvSpPr txBox="1"/>
          <p:nvPr/>
        </p:nvSpPr>
        <p:spPr>
          <a:xfrm>
            <a:off x="0" y="0"/>
            <a:ext cx="12192000" cy="6437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2400"/>
              <a:buFont typeface="Arial"/>
              <a:buNone/>
            </a:pPr>
            <a:r>
              <a:rPr b="1" i="0" lang="fr-FR" sz="2400" u="none" cap="none" strike="noStrike">
                <a:solidFill>
                  <a:srgbClr val="0F1115"/>
                </a:solidFill>
                <a:highlight>
                  <a:srgbClr val="FFFFFF"/>
                </a:highlight>
                <a:latin typeface="Roboto"/>
                <a:ea typeface="Roboto"/>
                <a:cs typeface="Roboto"/>
                <a:sym typeface="Roboto"/>
              </a:rPr>
              <a:t> Architecture de la Solution - Traitement Distribué</a:t>
            </a:r>
            <a:endParaRPr b="1" i="0" sz="24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120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Stockage des données :</a:t>
            </a:r>
            <a:r>
              <a:rPr b="0" i="0" lang="fr-FR" sz="2100" u="none" cap="none" strike="noStrike">
                <a:solidFill>
                  <a:srgbClr val="0F1115"/>
                </a:solidFill>
                <a:highlight>
                  <a:srgbClr val="FFFFFF"/>
                </a:highlight>
                <a:latin typeface="Roboto"/>
                <a:ea typeface="Roboto"/>
                <a:cs typeface="Roboto"/>
                <a:sym typeface="Roboto"/>
              </a:rPr>
              <a:t> Les images sont stockées dans un bucket </a:t>
            </a:r>
            <a:r>
              <a:rPr b="1" i="0" lang="fr-FR" sz="2100" u="none" cap="none" strike="noStrike">
                <a:solidFill>
                  <a:srgbClr val="0F1115"/>
                </a:solidFill>
                <a:highlight>
                  <a:srgbClr val="FFFFFF"/>
                </a:highlight>
                <a:latin typeface="Roboto"/>
                <a:ea typeface="Roboto"/>
                <a:cs typeface="Roboto"/>
                <a:sym typeface="Roboto"/>
              </a:rPr>
              <a:t>Amazon S3</a:t>
            </a:r>
            <a:r>
              <a:rPr b="0" i="0" lang="fr-FR" sz="2100" u="none" cap="none" strike="noStrike">
                <a:solidFill>
                  <a:srgbClr val="0F1115"/>
                </a:solidFill>
                <a:highlight>
                  <a:srgbClr val="FFFFFF"/>
                </a:highlight>
                <a:latin typeface="Roboto"/>
                <a:ea typeface="Roboto"/>
                <a:cs typeface="Roboto"/>
                <a:sym typeface="Roboto"/>
              </a:rPr>
              <a:t>, garantissant une haute disponibilité et une scalabilité infinie.</a:t>
            </a:r>
            <a:endParaRPr b="0" i="0" sz="21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Chargement distribué (Spark) :</a:t>
            </a:r>
            <a:r>
              <a:rPr b="0" i="0" lang="fr-FR" sz="2100" u="none" cap="none" strike="noStrike">
                <a:solidFill>
                  <a:srgbClr val="0F1115"/>
                </a:solidFill>
                <a:highlight>
                  <a:srgbClr val="FFFFFF"/>
                </a:highlight>
                <a:latin typeface="Roboto"/>
                <a:ea typeface="Roboto"/>
                <a:cs typeface="Roboto"/>
                <a:sym typeface="Roboto"/>
              </a:rPr>
              <a:t> Le cluster </a:t>
            </a:r>
            <a:r>
              <a:rPr b="1" i="0" lang="fr-FR" sz="2200" u="none" cap="none" strike="noStrike">
                <a:solidFill>
                  <a:srgbClr val="0F1115"/>
                </a:solidFill>
                <a:highlight>
                  <a:srgbClr val="FFFFFF"/>
                </a:highlight>
                <a:latin typeface="Roboto"/>
                <a:ea typeface="Roboto"/>
                <a:cs typeface="Roboto"/>
                <a:sym typeface="Roboto"/>
              </a:rPr>
              <a:t>EMR</a:t>
            </a:r>
            <a:r>
              <a:rPr b="0" i="0" lang="fr-FR" sz="2100" u="none" cap="none" strike="noStrike">
                <a:solidFill>
                  <a:srgbClr val="0F1115"/>
                </a:solidFill>
                <a:highlight>
                  <a:srgbClr val="FFFFFF"/>
                </a:highlight>
                <a:latin typeface="Roboto"/>
                <a:ea typeface="Roboto"/>
                <a:cs typeface="Roboto"/>
                <a:sym typeface="Roboto"/>
              </a:rPr>
              <a:t> lit les données depuis S3. Spark partitionne les fichiers image et les distribue automatiquement sur les différents nœuds workers.</a:t>
            </a:r>
            <a:endParaRPr b="0" i="0" sz="21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Tolérance aux pannes :</a:t>
            </a:r>
            <a:r>
              <a:rPr b="0" i="0" lang="fr-FR" sz="2100" u="none" cap="none" strike="noStrike">
                <a:solidFill>
                  <a:srgbClr val="0F1115"/>
                </a:solidFill>
                <a:highlight>
                  <a:srgbClr val="FFFFFF"/>
                </a:highlight>
                <a:latin typeface="Roboto"/>
                <a:ea typeface="Roboto"/>
                <a:cs typeface="Roboto"/>
                <a:sym typeface="Roboto"/>
              </a:rPr>
              <a:t> Grâce aux </a:t>
            </a:r>
            <a:r>
              <a:rPr b="1" i="0" lang="fr-FR" sz="2100" u="none" cap="none" strike="noStrike">
                <a:solidFill>
                  <a:srgbClr val="0F1115"/>
                </a:solidFill>
                <a:highlight>
                  <a:srgbClr val="FFFFFF"/>
                </a:highlight>
                <a:latin typeface="Roboto"/>
                <a:ea typeface="Roboto"/>
                <a:cs typeface="Roboto"/>
                <a:sym typeface="Roboto"/>
              </a:rPr>
              <a:t>RDDs (Resilient Distributed Datasets)</a:t>
            </a:r>
            <a:r>
              <a:rPr b="0" i="0" lang="fr-FR" sz="2100" u="none" cap="none" strike="noStrike">
                <a:solidFill>
                  <a:srgbClr val="0F1115"/>
                </a:solidFill>
                <a:highlight>
                  <a:srgbClr val="FFFFFF"/>
                </a:highlight>
                <a:latin typeface="Roboto"/>
                <a:ea typeface="Roboto"/>
                <a:cs typeface="Roboto"/>
                <a:sym typeface="Roboto"/>
              </a:rPr>
              <a:t> et à la duplication des données (sur les 3 machines par défaut), le cluster peut se remettre d'une panne d'un nœud sans perdre de données.</a:t>
            </a:r>
            <a:endParaRPr b="0" i="0" sz="21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Traitement parallèle (Workers) :</a:t>
            </a:r>
            <a:endParaRPr b="1" i="0" sz="2100" u="none" cap="none" strike="noStrike">
              <a:solidFill>
                <a:srgbClr val="0F1115"/>
              </a:solidFill>
              <a:highlight>
                <a:srgbClr val="FFFFFF"/>
              </a:highlight>
              <a:latin typeface="Roboto"/>
              <a:ea typeface="Roboto"/>
              <a:cs typeface="Roboto"/>
              <a:sym typeface="Roboto"/>
            </a:endParaRPr>
          </a:p>
          <a:p>
            <a:pPr indent="-361950" lvl="1" marL="914400" marR="0" rtl="0" algn="l">
              <a:lnSpc>
                <a:spcPct val="115000"/>
              </a:lnSpc>
              <a:spcBef>
                <a:spcPts val="0"/>
              </a:spcBef>
              <a:spcAft>
                <a:spcPts val="0"/>
              </a:spcAft>
              <a:buClr>
                <a:srgbClr val="0F1115"/>
              </a:buClr>
              <a:buSzPts val="2100"/>
              <a:buFont typeface="Roboto"/>
              <a:buChar char="○"/>
            </a:pPr>
            <a:r>
              <a:rPr b="0" i="0" lang="fr-FR" sz="2100" u="none" cap="none" strike="noStrike">
                <a:solidFill>
                  <a:srgbClr val="0F1115"/>
                </a:solidFill>
                <a:highlight>
                  <a:srgbClr val="FFFFFF"/>
                </a:highlight>
                <a:latin typeface="Roboto"/>
                <a:ea typeface="Roboto"/>
                <a:cs typeface="Roboto"/>
                <a:sym typeface="Roboto"/>
              </a:rPr>
              <a:t>Chaque worker reçoit un lot d'images.</a:t>
            </a:r>
            <a:endParaRPr b="0" i="0" sz="21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2100" u="none" cap="none" strike="noStrike">
                <a:solidFill>
                  <a:srgbClr val="0F1115"/>
                </a:solidFill>
                <a:highlight>
                  <a:srgbClr val="FFFFFF"/>
                </a:highlight>
                <a:latin typeface="Roboto"/>
                <a:ea typeface="Roboto"/>
                <a:cs typeface="Roboto"/>
                <a:sym typeface="Roboto"/>
              </a:rPr>
              <a:t>Il utilise le modèle </a:t>
            </a:r>
            <a:r>
              <a:rPr b="0" i="0" lang="fr-FR" sz="1950" u="none" cap="none" strike="noStrike">
                <a:solidFill>
                  <a:srgbClr val="0F1115"/>
                </a:solidFill>
                <a:highlight>
                  <a:srgbClr val="EBEEF2"/>
                </a:highlight>
                <a:latin typeface="Roboto Mono"/>
                <a:ea typeface="Roboto Mono"/>
                <a:cs typeface="Roboto Mono"/>
                <a:sym typeface="Roboto Mono"/>
              </a:rPr>
              <a:t>MobileNetV2</a:t>
            </a:r>
            <a:r>
              <a:rPr b="0" i="0" lang="fr-FR" sz="2100" u="none" cap="none" strike="noStrike">
                <a:solidFill>
                  <a:srgbClr val="0F1115"/>
                </a:solidFill>
                <a:highlight>
                  <a:srgbClr val="FFFFFF"/>
                </a:highlight>
                <a:latin typeface="Roboto"/>
                <a:ea typeface="Roboto"/>
                <a:cs typeface="Roboto"/>
                <a:sym typeface="Roboto"/>
              </a:rPr>
              <a:t> pour extraire les features de chaque image.</a:t>
            </a:r>
            <a:endParaRPr b="0" i="0" sz="2100" u="none" cap="none" strike="noStrike">
              <a:solidFill>
                <a:srgbClr val="0F1115"/>
              </a:solidFill>
              <a:highlight>
                <a:srgbClr val="FFFFFF"/>
              </a:highlight>
              <a:latin typeface="Roboto"/>
              <a:ea typeface="Roboto"/>
              <a:cs typeface="Roboto"/>
              <a:sym typeface="Roboto"/>
            </a:endParaRPr>
          </a:p>
          <a:p>
            <a:pPr indent="-361950" lvl="1" marL="914400" marR="0" rtl="0" algn="l">
              <a:lnSpc>
                <a:spcPct val="115000"/>
              </a:lnSpc>
              <a:spcBef>
                <a:spcPts val="0"/>
              </a:spcBef>
              <a:spcAft>
                <a:spcPts val="0"/>
              </a:spcAft>
              <a:buClr>
                <a:srgbClr val="0F1115"/>
              </a:buClr>
              <a:buSzPts val="2100"/>
              <a:buFont typeface="Roboto"/>
              <a:buChar char="○"/>
            </a:pPr>
            <a:r>
              <a:rPr b="0" i="0" lang="fr-FR" sz="2100" u="none" cap="none" strike="noStrike">
                <a:solidFill>
                  <a:srgbClr val="0F1115"/>
                </a:solidFill>
                <a:highlight>
                  <a:srgbClr val="FFFFFF"/>
                </a:highlight>
                <a:latin typeface="Roboto"/>
                <a:ea typeface="Roboto"/>
                <a:cs typeface="Roboto"/>
                <a:sym typeface="Roboto"/>
              </a:rPr>
              <a:t>Les calculs sont effectués en parallèle sur tous les workers.</a:t>
            </a:r>
            <a:endParaRPr b="0" i="0" sz="21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Agrégation des résultats : </a:t>
            </a:r>
            <a:r>
              <a:rPr b="0" i="0" lang="fr-FR" sz="2100" u="none" cap="none" strike="noStrike">
                <a:solidFill>
                  <a:srgbClr val="0F1115"/>
                </a:solidFill>
                <a:highlight>
                  <a:srgbClr val="FFFFFF"/>
                </a:highlight>
                <a:latin typeface="Roboto"/>
                <a:ea typeface="Roboto"/>
                <a:cs typeface="Roboto"/>
                <a:sym typeface="Roboto"/>
              </a:rPr>
              <a:t>Les vecteurs de features sont collectés et agrégés sur le nœud master pour former un DataFrame Spark final.</a:t>
            </a:r>
            <a:endParaRPr b="0" i="0" sz="2100" u="none" cap="none" strike="noStrike">
              <a:solidFill>
                <a:srgbClr val="0F1115"/>
              </a:solidFill>
              <a:highlight>
                <a:srgbClr val="FFFFFF"/>
              </a:highlight>
              <a:latin typeface="Roboto"/>
              <a:ea typeface="Roboto"/>
              <a:cs typeface="Roboto"/>
              <a:sym typeface="Roboto"/>
            </a:endParaRPr>
          </a:p>
          <a:p>
            <a:pPr indent="-361950" lvl="0" marL="457200" marR="0" rtl="0" algn="l">
              <a:lnSpc>
                <a:spcPct val="115000"/>
              </a:lnSpc>
              <a:spcBef>
                <a:spcPts val="0"/>
              </a:spcBef>
              <a:spcAft>
                <a:spcPts val="0"/>
              </a:spcAft>
              <a:buClr>
                <a:srgbClr val="0F1115"/>
              </a:buClr>
              <a:buSzPts val="2100"/>
              <a:buFont typeface="Roboto"/>
              <a:buAutoNum type="arabicPeriod"/>
            </a:pPr>
            <a:r>
              <a:rPr b="1" i="0" lang="fr-FR" sz="2100" u="none" cap="none" strike="noStrike">
                <a:solidFill>
                  <a:srgbClr val="0F1115"/>
                </a:solidFill>
                <a:highlight>
                  <a:srgbClr val="FFFFFF"/>
                </a:highlight>
                <a:latin typeface="Roboto"/>
                <a:ea typeface="Roboto"/>
                <a:cs typeface="Roboto"/>
                <a:sym typeface="Roboto"/>
              </a:rPr>
              <a:t>Stockage des résultats :</a:t>
            </a:r>
            <a:r>
              <a:rPr b="0" i="0" lang="fr-FR" sz="2100" u="none" cap="none" strike="noStrike">
                <a:solidFill>
                  <a:srgbClr val="0F1115"/>
                </a:solidFill>
                <a:highlight>
                  <a:srgbClr val="FFFFFF"/>
                </a:highlight>
                <a:latin typeface="Roboto"/>
                <a:ea typeface="Roboto"/>
                <a:cs typeface="Roboto"/>
                <a:sym typeface="Roboto"/>
              </a:rPr>
              <a:t> Le DataFrame final est sauvegardé au format </a:t>
            </a:r>
            <a:r>
              <a:rPr b="1" i="0" lang="fr-FR" sz="2100" u="none" cap="none" strike="noStrike">
                <a:solidFill>
                  <a:srgbClr val="0F1115"/>
                </a:solidFill>
                <a:highlight>
                  <a:srgbClr val="FFFFFF"/>
                </a:highlight>
                <a:latin typeface="Roboto"/>
                <a:ea typeface="Roboto"/>
                <a:cs typeface="Roboto"/>
                <a:sym typeface="Roboto"/>
              </a:rPr>
              <a:t>Parquet</a:t>
            </a:r>
            <a:r>
              <a:rPr b="0" i="0" lang="fr-FR" sz="2100" u="none" cap="none" strike="noStrike">
                <a:solidFill>
                  <a:srgbClr val="0F1115"/>
                </a:solidFill>
                <a:highlight>
                  <a:srgbClr val="FFFFFF"/>
                </a:highlight>
                <a:latin typeface="Roboto"/>
                <a:ea typeface="Roboto"/>
                <a:cs typeface="Roboto"/>
                <a:sym typeface="Roboto"/>
              </a:rPr>
              <a:t> sur </a:t>
            </a:r>
            <a:r>
              <a:rPr b="1" i="0" lang="fr-FR" sz="2100" u="none" cap="none" strike="noStrike">
                <a:solidFill>
                  <a:srgbClr val="0F1115"/>
                </a:solidFill>
                <a:highlight>
                  <a:srgbClr val="FFFFFF"/>
                </a:highlight>
                <a:latin typeface="Roboto"/>
                <a:ea typeface="Roboto"/>
                <a:cs typeface="Roboto"/>
                <a:sym typeface="Roboto"/>
              </a:rPr>
              <a:t>S3</a:t>
            </a:r>
            <a:r>
              <a:rPr b="0" i="0" lang="fr-FR" sz="2100" u="none" cap="none" strike="noStrike">
                <a:solidFill>
                  <a:srgbClr val="0F1115"/>
                </a:solidFill>
                <a:highlight>
                  <a:srgbClr val="FFFFFF"/>
                </a:highlight>
                <a:latin typeface="Roboto"/>
                <a:ea typeface="Roboto"/>
                <a:cs typeface="Roboto"/>
                <a:sym typeface="Roboto"/>
              </a:rPr>
              <a:t>, prêt pour de futures analyses.</a:t>
            </a:r>
            <a:endParaRPr b="0" i="0" sz="2100" u="none" cap="none" strike="noStrike">
              <a:solidFill>
                <a:srgbClr val="0F1115"/>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958445f59d_7_0"/>
          <p:cNvSpPr txBox="1"/>
          <p:nvPr/>
        </p:nvSpPr>
        <p:spPr>
          <a:xfrm>
            <a:off x="32100" y="-126975"/>
            <a:ext cx="12127800" cy="6687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1900"/>
              <a:buFont typeface="Arial"/>
              <a:buNone/>
            </a:pPr>
            <a:r>
              <a:rPr b="1" i="0" lang="fr-FR" sz="1900" u="none" cap="none" strike="noStrike">
                <a:solidFill>
                  <a:srgbClr val="0F1115"/>
                </a:solidFill>
                <a:highlight>
                  <a:srgbClr val="FFFFFF"/>
                </a:highlight>
                <a:latin typeface="Roboto"/>
                <a:ea typeface="Roboto"/>
                <a:cs typeface="Roboto"/>
                <a:sym typeface="Roboto"/>
              </a:rPr>
              <a:t>Méthodologie - Pipeline d'Extraction de Features (Étapes 1-3)   </a:t>
            </a:r>
            <a:endParaRPr b="1" i="0" sz="20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1200"/>
              </a:spcBef>
              <a:spcAft>
                <a:spcPts val="0"/>
              </a:spcAft>
              <a:buClr>
                <a:srgbClr val="0F1115"/>
              </a:buClr>
              <a:buSzPts val="1600"/>
              <a:buFont typeface="Roboto"/>
              <a:buAutoNum type="arabicPeriod"/>
            </a:pPr>
            <a:r>
              <a:rPr b="1" i="0" lang="fr-FR" sz="1600" u="none" cap="none" strike="noStrike">
                <a:solidFill>
                  <a:srgbClr val="0F1115"/>
                </a:solidFill>
                <a:highlight>
                  <a:srgbClr val="FFFFFF"/>
                </a:highlight>
                <a:latin typeface="Roboto"/>
                <a:ea typeface="Roboto"/>
                <a:cs typeface="Roboto"/>
                <a:sym typeface="Roboto"/>
              </a:rPr>
              <a:t>Initialisation de Spark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Création de la </a:t>
            </a:r>
            <a:r>
              <a:rPr b="0" i="0" lang="fr-FR" sz="1450" u="none" cap="none" strike="noStrike">
                <a:solidFill>
                  <a:srgbClr val="0F1115"/>
                </a:solidFill>
                <a:highlight>
                  <a:srgbClr val="EBEEF2"/>
                </a:highlight>
                <a:latin typeface="Roboto Mono"/>
                <a:ea typeface="Roboto Mono"/>
                <a:cs typeface="Roboto Mono"/>
                <a:sym typeface="Roboto Mono"/>
              </a:rPr>
              <a:t>SparkSession</a:t>
            </a:r>
            <a:r>
              <a:rPr b="0" i="0" lang="fr-FR" sz="1600" u="none" cap="none" strike="noStrike">
                <a:solidFill>
                  <a:srgbClr val="0F1115"/>
                </a:solidFill>
                <a:highlight>
                  <a:srgbClr val="FFFFFF"/>
                </a:highlight>
                <a:latin typeface="Roboto"/>
                <a:ea typeface="Roboto"/>
                <a:cs typeface="Roboto"/>
                <a:sym typeface="Roboto"/>
              </a:rPr>
              <a:t> avec des configurations spécifiques :</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Nom de l'application : </a:t>
            </a:r>
            <a:r>
              <a:rPr b="0" i="0" lang="fr-FR" sz="1450" u="none" cap="none" strike="noStrike">
                <a:solidFill>
                  <a:srgbClr val="0F1115"/>
                </a:solidFill>
                <a:highlight>
                  <a:srgbClr val="EBEEF2"/>
                </a:highlight>
                <a:latin typeface="Roboto Mono"/>
                <a:ea typeface="Roboto Mono"/>
                <a:cs typeface="Roboto Mono"/>
                <a:sym typeface="Roboto Mono"/>
              </a:rPr>
              <a:t>"PROJET_8_Feature_Extraction"</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Master : </a:t>
            </a:r>
            <a:r>
              <a:rPr b="0" i="0" lang="fr-FR" sz="1450" u="none" cap="none" strike="noStrike">
                <a:solidFill>
                  <a:srgbClr val="0F1115"/>
                </a:solidFill>
                <a:highlight>
                  <a:srgbClr val="EBEEF2"/>
                </a:highlight>
                <a:latin typeface="Roboto Mono"/>
                <a:ea typeface="Roboto Mono"/>
                <a:cs typeface="Roboto Mono"/>
                <a:sym typeface="Roboto Mono"/>
              </a:rPr>
              <a:t>local[*]</a:t>
            </a:r>
            <a:r>
              <a:rPr b="0" i="0" lang="fr-FR" sz="1600" u="none" cap="none" strike="noStrike">
                <a:solidFill>
                  <a:srgbClr val="0F1115"/>
                </a:solidFill>
                <a:highlight>
                  <a:srgbClr val="FFFFFF"/>
                </a:highlight>
                <a:latin typeface="Roboto"/>
                <a:ea typeface="Roboto"/>
                <a:cs typeface="Roboto"/>
                <a:sym typeface="Roboto"/>
              </a:rPr>
              <a:t> (en local) ou paramètres du cluster sur EMR.</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Configuration mémoire (</a:t>
            </a:r>
            <a:r>
              <a:rPr b="0" i="0" lang="fr-FR" sz="1450" u="none" cap="none" strike="noStrike">
                <a:solidFill>
                  <a:srgbClr val="0F1115"/>
                </a:solidFill>
                <a:highlight>
                  <a:srgbClr val="EBEEF2"/>
                </a:highlight>
                <a:latin typeface="Roboto Mono"/>
                <a:ea typeface="Roboto Mono"/>
                <a:cs typeface="Roboto Mono"/>
                <a:sym typeface="Roboto Mono"/>
              </a:rPr>
              <a:t>spark.driver.memory</a:t>
            </a:r>
            <a:r>
              <a:rPr b="0" i="0" lang="fr-FR" sz="1600" u="none" cap="none" strike="noStrike">
                <a:solidFill>
                  <a:srgbClr val="0F1115"/>
                </a:solidFill>
                <a:highlight>
                  <a:srgbClr val="FFFFFF"/>
                </a:highlight>
                <a:latin typeface="Roboto"/>
                <a:ea typeface="Roboto"/>
                <a:cs typeface="Roboto"/>
                <a:sym typeface="Roboto"/>
              </a:rPr>
              <a:t>, </a:t>
            </a:r>
            <a:r>
              <a:rPr b="0" i="0" lang="fr-FR" sz="1450" u="none" cap="none" strike="noStrike">
                <a:solidFill>
                  <a:srgbClr val="0F1115"/>
                </a:solidFill>
                <a:highlight>
                  <a:srgbClr val="EBEEF2"/>
                </a:highlight>
                <a:latin typeface="Roboto Mono"/>
                <a:ea typeface="Roboto Mono"/>
                <a:cs typeface="Roboto Mono"/>
                <a:sym typeface="Roboto Mono"/>
              </a:rPr>
              <a:t>spark.executor.memory</a:t>
            </a:r>
            <a:r>
              <a:rPr b="0" i="0" lang="fr-FR" sz="1600" u="none" cap="none" strike="noStrike">
                <a:solidFill>
                  <a:srgbClr val="0F1115"/>
                </a:solidFill>
                <a:highlight>
                  <a:srgbClr val="FFFFFF"/>
                </a:highlight>
                <a:latin typeface="Roboto"/>
                <a:ea typeface="Roboto"/>
                <a:cs typeface="Roboto"/>
                <a:sym typeface="Roboto"/>
              </a:rPr>
              <a:t> réglées sur </a:t>
            </a:r>
            <a:r>
              <a:rPr b="0" i="0" lang="fr-FR" sz="1450" u="none" cap="none" strike="noStrike">
                <a:solidFill>
                  <a:srgbClr val="0F1115"/>
                </a:solidFill>
                <a:highlight>
                  <a:srgbClr val="EBEEF2"/>
                </a:highlight>
                <a:latin typeface="Roboto Mono"/>
                <a:ea typeface="Roboto Mono"/>
                <a:cs typeface="Roboto Mono"/>
                <a:sym typeface="Roboto Mono"/>
              </a:rPr>
              <a:t>4g</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Optimisations : </a:t>
            </a:r>
            <a:r>
              <a:rPr b="0" i="0" lang="fr-FR" sz="1450" u="none" cap="none" strike="noStrike">
                <a:solidFill>
                  <a:srgbClr val="0F1115"/>
                </a:solidFill>
                <a:highlight>
                  <a:srgbClr val="EBEEF2"/>
                </a:highlight>
                <a:latin typeface="Roboto Mono"/>
                <a:ea typeface="Roboto Mono"/>
                <a:cs typeface="Roboto Mono"/>
                <a:sym typeface="Roboto Mono"/>
              </a:rPr>
              <a:t>spark.sql.execution.arrow.pyspark.enabled</a:t>
            </a:r>
            <a:r>
              <a:rPr b="0" i="0" lang="fr-FR" sz="1600" u="none" cap="none" strike="noStrike">
                <a:solidFill>
                  <a:srgbClr val="0F1115"/>
                </a:solidFill>
                <a:highlight>
                  <a:srgbClr val="FFFFFF"/>
                </a:highlight>
                <a:latin typeface="Roboto"/>
                <a:ea typeface="Roboto"/>
                <a:cs typeface="Roboto"/>
                <a:sym typeface="Roboto"/>
              </a:rPr>
              <a:t> à </a:t>
            </a:r>
            <a:r>
              <a:rPr b="0" i="0" lang="fr-FR" sz="1450" u="none" cap="none" strike="noStrike">
                <a:solidFill>
                  <a:srgbClr val="0F1115"/>
                </a:solidFill>
                <a:highlight>
                  <a:srgbClr val="EBEEF2"/>
                </a:highlight>
                <a:latin typeface="Roboto Mono"/>
                <a:ea typeface="Roboto Mono"/>
                <a:cs typeface="Roboto Mono"/>
                <a:sym typeface="Roboto Mono"/>
              </a:rPr>
              <a:t>true</a:t>
            </a:r>
            <a:r>
              <a:rPr b="0" i="0" lang="fr-FR" sz="1600" u="none" cap="none" strike="noStrike">
                <a:solidFill>
                  <a:srgbClr val="0F1115"/>
                </a:solidFill>
                <a:highlight>
                  <a:srgbClr val="FFFFFF"/>
                </a:highlight>
                <a:latin typeface="Roboto"/>
                <a:ea typeface="Roboto"/>
                <a:cs typeface="Roboto"/>
                <a:sym typeface="Roboto"/>
              </a:rPr>
              <a:t> pour de meilleures performances, </a:t>
            </a:r>
            <a:r>
              <a:rPr b="0" i="0" lang="fr-FR" sz="1450" u="none" cap="none" strike="noStrike">
                <a:solidFill>
                  <a:srgbClr val="0F1115"/>
                </a:solidFill>
                <a:highlight>
                  <a:srgbClr val="EBEEF2"/>
                </a:highlight>
                <a:latin typeface="Roboto Mono"/>
                <a:ea typeface="Roboto Mono"/>
                <a:cs typeface="Roboto Mono"/>
                <a:sym typeface="Roboto Mono"/>
              </a:rPr>
              <a:t>spark.sql.parquet.compression.codec</a:t>
            </a:r>
            <a:r>
              <a:rPr b="0" i="0" lang="fr-FR" sz="1600" u="none" cap="none" strike="noStrike">
                <a:solidFill>
                  <a:srgbClr val="0F1115"/>
                </a:solidFill>
                <a:highlight>
                  <a:srgbClr val="FFFFFF"/>
                </a:highlight>
                <a:latin typeface="Roboto"/>
                <a:ea typeface="Roboto"/>
                <a:cs typeface="Roboto"/>
                <a:sym typeface="Roboto"/>
              </a:rPr>
              <a:t> à </a:t>
            </a:r>
            <a:r>
              <a:rPr b="0" i="0" lang="fr-FR" sz="1450" u="none" cap="none" strike="noStrike">
                <a:solidFill>
                  <a:srgbClr val="0F1115"/>
                </a:solidFill>
                <a:highlight>
                  <a:srgbClr val="EBEEF2"/>
                </a:highlight>
                <a:latin typeface="Roboto Mono"/>
                <a:ea typeface="Roboto Mono"/>
                <a:cs typeface="Roboto Mono"/>
                <a:sym typeface="Roboto Mono"/>
              </a:rPr>
              <a:t>snappy</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F1115"/>
              </a:buClr>
              <a:buSzPts val="1600"/>
              <a:buFont typeface="Roboto"/>
              <a:buAutoNum type="arabicPeriod"/>
            </a:pPr>
            <a:r>
              <a:rPr b="1" i="0" lang="fr-FR" sz="1600" u="none" cap="none" strike="noStrike">
                <a:solidFill>
                  <a:srgbClr val="0F1115"/>
                </a:solidFill>
                <a:highlight>
                  <a:srgbClr val="FFFFFF"/>
                </a:highlight>
                <a:latin typeface="Roboto"/>
                <a:ea typeface="Roboto"/>
                <a:cs typeface="Roboto"/>
                <a:sym typeface="Roboto"/>
              </a:rPr>
              <a:t>Chargement des Images avec Spark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Utilisation de </a:t>
            </a:r>
            <a:r>
              <a:rPr b="0" i="0" lang="fr-FR" sz="1450" u="none" cap="none" strike="noStrike">
                <a:solidFill>
                  <a:srgbClr val="0F1115"/>
                </a:solidFill>
                <a:highlight>
                  <a:srgbClr val="EBEEF2"/>
                </a:highlight>
                <a:latin typeface="Roboto Mono"/>
                <a:ea typeface="Roboto Mono"/>
                <a:cs typeface="Roboto Mono"/>
                <a:sym typeface="Roboto Mono"/>
              </a:rPr>
              <a:t>spark.read.format("binaryFile")</a:t>
            </a:r>
            <a:r>
              <a:rPr b="0" i="0" lang="fr-FR" sz="1600" u="none" cap="none" strike="noStrike">
                <a:solidFill>
                  <a:srgbClr val="0F1115"/>
                </a:solidFill>
                <a:highlight>
                  <a:srgbClr val="FFFFFF"/>
                </a:highlight>
                <a:latin typeface="Roboto"/>
                <a:ea typeface="Roboto"/>
                <a:cs typeface="Roboto"/>
                <a:sym typeface="Roboto"/>
              </a:rPr>
              <a:t> pour lire les images depuis le dossier de test (en local </a:t>
            </a:r>
            <a:r>
              <a:rPr b="0" i="0" lang="fr-FR" sz="1450" u="none" cap="none" strike="noStrike">
                <a:solidFill>
                  <a:srgbClr val="0F1115"/>
                </a:solidFill>
                <a:highlight>
                  <a:srgbClr val="EBEEF2"/>
                </a:highlight>
                <a:latin typeface="Roboto Mono"/>
                <a:ea typeface="Roboto Mono"/>
                <a:cs typeface="Roboto Mono"/>
                <a:sym typeface="Roboto Mono"/>
              </a:rPr>
              <a:t>file://</a:t>
            </a:r>
            <a:r>
              <a:rPr b="0" i="0" lang="fr-FR" sz="1600" u="none" cap="none" strike="noStrike">
                <a:solidFill>
                  <a:srgbClr val="0F1115"/>
                </a:solidFill>
                <a:highlight>
                  <a:srgbClr val="FFFFFF"/>
                </a:highlight>
                <a:latin typeface="Roboto"/>
                <a:ea typeface="Roboto"/>
                <a:cs typeface="Roboto"/>
                <a:sym typeface="Roboto"/>
              </a:rPr>
              <a:t> ou sur S3 </a:t>
            </a:r>
            <a:r>
              <a:rPr b="0" i="0" lang="fr-FR" sz="1450" u="none" cap="none" strike="noStrike">
                <a:solidFill>
                  <a:srgbClr val="0F1115"/>
                </a:solidFill>
                <a:highlight>
                  <a:srgbClr val="EBEEF2"/>
                </a:highlight>
                <a:latin typeface="Roboto Mono"/>
                <a:ea typeface="Roboto Mono"/>
                <a:cs typeface="Roboto Mono"/>
                <a:sym typeface="Roboto Mono"/>
              </a:rPr>
              <a:t>s3://</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Création d'un DataFrame Spark avec les colonnes </a:t>
            </a:r>
            <a:r>
              <a:rPr b="0" i="0" lang="fr-FR" sz="1450" u="none" cap="none" strike="noStrike">
                <a:solidFill>
                  <a:srgbClr val="0F1115"/>
                </a:solidFill>
                <a:highlight>
                  <a:srgbClr val="EBEEF2"/>
                </a:highlight>
                <a:latin typeface="Roboto Mono"/>
                <a:ea typeface="Roboto Mono"/>
                <a:cs typeface="Roboto Mono"/>
                <a:sym typeface="Roboto Mono"/>
              </a:rPr>
              <a:t>path</a:t>
            </a:r>
            <a:r>
              <a:rPr b="0" i="0" lang="fr-FR" sz="1600" u="none" cap="none" strike="noStrike">
                <a:solidFill>
                  <a:srgbClr val="0F1115"/>
                </a:solidFill>
                <a:highlight>
                  <a:srgbClr val="FFFFFF"/>
                </a:highlight>
                <a:latin typeface="Roboto"/>
                <a:ea typeface="Roboto"/>
                <a:cs typeface="Roboto"/>
                <a:sym typeface="Roboto"/>
              </a:rPr>
              <a:t> (chemin de l'image) et </a:t>
            </a:r>
            <a:r>
              <a:rPr b="0" i="0" lang="fr-FR" sz="1450" u="none" cap="none" strike="noStrike">
                <a:solidFill>
                  <a:srgbClr val="0F1115"/>
                </a:solidFill>
                <a:highlight>
                  <a:srgbClr val="EBEEF2"/>
                </a:highlight>
                <a:latin typeface="Roboto Mono"/>
                <a:ea typeface="Roboto Mono"/>
                <a:cs typeface="Roboto Mono"/>
                <a:sym typeface="Roboto Mono"/>
              </a:rPr>
              <a:t>content</a:t>
            </a:r>
            <a:r>
              <a:rPr b="0" i="0" lang="fr-FR" sz="1600" u="none" cap="none" strike="noStrike">
                <a:solidFill>
                  <a:srgbClr val="0F1115"/>
                </a:solidFill>
                <a:highlight>
                  <a:srgbClr val="FFFFFF"/>
                </a:highlight>
                <a:latin typeface="Roboto"/>
                <a:ea typeface="Roboto"/>
                <a:cs typeface="Roboto"/>
                <a:sym typeface="Roboto"/>
              </a:rPr>
              <a:t> (contenu binaire de l'image).</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Extraction du label (le nom de la catégorie, i.e., le nom du dossier parent) à l'aide des fonctions Spark </a:t>
            </a:r>
            <a:r>
              <a:rPr b="0" i="0" lang="fr-FR" sz="1450" u="none" cap="none" strike="noStrike">
                <a:solidFill>
                  <a:srgbClr val="0F1115"/>
                </a:solidFill>
                <a:highlight>
                  <a:srgbClr val="EBEEF2"/>
                </a:highlight>
                <a:latin typeface="Roboto Mono"/>
                <a:ea typeface="Roboto Mono"/>
                <a:cs typeface="Roboto Mono"/>
                <a:sym typeface="Roboto Mono"/>
              </a:rPr>
              <a:t>split</a:t>
            </a:r>
            <a:r>
              <a:rPr b="0" i="0" lang="fr-FR" sz="1600" u="none" cap="none" strike="noStrike">
                <a:solidFill>
                  <a:srgbClr val="0F1115"/>
                </a:solidFill>
                <a:highlight>
                  <a:srgbClr val="FFFFFF"/>
                </a:highlight>
                <a:latin typeface="Roboto"/>
                <a:ea typeface="Roboto"/>
                <a:cs typeface="Roboto"/>
                <a:sym typeface="Roboto"/>
              </a:rPr>
              <a:t> et </a:t>
            </a:r>
            <a:r>
              <a:rPr b="0" i="0" lang="fr-FR" sz="1450" u="none" cap="none" strike="noStrike">
                <a:solidFill>
                  <a:srgbClr val="0F1115"/>
                </a:solidFill>
                <a:highlight>
                  <a:srgbClr val="EBEEF2"/>
                </a:highlight>
                <a:latin typeface="Roboto Mono"/>
                <a:ea typeface="Roboto Mono"/>
                <a:cs typeface="Roboto Mono"/>
                <a:sym typeface="Roboto Mono"/>
              </a:rPr>
              <a:t>element_at</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F1115"/>
              </a:buClr>
              <a:buSzPts val="1600"/>
              <a:buFont typeface="Roboto"/>
              <a:buAutoNum type="arabicPeriod"/>
            </a:pPr>
            <a:r>
              <a:rPr b="1" i="0" lang="fr-FR" sz="1600" u="none" cap="none" strike="noStrike">
                <a:solidFill>
                  <a:srgbClr val="0F1115"/>
                </a:solidFill>
                <a:highlight>
                  <a:srgbClr val="FFFFFF"/>
                </a:highlight>
                <a:latin typeface="Roboto"/>
                <a:ea typeface="Roboto"/>
                <a:cs typeface="Roboto"/>
                <a:sym typeface="Roboto"/>
              </a:rPr>
              <a:t>Prétraitement des Images (Fonctions Python)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Définition de la fonction </a:t>
            </a:r>
            <a:r>
              <a:rPr b="0" i="0" lang="fr-FR" sz="1450" u="none" cap="none" strike="noStrike">
                <a:solidFill>
                  <a:srgbClr val="0F1115"/>
                </a:solidFill>
                <a:highlight>
                  <a:srgbClr val="EBEEF2"/>
                </a:highlight>
                <a:latin typeface="Roboto Mono"/>
                <a:ea typeface="Roboto Mono"/>
                <a:cs typeface="Roboto Mono"/>
                <a:sym typeface="Roboto Mono"/>
              </a:rPr>
              <a:t>preprocess_image(content)</a:t>
            </a:r>
            <a:r>
              <a:rPr b="0" i="0" lang="fr-FR" sz="1600" u="none" cap="none" strike="noStrike">
                <a:solidFill>
                  <a:srgbClr val="0F1115"/>
                </a:solidFill>
                <a:highlight>
                  <a:srgbClr val="FFFFFF"/>
                </a:highlight>
                <a:latin typeface="Roboto"/>
                <a:ea typeface="Roboto"/>
                <a:cs typeface="Roboto"/>
                <a:sym typeface="Roboto"/>
              </a:rPr>
              <a:t> qui :</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Ouvre l'image à partir des bytes avec </a:t>
            </a:r>
            <a:r>
              <a:rPr b="0" i="0" lang="fr-FR" sz="1450" u="none" cap="none" strike="noStrike">
                <a:solidFill>
                  <a:srgbClr val="0F1115"/>
                </a:solidFill>
                <a:highlight>
                  <a:srgbClr val="EBEEF2"/>
                </a:highlight>
                <a:latin typeface="Roboto Mono"/>
                <a:ea typeface="Roboto Mono"/>
                <a:cs typeface="Roboto Mono"/>
                <a:sym typeface="Roboto Mono"/>
              </a:rPr>
              <a:t>PIL</a:t>
            </a:r>
            <a:r>
              <a:rPr b="0" i="0" lang="fr-FR" sz="1600" u="none" cap="none" strike="noStrike">
                <a:solidFill>
                  <a:srgbClr val="0F1115"/>
                </a:solidFill>
                <a:highlight>
                  <a:srgbClr val="FFFFFF"/>
                </a:highlight>
                <a:latin typeface="Roboto"/>
                <a:ea typeface="Roboto"/>
                <a:cs typeface="Roboto"/>
                <a:sym typeface="Roboto"/>
              </a:rPr>
              <a:t> (</a:t>
            </a:r>
            <a:r>
              <a:rPr b="0" i="0" lang="fr-FR" sz="1450" u="none" cap="none" strike="noStrike">
                <a:solidFill>
                  <a:srgbClr val="0F1115"/>
                </a:solidFill>
                <a:highlight>
                  <a:srgbClr val="EBEEF2"/>
                </a:highlight>
                <a:latin typeface="Roboto Mono"/>
                <a:ea typeface="Roboto Mono"/>
                <a:cs typeface="Roboto Mono"/>
                <a:sym typeface="Roboto Mono"/>
              </a:rPr>
              <a:t>Image.open(io.BytesIO(content))</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30200" lvl="2" marL="1371600" marR="0" rtl="0" algn="l">
              <a:lnSpc>
                <a:spcPct val="115000"/>
              </a:lnSpc>
              <a:spcBef>
                <a:spcPts val="0"/>
              </a:spcBef>
              <a:spcAft>
                <a:spcPts val="0"/>
              </a:spcAft>
              <a:buClr>
                <a:srgbClr val="0F1115"/>
              </a:buClr>
              <a:buSzPts val="16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Redimensionne l'image à 224x224 pixels (taille d'entrée de MobileNetV2).</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Convertit l'image en tableau </a:t>
            </a:r>
            <a:r>
              <a:rPr b="0" i="0" lang="fr-FR" sz="1450" u="none" cap="none" strike="noStrike">
                <a:solidFill>
                  <a:srgbClr val="0F1115"/>
                </a:solidFill>
                <a:highlight>
                  <a:srgbClr val="EBEEF2"/>
                </a:highlight>
                <a:latin typeface="Roboto Mono"/>
                <a:ea typeface="Roboto Mono"/>
                <a:cs typeface="Roboto Mono"/>
                <a:sym typeface="Roboto Mono"/>
              </a:rPr>
              <a:t>numpy</a:t>
            </a:r>
            <a:r>
              <a:rPr b="0" i="0" lang="fr-FR" sz="1600" u="none" cap="none" strike="noStrike">
                <a:solidFill>
                  <a:srgbClr val="0F1115"/>
                </a:solidFill>
                <a:highlight>
                  <a:srgbClr val="FFFFFF"/>
                </a:highlight>
                <a:latin typeface="Roboto"/>
                <a:ea typeface="Roboto"/>
                <a:cs typeface="Roboto"/>
                <a:sym typeface="Roboto"/>
              </a:rPr>
              <a:t> et gère les différents formats de canaux (conversion des niveaux de gris et RGBA en RVB).</a:t>
            </a:r>
            <a:endParaRPr b="0"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AutoNum type="arabicPeriod"/>
            </a:pPr>
            <a:r>
              <a:rPr b="0" i="0" lang="fr-FR" sz="1600" u="none" cap="none" strike="noStrike">
                <a:solidFill>
                  <a:srgbClr val="0F1115"/>
                </a:solidFill>
                <a:highlight>
                  <a:srgbClr val="FFFFFF"/>
                </a:highlight>
                <a:latin typeface="Roboto"/>
                <a:ea typeface="Roboto"/>
                <a:cs typeface="Roboto"/>
                <a:sym typeface="Roboto"/>
              </a:rPr>
              <a:t>Applique </a:t>
            </a:r>
            <a:r>
              <a:rPr b="0" i="0" lang="fr-FR" sz="1450" u="none" cap="none" strike="noStrike">
                <a:solidFill>
                  <a:srgbClr val="0F1115"/>
                </a:solidFill>
                <a:highlight>
                  <a:srgbClr val="EBEEF2"/>
                </a:highlight>
                <a:latin typeface="Roboto Mono"/>
                <a:ea typeface="Roboto Mono"/>
                <a:cs typeface="Roboto Mono"/>
                <a:sym typeface="Roboto Mono"/>
              </a:rPr>
              <a:t>tf.keras.applications.mobilenet_v2.preprocess_input</a:t>
            </a:r>
            <a:r>
              <a:rPr b="0" i="0" lang="fr-FR" sz="1600" u="none" cap="none" strike="noStrike">
                <a:solidFill>
                  <a:srgbClr val="0F1115"/>
                </a:solidFill>
                <a:highlight>
                  <a:srgbClr val="FFFFFF"/>
                </a:highlight>
                <a:latin typeface="Roboto"/>
                <a:ea typeface="Roboto"/>
                <a:cs typeface="Roboto"/>
                <a:sym typeface="Roboto"/>
              </a:rPr>
              <a:t> pour la normalisation spécifique (mise à l'échelle des valeurs entre -1 et 1).</a:t>
            </a:r>
            <a:endParaRPr b="0" i="0" sz="1600" u="none" cap="none" strike="noStrike">
              <a:solidFill>
                <a:srgbClr val="0F1115"/>
              </a:solidFill>
              <a:highlight>
                <a:srgbClr val="FFFF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958445f59d_8_0"/>
          <p:cNvSpPr txBox="1"/>
          <p:nvPr/>
        </p:nvSpPr>
        <p:spPr>
          <a:xfrm>
            <a:off x="0" y="0"/>
            <a:ext cx="12390300" cy="685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2200"/>
              <a:buFont typeface="Arial"/>
              <a:buNone/>
            </a:pPr>
            <a:r>
              <a:rPr b="1" i="0" lang="fr-FR" sz="2200" u="none" cap="none" strike="noStrike">
                <a:solidFill>
                  <a:srgbClr val="0F1115"/>
                </a:solidFill>
                <a:highlight>
                  <a:srgbClr val="FFFFFF"/>
                </a:highlight>
                <a:latin typeface="Roboto"/>
                <a:ea typeface="Roboto"/>
                <a:cs typeface="Roboto"/>
                <a:sym typeface="Roboto"/>
              </a:rPr>
              <a:t>Méthodologie - Pipeline d'Extraction de Features (Étapes 4-5)</a:t>
            </a:r>
            <a:endParaRPr b="1" i="0" sz="2200" u="none" cap="none" strike="noStrike">
              <a:solidFill>
                <a:srgbClr val="0F1115"/>
              </a:solidFill>
              <a:highlight>
                <a:srgbClr val="FFFFFF"/>
              </a:highlight>
              <a:latin typeface="Roboto"/>
              <a:ea typeface="Roboto"/>
              <a:cs typeface="Roboto"/>
              <a:sym typeface="Roboto"/>
            </a:endParaRPr>
          </a:p>
          <a:p>
            <a:pPr indent="-349250" lvl="0" marL="457200" marR="0" rtl="0" algn="l">
              <a:lnSpc>
                <a:spcPct val="115000"/>
              </a:lnSpc>
              <a:spcBef>
                <a:spcPts val="1200"/>
              </a:spcBef>
              <a:spcAft>
                <a:spcPts val="0"/>
              </a:spcAft>
              <a:buClr>
                <a:srgbClr val="0F1115"/>
              </a:buClr>
              <a:buSzPts val="1900"/>
              <a:buFont typeface="Roboto"/>
              <a:buAutoNum type="arabicPeriod" startAt="4"/>
            </a:pPr>
            <a:r>
              <a:rPr b="1" i="0" lang="fr-FR" sz="1900" u="none" cap="none" strike="noStrike">
                <a:solidFill>
                  <a:srgbClr val="0F1115"/>
                </a:solidFill>
                <a:highlight>
                  <a:srgbClr val="FFFFFF"/>
                </a:highlight>
                <a:latin typeface="Roboto"/>
                <a:ea typeface="Roboto"/>
                <a:cs typeface="Roboto"/>
                <a:sym typeface="Roboto"/>
              </a:rPr>
              <a:t>Création du Modèle d'Extraction (sur le Driver) :</a:t>
            </a:r>
            <a:endParaRPr b="1" i="0" sz="19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900" u="none" cap="none" strike="noStrike">
                <a:solidFill>
                  <a:srgbClr val="0F1115"/>
                </a:solidFill>
                <a:highlight>
                  <a:srgbClr val="FFFFFF"/>
                </a:highlight>
                <a:latin typeface="Roboto"/>
                <a:ea typeface="Roboto"/>
                <a:cs typeface="Roboto"/>
                <a:sym typeface="Roboto"/>
              </a:rPr>
              <a:t>Chargement du modèle </a:t>
            </a:r>
            <a:r>
              <a:rPr b="0" i="0" lang="fr-FR" sz="1750" u="none" cap="none" strike="noStrike">
                <a:solidFill>
                  <a:srgbClr val="0F1115"/>
                </a:solidFill>
                <a:highlight>
                  <a:srgbClr val="EBEEF2"/>
                </a:highlight>
                <a:latin typeface="Roboto Mono"/>
                <a:ea typeface="Roboto Mono"/>
                <a:cs typeface="Roboto Mono"/>
                <a:sym typeface="Roboto Mono"/>
              </a:rPr>
              <a:t>MobileNetV2</a:t>
            </a:r>
            <a:r>
              <a:rPr b="0" i="0" lang="fr-FR" sz="1900" u="none" cap="none" strike="noStrike">
                <a:solidFill>
                  <a:srgbClr val="0F1115"/>
                </a:solidFill>
                <a:highlight>
                  <a:srgbClr val="FFFFFF"/>
                </a:highlight>
                <a:latin typeface="Roboto"/>
                <a:ea typeface="Roboto"/>
                <a:cs typeface="Roboto"/>
                <a:sym typeface="Roboto"/>
              </a:rPr>
              <a:t> avec ses poids pré-entraînés sur ImageNet (</a:t>
            </a:r>
            <a:r>
              <a:rPr b="0" i="0" lang="fr-FR" sz="1750" u="none" cap="none" strike="noStrike">
                <a:solidFill>
                  <a:srgbClr val="0F1115"/>
                </a:solidFill>
                <a:highlight>
                  <a:srgbClr val="EBEEF2"/>
                </a:highlight>
                <a:latin typeface="Roboto Mono"/>
                <a:ea typeface="Roboto Mono"/>
                <a:cs typeface="Roboto Mono"/>
                <a:sym typeface="Roboto Mono"/>
              </a:rPr>
              <a:t>weights='imagenet'</a:t>
            </a:r>
            <a:r>
              <a:rPr b="0" i="0" lang="fr-FR" sz="1900" u="none" cap="none" strike="noStrike">
                <a:solidFill>
                  <a:srgbClr val="0F1115"/>
                </a:solidFill>
                <a:highlight>
                  <a:srgbClr val="FFFFFF"/>
                </a:highlight>
                <a:latin typeface="Roboto"/>
                <a:ea typeface="Roboto"/>
                <a:cs typeface="Roboto"/>
                <a:sym typeface="Roboto"/>
              </a:rPr>
              <a:t>).</a:t>
            </a:r>
            <a:endParaRPr b="0" i="0" sz="19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900" u="none" cap="none" strike="noStrike">
                <a:solidFill>
                  <a:srgbClr val="0F1115"/>
                </a:solidFill>
                <a:highlight>
                  <a:srgbClr val="FFFFFF"/>
                </a:highlight>
                <a:latin typeface="Roboto"/>
                <a:ea typeface="Roboto"/>
                <a:cs typeface="Roboto"/>
                <a:sym typeface="Roboto"/>
              </a:rPr>
              <a:t>Construction d'un nouveau modèle (</a:t>
            </a:r>
            <a:r>
              <a:rPr b="0" i="0" lang="fr-FR" sz="1750" u="none" cap="none" strike="noStrike">
                <a:solidFill>
                  <a:srgbClr val="0F1115"/>
                </a:solidFill>
                <a:highlight>
                  <a:srgbClr val="EBEEF2"/>
                </a:highlight>
                <a:latin typeface="Roboto Mono"/>
                <a:ea typeface="Roboto Mono"/>
                <a:cs typeface="Roboto Mono"/>
                <a:sym typeface="Roboto Mono"/>
              </a:rPr>
              <a:t>feature_model</a:t>
            </a:r>
            <a:r>
              <a:rPr b="0" i="0" lang="fr-FR" sz="1900" u="none" cap="none" strike="noStrike">
                <a:solidFill>
                  <a:srgbClr val="0F1115"/>
                </a:solidFill>
                <a:highlight>
                  <a:srgbClr val="FFFFFF"/>
                </a:highlight>
                <a:latin typeface="Roboto"/>
                <a:ea typeface="Roboto"/>
                <a:cs typeface="Roboto"/>
                <a:sym typeface="Roboto"/>
              </a:rPr>
              <a:t>) dont la sortie est la couche précédant la dernière (</a:t>
            </a:r>
            <a:r>
              <a:rPr b="0" i="0" lang="fr-FR" sz="1750" u="none" cap="none" strike="noStrike">
                <a:solidFill>
                  <a:srgbClr val="0F1115"/>
                </a:solidFill>
                <a:highlight>
                  <a:srgbClr val="EBEEF2"/>
                </a:highlight>
                <a:latin typeface="Roboto Mono"/>
                <a:ea typeface="Roboto Mono"/>
                <a:cs typeface="Roboto Mono"/>
                <a:sym typeface="Roboto Mono"/>
              </a:rPr>
              <a:t>layers[-2].output</a:t>
            </a:r>
            <a:r>
              <a:rPr b="0" i="0" lang="fr-FR" sz="1900" u="none" cap="none" strike="noStrike">
                <a:solidFill>
                  <a:srgbClr val="0F1115"/>
                </a:solidFill>
                <a:highlight>
                  <a:srgbClr val="FFFFFF"/>
                </a:highlight>
                <a:latin typeface="Roboto"/>
                <a:ea typeface="Roboto"/>
                <a:cs typeface="Roboto"/>
                <a:sym typeface="Roboto"/>
              </a:rPr>
              <a:t>), produisant un vecteur de 1280 features.</a:t>
            </a:r>
            <a:endParaRPr b="0" i="0" sz="19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1900" u="none" cap="none" strike="noStrike">
                <a:solidFill>
                  <a:srgbClr val="0F1115"/>
                </a:solidFill>
                <a:highlight>
                  <a:srgbClr val="FFFFFF"/>
                </a:highlight>
                <a:latin typeface="Roboto"/>
                <a:ea typeface="Roboto"/>
                <a:cs typeface="Roboto"/>
                <a:sym typeface="Roboto"/>
              </a:rPr>
              <a:t>Broadcast des poids :</a:t>
            </a:r>
            <a:r>
              <a:rPr b="0" i="0" lang="fr-FR" sz="1900" u="none" cap="none" strike="noStrike">
                <a:solidFill>
                  <a:srgbClr val="0F1115"/>
                </a:solidFill>
                <a:highlight>
                  <a:srgbClr val="FFFFFF"/>
                </a:highlight>
                <a:latin typeface="Roboto"/>
                <a:ea typeface="Roboto"/>
                <a:cs typeface="Roboto"/>
                <a:sym typeface="Roboto"/>
              </a:rPr>
              <a:t> Les 23 millions de paramètres du modèle sont envoyés une fois à tous les workers via </a:t>
            </a:r>
            <a:r>
              <a:rPr b="0" i="0" lang="fr-FR" sz="1750" u="none" cap="none" strike="noStrike">
                <a:solidFill>
                  <a:srgbClr val="0F1115"/>
                </a:solidFill>
                <a:highlight>
                  <a:srgbClr val="EBEEF2"/>
                </a:highlight>
                <a:latin typeface="Roboto Mono"/>
                <a:ea typeface="Roboto Mono"/>
                <a:cs typeface="Roboto Mono"/>
                <a:sym typeface="Roboto Mono"/>
              </a:rPr>
              <a:t>sc.broadcast()</a:t>
            </a:r>
            <a:r>
              <a:rPr b="0" i="0" lang="fr-FR" sz="1900" u="none" cap="none" strike="noStrike">
                <a:solidFill>
                  <a:srgbClr val="0F1115"/>
                </a:solidFill>
                <a:highlight>
                  <a:srgbClr val="FFFFFF"/>
                </a:highlight>
                <a:latin typeface="Roboto"/>
                <a:ea typeface="Roboto"/>
                <a:cs typeface="Roboto"/>
                <a:sym typeface="Roboto"/>
              </a:rPr>
              <a:t> pour éviter de re-télécharger ou re-charger le modèle sur chaque nœud.</a:t>
            </a:r>
            <a:endParaRPr b="0" i="0" sz="1900" u="none" cap="none" strike="noStrike">
              <a:solidFill>
                <a:srgbClr val="0F1115"/>
              </a:solidFill>
              <a:highlight>
                <a:srgbClr val="FFFFFF"/>
              </a:highlight>
              <a:latin typeface="Roboto"/>
              <a:ea typeface="Roboto"/>
              <a:cs typeface="Roboto"/>
              <a:sym typeface="Roboto"/>
            </a:endParaRPr>
          </a:p>
          <a:p>
            <a:pPr indent="-349250" lvl="0" marL="457200" marR="0" rtl="0" algn="l">
              <a:lnSpc>
                <a:spcPct val="115000"/>
              </a:lnSpc>
              <a:spcBef>
                <a:spcPts val="0"/>
              </a:spcBef>
              <a:spcAft>
                <a:spcPts val="0"/>
              </a:spcAft>
              <a:buClr>
                <a:srgbClr val="0F1115"/>
              </a:buClr>
              <a:buSzPts val="1900"/>
              <a:buFont typeface="Roboto"/>
              <a:buAutoNum type="arabicPeriod" startAt="4"/>
            </a:pPr>
            <a:r>
              <a:rPr b="1" i="0" lang="fr-FR" sz="1900" u="none" cap="none" strike="noStrike">
                <a:solidFill>
                  <a:srgbClr val="0F1115"/>
                </a:solidFill>
                <a:highlight>
                  <a:srgbClr val="FFFFFF"/>
                </a:highlight>
                <a:latin typeface="Roboto"/>
                <a:ea typeface="Roboto"/>
                <a:cs typeface="Roboto"/>
                <a:sym typeface="Roboto"/>
              </a:rPr>
              <a:t>Création de la Pandas UDF (User Defined Function) :</a:t>
            </a:r>
            <a:endParaRPr b="1" i="0" sz="19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900" u="none" cap="none" strike="noStrike">
                <a:solidFill>
                  <a:srgbClr val="0F1115"/>
                </a:solidFill>
                <a:highlight>
                  <a:srgbClr val="FFFFFF"/>
                </a:highlight>
                <a:latin typeface="Roboto"/>
                <a:ea typeface="Roboto"/>
                <a:cs typeface="Roboto"/>
                <a:sym typeface="Roboto"/>
              </a:rPr>
              <a:t>Une Pandas UDF de type </a:t>
            </a:r>
            <a:r>
              <a:rPr b="0" i="0" lang="fr-FR" sz="1750" u="none" cap="none" strike="noStrike">
                <a:solidFill>
                  <a:srgbClr val="0F1115"/>
                </a:solidFill>
                <a:highlight>
                  <a:srgbClr val="EBEEF2"/>
                </a:highlight>
                <a:latin typeface="Roboto Mono"/>
                <a:ea typeface="Roboto Mono"/>
                <a:cs typeface="Roboto Mono"/>
                <a:sym typeface="Roboto Mono"/>
              </a:rPr>
              <a:t>SCALAR</a:t>
            </a:r>
            <a:r>
              <a:rPr b="0" i="0" lang="fr-FR" sz="1900" u="none" cap="none" strike="noStrike">
                <a:solidFill>
                  <a:srgbClr val="0F1115"/>
                </a:solidFill>
                <a:highlight>
                  <a:srgbClr val="FFFFFF"/>
                </a:highlight>
                <a:latin typeface="Roboto"/>
                <a:ea typeface="Roboto"/>
                <a:cs typeface="Roboto"/>
                <a:sym typeface="Roboto"/>
              </a:rPr>
              <a:t> (plus stable que </a:t>
            </a:r>
            <a:r>
              <a:rPr b="0" i="0" lang="fr-FR" sz="1750" u="none" cap="none" strike="noStrike">
                <a:solidFill>
                  <a:srgbClr val="0F1115"/>
                </a:solidFill>
                <a:highlight>
                  <a:srgbClr val="EBEEF2"/>
                </a:highlight>
                <a:latin typeface="Roboto Mono"/>
                <a:ea typeface="Roboto Mono"/>
                <a:cs typeface="Roboto Mono"/>
                <a:sym typeface="Roboto Mono"/>
              </a:rPr>
              <a:t>SCALAR_ITER</a:t>
            </a:r>
            <a:r>
              <a:rPr b="0" i="0" lang="fr-FR" sz="1900" u="none" cap="none" strike="noStrike">
                <a:solidFill>
                  <a:srgbClr val="0F1115"/>
                </a:solidFill>
                <a:highlight>
                  <a:srgbClr val="FFFFFF"/>
                </a:highlight>
                <a:latin typeface="Roboto"/>
                <a:ea typeface="Roboto"/>
                <a:cs typeface="Roboto"/>
                <a:sym typeface="Roboto"/>
              </a:rPr>
              <a:t> sur Windows) est définie (</a:t>
            </a:r>
            <a:r>
              <a:rPr b="0" i="0" lang="fr-FR" sz="1750" u="none" cap="none" strike="noStrike">
                <a:solidFill>
                  <a:srgbClr val="0F1115"/>
                </a:solidFill>
                <a:highlight>
                  <a:srgbClr val="EBEEF2"/>
                </a:highlight>
                <a:latin typeface="Roboto Mono"/>
                <a:ea typeface="Roboto Mono"/>
                <a:cs typeface="Roboto Mono"/>
                <a:sym typeface="Roboto Mono"/>
              </a:rPr>
              <a:t>extract_features_simple_udf</a:t>
            </a:r>
            <a:r>
              <a:rPr b="0" i="0" lang="fr-FR" sz="1900" u="none" cap="none" strike="noStrike">
                <a:solidFill>
                  <a:srgbClr val="0F1115"/>
                </a:solidFill>
                <a:highlight>
                  <a:srgbClr val="FFFFFF"/>
                </a:highlight>
                <a:latin typeface="Roboto"/>
                <a:ea typeface="Roboto"/>
                <a:cs typeface="Roboto"/>
                <a:sym typeface="Roboto"/>
              </a:rPr>
              <a:t>).</a:t>
            </a:r>
            <a:endParaRPr b="0" i="0" sz="1900" u="none" cap="none" strike="noStrike">
              <a:solidFill>
                <a:srgbClr val="0F1115"/>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0F1115"/>
              </a:buClr>
              <a:buSzPts val="1900"/>
              <a:buFont typeface="Roboto"/>
              <a:buChar char="○"/>
            </a:pPr>
            <a:r>
              <a:rPr b="1" i="0" lang="fr-FR" sz="1900" u="none" cap="none" strike="noStrike">
                <a:solidFill>
                  <a:srgbClr val="0F1115"/>
                </a:solidFill>
                <a:highlight>
                  <a:srgbClr val="FFFFFF"/>
                </a:highlight>
                <a:latin typeface="Roboto"/>
                <a:ea typeface="Roboto"/>
                <a:cs typeface="Roboto"/>
                <a:sym typeface="Roboto"/>
              </a:rPr>
              <a:t>Fonctionnement sur chaque worker :</a:t>
            </a:r>
            <a:endParaRPr b="1" i="0" sz="19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0" i="0" lang="fr-FR" sz="1900" u="none" cap="none" strike="noStrike">
                <a:solidFill>
                  <a:srgbClr val="0F1115"/>
                </a:solidFill>
                <a:highlight>
                  <a:srgbClr val="FFFFFF"/>
                </a:highlight>
                <a:latin typeface="Roboto"/>
                <a:ea typeface="Roboto"/>
                <a:cs typeface="Roboto"/>
                <a:sym typeface="Roboto"/>
              </a:rPr>
              <a:t>Le modèle est reconstruit localement avec les poids broadcastés via une fonction </a:t>
            </a:r>
            <a:r>
              <a:rPr b="0" i="0" lang="fr-FR" sz="1750" u="none" cap="none" strike="noStrike">
                <a:solidFill>
                  <a:srgbClr val="0F1115"/>
                </a:solidFill>
                <a:highlight>
                  <a:srgbClr val="EBEEF2"/>
                </a:highlight>
                <a:latin typeface="Roboto Mono"/>
                <a:ea typeface="Roboto Mono"/>
                <a:cs typeface="Roboto Mono"/>
                <a:sym typeface="Roboto Mono"/>
              </a:rPr>
              <a:t>create_feature_extractor()</a:t>
            </a:r>
            <a:r>
              <a:rPr b="0" i="0" lang="fr-FR" sz="1900" u="none" cap="none" strike="noStrike">
                <a:solidFill>
                  <a:srgbClr val="0F1115"/>
                </a:solidFill>
                <a:highlight>
                  <a:srgbClr val="FFFFFF"/>
                </a:highlight>
                <a:latin typeface="Roboto"/>
                <a:ea typeface="Roboto"/>
                <a:cs typeface="Roboto"/>
                <a:sym typeface="Roboto"/>
              </a:rPr>
              <a:t>.</a:t>
            </a:r>
            <a:endParaRPr b="0" i="0" sz="1900" u="none" cap="none" strike="noStrike">
              <a:solidFill>
                <a:srgbClr val="0F1115"/>
              </a:solidFill>
              <a:highlight>
                <a:srgbClr val="FFFFFF"/>
              </a:highlight>
              <a:latin typeface="Roboto"/>
              <a:ea typeface="Roboto"/>
              <a:cs typeface="Roboto"/>
              <a:sym typeface="Roboto"/>
            </a:endParaRPr>
          </a:p>
          <a:p>
            <a:pPr indent="-349250" lvl="2" marL="1371600" marR="0" rtl="0" algn="l">
              <a:lnSpc>
                <a:spcPct val="115000"/>
              </a:lnSpc>
              <a:spcBef>
                <a:spcPts val="0"/>
              </a:spcBef>
              <a:spcAft>
                <a:spcPts val="0"/>
              </a:spcAft>
              <a:buClr>
                <a:srgbClr val="0F1115"/>
              </a:buClr>
              <a:buSzPts val="1900"/>
              <a:buFont typeface="Roboto"/>
              <a:buChar char="■"/>
            </a:pPr>
            <a:r>
              <a:rPr b="0" i="0" lang="fr-FR" sz="1900" u="none" cap="none" strike="noStrike">
                <a:solidFill>
                  <a:srgbClr val="0F1115"/>
                </a:solidFill>
                <a:highlight>
                  <a:srgbClr val="FFFFFF"/>
                </a:highlight>
                <a:latin typeface="Roboto"/>
                <a:ea typeface="Roboto"/>
                <a:cs typeface="Roboto"/>
                <a:sym typeface="Roboto"/>
              </a:rPr>
              <a:t>La UDF traite une série pandas d'images par lots (batches) de taille 10 pour optimiser la mémoire.</a:t>
            </a:r>
            <a:endParaRPr b="0" i="0" sz="19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0" i="0" lang="fr-FR" sz="1900" u="none" cap="none" strike="noStrike">
                <a:solidFill>
                  <a:srgbClr val="0F1115"/>
                </a:solidFill>
                <a:highlight>
                  <a:srgbClr val="FFFFFF"/>
                </a:highlight>
                <a:latin typeface="Roboto"/>
                <a:ea typeface="Roboto"/>
                <a:cs typeface="Roboto"/>
                <a:sym typeface="Roboto"/>
              </a:rPr>
              <a:t>Pour chaque lot, elle prétraite les images et appelle </a:t>
            </a:r>
            <a:r>
              <a:rPr b="0" i="0" lang="fr-FR" sz="1750" u="none" cap="none" strike="noStrike">
                <a:solidFill>
                  <a:srgbClr val="0F1115"/>
                </a:solidFill>
                <a:highlight>
                  <a:srgbClr val="EBEEF2"/>
                </a:highlight>
                <a:latin typeface="Roboto Mono"/>
                <a:ea typeface="Roboto Mono"/>
                <a:cs typeface="Roboto Mono"/>
                <a:sym typeface="Roboto Mono"/>
              </a:rPr>
              <a:t>model.predict()</a:t>
            </a:r>
            <a:r>
              <a:rPr b="0" i="0" lang="fr-FR" sz="1900" u="none" cap="none" strike="noStrike">
                <a:solidFill>
                  <a:srgbClr val="0F1115"/>
                </a:solidFill>
                <a:highlight>
                  <a:srgbClr val="FFFFFF"/>
                </a:highlight>
                <a:latin typeface="Roboto"/>
                <a:ea typeface="Roboto"/>
                <a:cs typeface="Roboto"/>
                <a:sym typeface="Roboto"/>
              </a:rPr>
              <a:t>.</a:t>
            </a:r>
            <a:endParaRPr b="0" i="0" sz="1900" u="none" cap="none" strike="noStrike">
              <a:solidFill>
                <a:srgbClr val="0F1115"/>
              </a:solidFill>
              <a:highlight>
                <a:srgbClr val="FFFFFF"/>
              </a:highlight>
              <a:latin typeface="Roboto"/>
              <a:ea typeface="Roboto"/>
              <a:cs typeface="Roboto"/>
              <a:sym typeface="Roboto"/>
            </a:endParaRPr>
          </a:p>
          <a:p>
            <a:pPr indent="-349250" lvl="2" marL="1371600" marR="0" rtl="0" algn="l">
              <a:lnSpc>
                <a:spcPct val="115000"/>
              </a:lnSpc>
              <a:spcBef>
                <a:spcPts val="0"/>
              </a:spcBef>
              <a:spcAft>
                <a:spcPts val="0"/>
              </a:spcAft>
              <a:buClr>
                <a:srgbClr val="0F1115"/>
              </a:buClr>
              <a:buSzPts val="1900"/>
              <a:buFont typeface="Roboto"/>
              <a:buChar char="■"/>
            </a:pPr>
            <a:r>
              <a:rPr b="0" i="0" lang="fr-FR" sz="1900" u="none" cap="none" strike="noStrike">
                <a:solidFill>
                  <a:srgbClr val="0F1115"/>
                </a:solidFill>
                <a:highlight>
                  <a:srgbClr val="FFFFFF"/>
                </a:highlight>
                <a:latin typeface="Roboto"/>
                <a:ea typeface="Roboto"/>
                <a:cs typeface="Roboto"/>
                <a:sym typeface="Roboto"/>
              </a:rPr>
              <a:t>Les vecteurs de features (1280 dimensions) résultants sont retournés sous forme de liste.</a:t>
            </a:r>
            <a:endParaRPr b="0" i="0" sz="1900" u="none" cap="none" strike="noStrike">
              <a:solidFill>
                <a:srgbClr val="0F1115"/>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0F1115"/>
              </a:buClr>
              <a:buSzPts val="1900"/>
              <a:buFont typeface="Roboto"/>
              <a:buChar char="○"/>
            </a:pPr>
            <a:r>
              <a:rPr b="1" i="0" lang="fr-FR" sz="1900" u="none" cap="none" strike="noStrike">
                <a:solidFill>
                  <a:srgbClr val="0F1115"/>
                </a:solidFill>
                <a:highlight>
                  <a:srgbClr val="FFFFFF"/>
                </a:highlight>
                <a:latin typeface="Roboto"/>
                <a:ea typeface="Roboto"/>
                <a:cs typeface="Roboto"/>
                <a:sym typeface="Roboto"/>
              </a:rPr>
              <a:t>Gestion des erreurs : </a:t>
            </a:r>
            <a:r>
              <a:rPr b="0" i="0" lang="fr-FR" sz="1900" u="none" cap="none" strike="noStrike">
                <a:solidFill>
                  <a:srgbClr val="0F1115"/>
                </a:solidFill>
                <a:highlight>
                  <a:srgbClr val="FFFFFF"/>
                </a:highlight>
                <a:latin typeface="Roboto"/>
                <a:ea typeface="Roboto"/>
                <a:cs typeface="Roboto"/>
                <a:sym typeface="Roboto"/>
              </a:rPr>
              <a:t>La UDF inclut une gestion d'exception robuste pour éviter qu'une image corrompue ne fasse échouer tout le traitement.</a:t>
            </a:r>
            <a:endParaRPr b="0" i="0" sz="1900" u="none" cap="none" strike="noStrike">
              <a:solidFill>
                <a:srgbClr val="0F1115"/>
              </a:solidFill>
              <a:highlight>
                <a:srgbClr val="FFFFFF"/>
              </a:highlight>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9587452415_0_4"/>
          <p:cNvSpPr txBox="1"/>
          <p:nvPr/>
        </p:nvSpPr>
        <p:spPr>
          <a:xfrm>
            <a:off x="0" y="0"/>
            <a:ext cx="12192000" cy="6487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2300"/>
              <a:buFont typeface="Arial"/>
              <a:buNone/>
            </a:pPr>
            <a:r>
              <a:rPr b="1" i="0" lang="fr-FR" sz="2300" u="none" cap="none" strike="noStrike">
                <a:solidFill>
                  <a:srgbClr val="0F1115"/>
                </a:solidFill>
                <a:highlight>
                  <a:srgbClr val="FFFFFF"/>
                </a:highlight>
                <a:latin typeface="Roboto"/>
                <a:ea typeface="Roboto"/>
                <a:cs typeface="Roboto"/>
                <a:sym typeface="Roboto"/>
              </a:rPr>
              <a:t>Méthodologie - Application et Sauvegarde</a:t>
            </a:r>
            <a:endParaRPr b="1" i="0" sz="2300" u="none" cap="none" strike="noStrike">
              <a:solidFill>
                <a:srgbClr val="0F1115"/>
              </a:solidFill>
              <a:highlight>
                <a:srgbClr val="FFFFFF"/>
              </a:highlight>
              <a:latin typeface="Roboto"/>
              <a:ea typeface="Roboto"/>
              <a:cs typeface="Roboto"/>
              <a:sym typeface="Roboto"/>
            </a:endParaRPr>
          </a:p>
          <a:p>
            <a:pPr indent="-355600" lvl="0" marL="457200" marR="0" rtl="0" algn="l">
              <a:lnSpc>
                <a:spcPct val="115000"/>
              </a:lnSpc>
              <a:spcBef>
                <a:spcPts val="1200"/>
              </a:spcBef>
              <a:spcAft>
                <a:spcPts val="0"/>
              </a:spcAft>
              <a:buClr>
                <a:srgbClr val="0F1115"/>
              </a:buClr>
              <a:buSzPts val="2000"/>
              <a:buFont typeface="Roboto"/>
              <a:buAutoNum type="arabicPeriod" startAt="6"/>
            </a:pPr>
            <a:r>
              <a:rPr b="1" i="0" lang="fr-FR" sz="2000" u="none" cap="none" strike="noStrike">
                <a:solidFill>
                  <a:srgbClr val="0F1115"/>
                </a:solidFill>
                <a:highlight>
                  <a:srgbClr val="FFFFFF"/>
                </a:highlight>
                <a:latin typeface="Roboto"/>
                <a:ea typeface="Roboto"/>
                <a:cs typeface="Roboto"/>
                <a:sym typeface="Roboto"/>
              </a:rPr>
              <a:t>Application de l'UDF et Création du DataFrame Final :</a:t>
            </a:r>
            <a:endParaRPr b="1" i="0" sz="20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2000" u="none" cap="none" strike="noStrike">
                <a:solidFill>
                  <a:srgbClr val="0F1115"/>
                </a:solidFill>
                <a:highlight>
                  <a:srgbClr val="FFFFFF"/>
                </a:highlight>
                <a:latin typeface="Roboto"/>
                <a:ea typeface="Roboto"/>
                <a:cs typeface="Roboto"/>
                <a:sym typeface="Roboto"/>
              </a:rPr>
              <a:t>La UDF est appliquée à la colonne </a:t>
            </a:r>
            <a:r>
              <a:rPr b="0" i="0" lang="fr-FR" sz="1850" u="none" cap="none" strike="noStrike">
                <a:solidFill>
                  <a:srgbClr val="0F1115"/>
                </a:solidFill>
                <a:highlight>
                  <a:srgbClr val="EBEEF2"/>
                </a:highlight>
                <a:latin typeface="Roboto Mono"/>
                <a:ea typeface="Roboto Mono"/>
                <a:cs typeface="Roboto Mono"/>
                <a:sym typeface="Roboto Mono"/>
              </a:rPr>
              <a:t>content</a:t>
            </a:r>
            <a:r>
              <a:rPr b="0" i="0" lang="fr-FR" sz="2000" u="none" cap="none" strike="noStrike">
                <a:solidFill>
                  <a:srgbClr val="0F1115"/>
                </a:solidFill>
                <a:highlight>
                  <a:srgbClr val="FFFFFF"/>
                </a:highlight>
                <a:latin typeface="Roboto"/>
                <a:ea typeface="Roboto"/>
                <a:cs typeface="Roboto"/>
                <a:sym typeface="Roboto"/>
              </a:rPr>
              <a:t> du DataFrame d'images.</a:t>
            </a:r>
            <a:endParaRPr b="0" i="0" sz="20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2000" u="none" cap="none" strike="noStrike">
                <a:solidFill>
                  <a:srgbClr val="0F1115"/>
                </a:solidFill>
                <a:highlight>
                  <a:srgbClr val="FFFFFF"/>
                </a:highlight>
                <a:latin typeface="Roboto"/>
                <a:ea typeface="Roboto"/>
                <a:cs typeface="Roboto"/>
                <a:sym typeface="Roboto"/>
              </a:rPr>
              <a:t>Un nouveau DataFrame, </a:t>
            </a:r>
            <a:r>
              <a:rPr b="0" i="0" lang="fr-FR" sz="1850" u="none" cap="none" strike="noStrike">
                <a:solidFill>
                  <a:srgbClr val="0F1115"/>
                </a:solidFill>
                <a:highlight>
                  <a:srgbClr val="EBEEF2"/>
                </a:highlight>
                <a:latin typeface="Roboto Mono"/>
                <a:ea typeface="Roboto Mono"/>
                <a:cs typeface="Roboto Mono"/>
                <a:sym typeface="Roboto Mono"/>
              </a:rPr>
              <a:t>features_df</a:t>
            </a:r>
            <a:r>
              <a:rPr b="0" i="0" lang="fr-FR" sz="2000" u="none" cap="none" strike="noStrike">
                <a:solidFill>
                  <a:srgbClr val="0F1115"/>
                </a:solidFill>
                <a:highlight>
                  <a:srgbClr val="FFFFFF"/>
                </a:highlight>
                <a:latin typeface="Roboto"/>
                <a:ea typeface="Roboto"/>
                <a:cs typeface="Roboto"/>
                <a:sym typeface="Roboto"/>
              </a:rPr>
              <a:t>, est créé avec les colonnes : </a:t>
            </a:r>
            <a:r>
              <a:rPr b="0" i="0" lang="fr-FR" sz="1850" u="none" cap="none" strike="noStrike">
                <a:solidFill>
                  <a:srgbClr val="0F1115"/>
                </a:solidFill>
                <a:highlight>
                  <a:srgbClr val="EBEEF2"/>
                </a:highlight>
                <a:latin typeface="Roboto Mono"/>
                <a:ea typeface="Roboto Mono"/>
                <a:cs typeface="Roboto Mono"/>
                <a:sym typeface="Roboto Mono"/>
              </a:rPr>
              <a:t>path</a:t>
            </a:r>
            <a:r>
              <a:rPr b="0" i="0" lang="fr-FR" sz="2000" u="none" cap="none" strike="noStrike">
                <a:solidFill>
                  <a:srgbClr val="0F1115"/>
                </a:solidFill>
                <a:highlight>
                  <a:srgbClr val="FFFFFF"/>
                </a:highlight>
                <a:latin typeface="Roboto"/>
                <a:ea typeface="Roboto"/>
                <a:cs typeface="Roboto"/>
                <a:sym typeface="Roboto"/>
              </a:rPr>
              <a:t>, </a:t>
            </a:r>
            <a:r>
              <a:rPr b="0" i="0" lang="fr-FR" sz="1850" u="none" cap="none" strike="noStrike">
                <a:solidFill>
                  <a:srgbClr val="0F1115"/>
                </a:solidFill>
                <a:highlight>
                  <a:srgbClr val="EBEEF2"/>
                </a:highlight>
                <a:latin typeface="Roboto Mono"/>
                <a:ea typeface="Roboto Mono"/>
                <a:cs typeface="Roboto Mono"/>
                <a:sym typeface="Roboto Mono"/>
              </a:rPr>
              <a:t>label</a:t>
            </a:r>
            <a:r>
              <a:rPr b="0" i="0" lang="fr-FR" sz="2000" u="none" cap="none" strike="noStrike">
                <a:solidFill>
                  <a:srgbClr val="0F1115"/>
                </a:solidFill>
                <a:highlight>
                  <a:srgbClr val="FFFFFF"/>
                </a:highlight>
                <a:latin typeface="Roboto"/>
                <a:ea typeface="Roboto"/>
                <a:cs typeface="Roboto"/>
                <a:sym typeface="Roboto"/>
              </a:rPr>
              <a:t>, et </a:t>
            </a:r>
            <a:r>
              <a:rPr b="0" i="0" lang="fr-FR" sz="1850" u="none" cap="none" strike="noStrike">
                <a:solidFill>
                  <a:srgbClr val="0F1115"/>
                </a:solidFill>
                <a:highlight>
                  <a:srgbClr val="EBEEF2"/>
                </a:highlight>
                <a:latin typeface="Roboto Mono"/>
                <a:ea typeface="Roboto Mono"/>
                <a:cs typeface="Roboto Mono"/>
                <a:sym typeface="Roboto Mono"/>
              </a:rPr>
              <a:t>features</a:t>
            </a:r>
            <a:r>
              <a:rPr b="0" i="0" lang="fr-FR" sz="2000" u="none" cap="none" strike="noStrike">
                <a:solidFill>
                  <a:srgbClr val="0F1115"/>
                </a:solidFill>
                <a:highlight>
                  <a:srgbClr val="FFFFFF"/>
                </a:highlight>
                <a:latin typeface="Roboto"/>
                <a:ea typeface="Roboto"/>
                <a:cs typeface="Roboto"/>
                <a:sym typeface="Roboto"/>
              </a:rPr>
              <a:t> (le vecteur de 1280 dimensions).</a:t>
            </a:r>
            <a:endParaRPr b="0" i="0" sz="2000" u="none" cap="none" strike="noStrike">
              <a:solidFill>
                <a:srgbClr val="0F1115"/>
              </a:solidFill>
              <a:highlight>
                <a:srgbClr val="FFFFFF"/>
              </a:highlight>
              <a:latin typeface="Roboto"/>
              <a:ea typeface="Roboto"/>
              <a:cs typeface="Roboto"/>
              <a:sym typeface="Roboto"/>
            </a:endParaRPr>
          </a:p>
          <a:p>
            <a:pPr indent="-355600" lvl="1" marL="914400" marR="0" rtl="0" algn="l">
              <a:lnSpc>
                <a:spcPct val="115000"/>
              </a:lnSpc>
              <a:spcBef>
                <a:spcPts val="0"/>
              </a:spcBef>
              <a:spcAft>
                <a:spcPts val="0"/>
              </a:spcAft>
              <a:buClr>
                <a:srgbClr val="0F1115"/>
              </a:buClr>
              <a:buSzPts val="2000"/>
              <a:buFont typeface="Roboto"/>
              <a:buChar char="○"/>
            </a:pPr>
            <a:r>
              <a:rPr b="1" i="0" lang="fr-FR" sz="2000" u="none" cap="none" strike="noStrike">
                <a:solidFill>
                  <a:srgbClr val="0F1115"/>
                </a:solidFill>
                <a:highlight>
                  <a:srgbClr val="FFFFFF"/>
                </a:highlight>
                <a:latin typeface="Roboto"/>
                <a:ea typeface="Roboto"/>
                <a:cs typeface="Roboto"/>
                <a:sym typeface="Roboto"/>
              </a:rPr>
              <a:t>Validation intermédiaire : </a:t>
            </a:r>
            <a:r>
              <a:rPr b="0" i="0" lang="fr-FR" sz="2000" u="none" cap="none" strike="noStrike">
                <a:solidFill>
                  <a:srgbClr val="0F1115"/>
                </a:solidFill>
                <a:highlight>
                  <a:srgbClr val="FFFFFF"/>
                </a:highlight>
                <a:latin typeface="Roboto"/>
                <a:ea typeface="Roboto"/>
                <a:cs typeface="Roboto"/>
                <a:sym typeface="Roboto"/>
              </a:rPr>
              <a:t>Le pipeline est testé avec succès sur un sous-ensemble de </a:t>
            </a:r>
            <a:r>
              <a:rPr b="1" i="0" lang="fr-FR" sz="2000" u="none" cap="none" strike="noStrike">
                <a:solidFill>
                  <a:srgbClr val="0F1115"/>
                </a:solidFill>
                <a:highlight>
                  <a:srgbClr val="FFFFFF"/>
                </a:highlight>
                <a:latin typeface="Roboto"/>
                <a:ea typeface="Roboto"/>
                <a:cs typeface="Roboto"/>
                <a:sym typeface="Roboto"/>
              </a:rPr>
              <a:t>100 images</a:t>
            </a:r>
            <a:r>
              <a:rPr b="0" i="0" lang="fr-FR" sz="2000" u="none" cap="none" strike="noStrike">
                <a:solidFill>
                  <a:srgbClr val="0F1115"/>
                </a:solidFill>
                <a:highlight>
                  <a:srgbClr val="FFFFFF"/>
                </a:highlight>
                <a:latin typeface="Roboto"/>
                <a:ea typeface="Roboto"/>
                <a:cs typeface="Roboto"/>
                <a:sym typeface="Roboto"/>
              </a:rPr>
              <a:t> (de la catégorie "Apple Braeburn") pour garantir le bon fonctionnement avant le traitement complet.</a:t>
            </a:r>
            <a:endParaRPr b="0" i="0" sz="2000" u="none" cap="none" strike="noStrike">
              <a:solidFill>
                <a:srgbClr val="0F1115"/>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F1115"/>
              </a:buClr>
              <a:buSzPts val="2000"/>
              <a:buFont typeface="Roboto"/>
              <a:buAutoNum type="arabicPeriod" startAt="6"/>
            </a:pPr>
            <a:r>
              <a:rPr b="1" i="0" lang="fr-FR" sz="2000" u="none" cap="none" strike="noStrike">
                <a:solidFill>
                  <a:srgbClr val="0F1115"/>
                </a:solidFill>
                <a:highlight>
                  <a:srgbClr val="FFFFFF"/>
                </a:highlight>
                <a:latin typeface="Roboto"/>
                <a:ea typeface="Roboto"/>
                <a:cs typeface="Roboto"/>
                <a:sym typeface="Roboto"/>
              </a:rPr>
              <a:t>Sauvegarde des Résultats :</a:t>
            </a:r>
            <a:endParaRPr b="1" i="0" sz="20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2000" u="none" cap="none" strike="noStrike">
                <a:solidFill>
                  <a:srgbClr val="0F1115"/>
                </a:solidFill>
                <a:highlight>
                  <a:srgbClr val="FFFFFF"/>
                </a:highlight>
                <a:latin typeface="Roboto"/>
                <a:ea typeface="Roboto"/>
                <a:cs typeface="Roboto"/>
                <a:sym typeface="Roboto"/>
              </a:rPr>
              <a:t>Le DataFrame final </a:t>
            </a:r>
            <a:r>
              <a:rPr b="0" i="0" lang="fr-FR" sz="1850" u="none" cap="none" strike="noStrike">
                <a:solidFill>
                  <a:srgbClr val="0F1115"/>
                </a:solidFill>
                <a:highlight>
                  <a:srgbClr val="EBEEF2"/>
                </a:highlight>
                <a:latin typeface="Roboto Mono"/>
                <a:ea typeface="Roboto Mono"/>
                <a:cs typeface="Roboto Mono"/>
                <a:sym typeface="Roboto Mono"/>
              </a:rPr>
              <a:t>features_df</a:t>
            </a:r>
            <a:r>
              <a:rPr b="0" i="0" lang="fr-FR" sz="2000" u="none" cap="none" strike="noStrike">
                <a:solidFill>
                  <a:srgbClr val="0F1115"/>
                </a:solidFill>
                <a:highlight>
                  <a:srgbClr val="FFFFFF"/>
                </a:highlight>
                <a:latin typeface="Roboto"/>
                <a:ea typeface="Roboto"/>
                <a:cs typeface="Roboto"/>
                <a:sym typeface="Roboto"/>
              </a:rPr>
              <a:t> est écrit sur le disque (en local) ou directement sur S3.</a:t>
            </a:r>
            <a:endParaRPr b="0" i="0" sz="2000" u="none" cap="none" strike="noStrike">
              <a:solidFill>
                <a:srgbClr val="0F1115"/>
              </a:solidFill>
              <a:highlight>
                <a:srgbClr val="FFFFFF"/>
              </a:highlight>
              <a:latin typeface="Roboto"/>
              <a:ea typeface="Roboto"/>
              <a:cs typeface="Roboto"/>
              <a:sym typeface="Roboto"/>
            </a:endParaRPr>
          </a:p>
          <a:p>
            <a:pPr indent="-355600" lvl="1" marL="914400" marR="0" rtl="0" algn="l">
              <a:lnSpc>
                <a:spcPct val="115000"/>
              </a:lnSpc>
              <a:spcBef>
                <a:spcPts val="0"/>
              </a:spcBef>
              <a:spcAft>
                <a:spcPts val="0"/>
              </a:spcAft>
              <a:buClr>
                <a:srgbClr val="0F1115"/>
              </a:buClr>
              <a:buSzPts val="2000"/>
              <a:buFont typeface="Roboto"/>
              <a:buChar char="○"/>
            </a:pPr>
            <a:r>
              <a:rPr b="0" i="0" lang="fr-FR" sz="2000" u="none" cap="none" strike="noStrike">
                <a:solidFill>
                  <a:srgbClr val="0F1115"/>
                </a:solidFill>
                <a:highlight>
                  <a:srgbClr val="FFFFFF"/>
                </a:highlight>
                <a:latin typeface="Roboto"/>
                <a:ea typeface="Roboto"/>
                <a:cs typeface="Roboto"/>
                <a:sym typeface="Roboto"/>
              </a:rPr>
              <a:t>Format de sortie : Parquet.</a:t>
            </a:r>
            <a:endParaRPr b="0" i="0" sz="20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1" i="0" lang="fr-FR" sz="2000" u="none" cap="none" strike="noStrike">
                <a:solidFill>
                  <a:srgbClr val="0F1115"/>
                </a:solidFill>
                <a:highlight>
                  <a:srgbClr val="FFFFFF"/>
                </a:highlight>
                <a:latin typeface="Roboto"/>
                <a:ea typeface="Roboto"/>
                <a:cs typeface="Roboto"/>
                <a:sym typeface="Roboto"/>
              </a:rPr>
              <a:t>Pourquoi Parquet ?</a:t>
            </a:r>
            <a:r>
              <a:rPr b="0" i="0" lang="fr-FR" sz="2000" u="none" cap="none" strike="noStrike">
                <a:solidFill>
                  <a:srgbClr val="0F1115"/>
                </a:solidFill>
                <a:highlight>
                  <a:srgbClr val="FFFFFF"/>
                </a:highlight>
                <a:latin typeface="Roboto"/>
                <a:ea typeface="Roboto"/>
                <a:cs typeface="Roboto"/>
                <a:sym typeface="Roboto"/>
              </a:rPr>
              <a:t> C'est un format de stockage colonnaire, hautement optimisé pour les requêtes analytiques. Il offre une excellente compression (codec </a:t>
            </a:r>
            <a:r>
              <a:rPr b="0" i="0" lang="fr-FR" sz="1850" u="none" cap="none" strike="noStrike">
                <a:solidFill>
                  <a:srgbClr val="0F1115"/>
                </a:solidFill>
                <a:highlight>
                  <a:srgbClr val="EBEEF2"/>
                </a:highlight>
                <a:latin typeface="Roboto Mono"/>
                <a:ea typeface="Roboto Mono"/>
                <a:cs typeface="Roboto Mono"/>
                <a:sym typeface="Roboto Mono"/>
              </a:rPr>
              <a:t>snappy</a:t>
            </a:r>
            <a:r>
              <a:rPr b="0" i="0" lang="fr-FR" sz="2000" u="none" cap="none" strike="noStrike">
                <a:solidFill>
                  <a:srgbClr val="0F1115"/>
                </a:solidFill>
                <a:highlight>
                  <a:srgbClr val="FFFFFF"/>
                </a:highlight>
                <a:latin typeface="Roboto"/>
                <a:ea typeface="Roboto"/>
                <a:cs typeface="Roboto"/>
                <a:sym typeface="Roboto"/>
              </a:rPr>
              <a:t>) et est le format natif de Spark, garantissant des performances de lecture/écriture optimales pour les prochaines étapes du projet (comme la classification).</a:t>
            </a:r>
            <a:endParaRPr b="0" i="0" sz="20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2000" u="none" cap="none" strike="noStrike">
                <a:solidFill>
                  <a:srgbClr val="0F1115"/>
                </a:solidFill>
                <a:highlight>
                  <a:srgbClr val="FFFFFF"/>
                </a:highlight>
                <a:latin typeface="Roboto"/>
                <a:ea typeface="Roboto"/>
                <a:cs typeface="Roboto"/>
                <a:sym typeface="Roboto"/>
              </a:rPr>
              <a:t>Localisation des résultats : </a:t>
            </a:r>
            <a:r>
              <a:rPr b="0" i="0" lang="fr-FR" sz="2000" u="none" cap="none" strike="noStrike">
                <a:solidFill>
                  <a:srgbClr val="0F1115"/>
                </a:solidFill>
                <a:highlight>
                  <a:srgbClr val="FFFFFF"/>
                </a:highlight>
                <a:latin typeface="Roboto"/>
                <a:ea typeface="Roboto"/>
                <a:cs typeface="Roboto"/>
                <a:sym typeface="Roboto"/>
              </a:rPr>
              <a:t>Le dossier de résultats (</a:t>
            </a:r>
            <a:r>
              <a:rPr b="0" i="0" lang="fr-FR" sz="1850" u="none" cap="none" strike="noStrike">
                <a:solidFill>
                  <a:srgbClr val="0F1115"/>
                </a:solidFill>
                <a:highlight>
                  <a:srgbClr val="EBEEF2"/>
                </a:highlight>
                <a:latin typeface="Roboto Mono"/>
                <a:ea typeface="Roboto Mono"/>
                <a:cs typeface="Roboto Mono"/>
                <a:sym typeface="Roboto Mono"/>
              </a:rPr>
              <a:t>PROJET_8/results</a:t>
            </a:r>
            <a:r>
              <a:rPr b="0" i="0" lang="fr-FR" sz="2000" u="none" cap="none" strike="noStrike">
                <a:solidFill>
                  <a:srgbClr val="0F1115"/>
                </a:solidFill>
                <a:highlight>
                  <a:srgbClr val="FFFFFF"/>
                </a:highlight>
                <a:latin typeface="Roboto"/>
                <a:ea typeface="Roboto"/>
                <a:cs typeface="Roboto"/>
                <a:sym typeface="Roboto"/>
              </a:rPr>
              <a:t>) est créé automatiquement.</a:t>
            </a:r>
            <a:endParaRPr b="0" i="0" sz="2000" u="none" cap="none" strike="noStrike">
              <a:solidFill>
                <a:srgbClr val="0F1115"/>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4"/>
          <p:cNvSpPr txBox="1"/>
          <p:nvPr>
            <p:ph idx="4294967295" type="body"/>
          </p:nvPr>
        </p:nvSpPr>
        <p:spPr>
          <a:xfrm>
            <a:off x="0" y="1900344"/>
            <a:ext cx="12192000" cy="4388400"/>
          </a:xfrm>
          <a:prstGeom prst="rect">
            <a:avLst/>
          </a:prstGeom>
          <a:noFill/>
          <a:ln>
            <a:noFill/>
          </a:ln>
        </p:spPr>
        <p:txBody>
          <a:bodyPr anchorCtr="0" anchor="t" bIns="45000" lIns="90000" spcFirstLastPara="1" rIns="90000" wrap="square" tIns="45000">
            <a:normAutofit fontScale="77500" lnSpcReduction="20000"/>
          </a:bodyPr>
          <a:lstStyle/>
          <a:p>
            <a:pPr indent="-177165" lvl="0" marL="228600" marR="0" rtl="0" algn="l">
              <a:lnSpc>
                <a:spcPct val="90000"/>
              </a:lnSpc>
              <a:spcBef>
                <a:spcPts val="0"/>
              </a:spcBef>
              <a:spcAft>
                <a:spcPts val="0"/>
              </a:spcAft>
              <a:buClr>
                <a:srgbClr val="00B0F0"/>
              </a:buClr>
              <a:buSzPct val="100000"/>
              <a:buFont typeface="Arial"/>
              <a:buChar char="•"/>
            </a:pPr>
            <a:r>
              <a:rPr b="1" i="1" lang="fr-FR" sz="3600" u="none" cap="none" strike="noStrike">
                <a:solidFill>
                  <a:srgbClr val="00B0F0"/>
                </a:solidFill>
                <a:latin typeface="Calibri"/>
                <a:ea typeface="Calibri"/>
                <a:cs typeface="Calibri"/>
                <a:sym typeface="Calibri"/>
              </a:rPr>
              <a:t>Diviser les opérations en micro-opérations pouvant être réparties entre différentes machines, réalisées en parallèle. </a:t>
            </a:r>
            <a:r>
              <a:rPr i="1" lang="fr-FR" sz="3600">
                <a:solidFill>
                  <a:srgbClr val="00B0F0"/>
                </a:solidFill>
                <a:latin typeface="Calibri"/>
                <a:ea typeface="Calibri"/>
                <a:cs typeface="Calibri"/>
                <a:sym typeface="Calibri"/>
              </a:rPr>
              <a:t>Agréger les résultats sur le même serveur (collecter et combiner les résultats de différents calculs ou traitements sur une seule et même unité de calcul, sans avoir besoin de les transférer ou de les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traiter sur des unités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de calcul différentes.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Cela peut être utile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pour réduire les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coûts de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communication ou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pour accélérer le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traitement des </a:t>
            </a:r>
            <a:endParaRPr i="1" sz="3600">
              <a:solidFill>
                <a:srgbClr val="00B0F0"/>
              </a:solidFill>
              <a:latin typeface="Calibri"/>
              <a:ea typeface="Calibri"/>
              <a:cs typeface="Calibri"/>
              <a:sym typeface="Calibri"/>
            </a:endParaRPr>
          </a:p>
          <a:p>
            <a:pPr indent="-177165" lvl="0" marL="228600" marR="0" rtl="0" algn="l">
              <a:lnSpc>
                <a:spcPct val="90000"/>
              </a:lnSpc>
              <a:spcBef>
                <a:spcPts val="0"/>
              </a:spcBef>
              <a:spcAft>
                <a:spcPts val="0"/>
              </a:spcAft>
              <a:buClr>
                <a:srgbClr val="00B0F0"/>
              </a:buClr>
              <a:buSzPct val="100000"/>
              <a:buFont typeface="Arial"/>
              <a:buChar char="•"/>
            </a:pPr>
            <a:r>
              <a:rPr i="1" lang="fr-FR" sz="3600">
                <a:solidFill>
                  <a:srgbClr val="00B0F0"/>
                </a:solidFill>
                <a:latin typeface="Calibri"/>
                <a:ea typeface="Calibri"/>
                <a:cs typeface="Calibri"/>
                <a:sym typeface="Calibri"/>
              </a:rPr>
              <a:t>données.) </a:t>
            </a:r>
            <a:r>
              <a:rPr i="1" lang="fr-FR" sz="2800">
                <a:solidFill>
                  <a:schemeClr val="dk1"/>
                </a:solidFill>
                <a:latin typeface="Calibri"/>
                <a:ea typeface="Calibri"/>
                <a:cs typeface="Calibri"/>
                <a:sym typeface="Calibri"/>
              </a:rPr>
              <a:t> </a:t>
            </a:r>
            <a:endParaRPr b="1" i="1" sz="3600">
              <a:solidFill>
                <a:srgbClr val="00B0F0"/>
              </a:solidFill>
              <a:latin typeface="Calibri"/>
              <a:ea typeface="Calibri"/>
              <a:cs typeface="Calibri"/>
              <a:sym typeface="Calibri"/>
            </a:endParaRPr>
          </a:p>
          <a:p>
            <a:pPr indent="-50759" lvl="0" marL="228600" marR="0" rtl="0" algn="l">
              <a:lnSpc>
                <a:spcPct val="90000"/>
              </a:lnSpc>
              <a:spcBef>
                <a:spcPts val="1001"/>
              </a:spcBef>
              <a:spcAft>
                <a:spcPts val="0"/>
              </a:spcAft>
              <a:buSzPct val="50179"/>
              <a:buNone/>
            </a:pPr>
            <a:r>
              <a:t/>
            </a:r>
            <a:endParaRPr b="0" i="0" sz="3600" u="none" cap="none" strike="noStrike">
              <a:latin typeface="Arial"/>
              <a:ea typeface="Arial"/>
              <a:cs typeface="Arial"/>
              <a:sym typeface="Arial"/>
            </a:endParaRPr>
          </a:p>
        </p:txBody>
      </p:sp>
      <p:sp>
        <p:nvSpPr>
          <p:cNvPr id="125" name="Google Shape;125;p14"/>
          <p:cNvSpPr/>
          <p:nvPr/>
        </p:nvSpPr>
        <p:spPr>
          <a:xfrm>
            <a:off x="211785" y="899100"/>
            <a:ext cx="10588200" cy="49320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Clr>
                <a:srgbClr val="000000"/>
              </a:buClr>
              <a:buSzPts val="2800"/>
              <a:buFont typeface="Arial"/>
              <a:buNone/>
            </a:pPr>
            <a:r>
              <a:rPr b="1" i="1" lang="fr-FR" sz="2800" u="none" cap="none" strike="noStrike">
                <a:solidFill>
                  <a:srgbClr val="0F47A6"/>
                </a:solidFill>
                <a:latin typeface="Yeseva One"/>
                <a:ea typeface="Yeseva One"/>
                <a:cs typeface="Yeseva One"/>
                <a:sym typeface="Yeseva One"/>
              </a:rPr>
              <a:t>Surmonter ces(les limites du Big Data)</a:t>
            </a:r>
            <a:endParaRPr b="0" i="0" sz="2800" u="none" cap="none" strike="noStrike">
              <a:solidFill>
                <a:srgbClr val="000000"/>
              </a:solidFill>
              <a:latin typeface="Arial"/>
              <a:ea typeface="Arial"/>
              <a:cs typeface="Arial"/>
              <a:sym typeface="Arial"/>
            </a:endParaRPr>
          </a:p>
        </p:txBody>
      </p:sp>
      <p:sp>
        <p:nvSpPr>
          <p:cNvPr id="126" name="Google Shape;126;p14"/>
          <p:cNvSpPr/>
          <p:nvPr/>
        </p:nvSpPr>
        <p:spPr>
          <a:xfrm>
            <a:off x="1460495" y="1392328"/>
            <a:ext cx="8777400" cy="6099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1" i="1" lang="fr-FR" sz="1800" u="none" cap="none" strike="noStrike">
                <a:solidFill>
                  <a:srgbClr val="FF0000"/>
                </a:solidFill>
                <a:latin typeface="Calibri"/>
                <a:ea typeface="Calibri"/>
                <a:cs typeface="Calibri"/>
                <a:sym typeface="Calibri"/>
              </a:rPr>
              <a:t>C’est comme cela que l’on fait pour faire du Traitement sur différents Ordinateurs ( un Cluster de serveurs ) </a:t>
            </a:r>
            <a:endParaRPr b="0" i="0" sz="1800" u="none" cap="none" strike="noStrike">
              <a:solidFill>
                <a:srgbClr val="000000"/>
              </a:solidFill>
              <a:latin typeface="Arial"/>
              <a:ea typeface="Arial"/>
              <a:cs typeface="Arial"/>
              <a:sym typeface="Arial"/>
            </a:endParaRPr>
          </a:p>
        </p:txBody>
      </p:sp>
      <p:pic>
        <p:nvPicPr>
          <p:cNvPr id="127" name="Google Shape;127;p14"/>
          <p:cNvPicPr preferRelativeResize="0"/>
          <p:nvPr/>
        </p:nvPicPr>
        <p:blipFill rotWithShape="1">
          <a:blip r:embed="rId3">
            <a:alphaModFix/>
          </a:blip>
          <a:srcRect b="0" l="0" r="0" t="0"/>
          <a:stretch/>
        </p:blipFill>
        <p:spPr>
          <a:xfrm>
            <a:off x="3943440" y="3109870"/>
            <a:ext cx="8238959" cy="3309405"/>
          </a:xfrm>
          <a:prstGeom prst="rect">
            <a:avLst/>
          </a:prstGeom>
          <a:noFill/>
          <a:ln>
            <a:noFill/>
          </a:ln>
        </p:spPr>
      </p:pic>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5876a071c_4_0"/>
          <p:cNvSpPr txBox="1"/>
          <p:nvPr/>
        </p:nvSpPr>
        <p:spPr>
          <a:xfrm>
            <a:off x="0" y="0"/>
            <a:ext cx="12192000" cy="697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1900"/>
              <a:buFont typeface="Arial"/>
              <a:buNone/>
            </a:pPr>
            <a:r>
              <a:rPr b="1" i="0" lang="fr-FR" sz="1900" u="none" cap="none" strike="noStrike">
                <a:solidFill>
                  <a:srgbClr val="0F1115"/>
                </a:solidFill>
                <a:highlight>
                  <a:srgbClr val="FFFFFF"/>
                </a:highlight>
                <a:latin typeface="Roboto"/>
                <a:ea typeface="Roboto"/>
                <a:cs typeface="Roboto"/>
                <a:sym typeface="Roboto"/>
              </a:rPr>
              <a:t> Déploiement sur AWS - Détails de Configuration</a:t>
            </a:r>
            <a:endParaRPr b="1" i="0" sz="19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120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Stockage des données (Amazon S3)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Création d'un bucket S3 dédié (ex: </a:t>
            </a:r>
            <a:r>
              <a:rPr b="0" i="0" lang="fr-FR" sz="1450" u="none" cap="none" strike="noStrike">
                <a:solidFill>
                  <a:srgbClr val="0F1115"/>
                </a:solidFill>
                <a:highlight>
                  <a:srgbClr val="EBEEF2"/>
                </a:highlight>
                <a:latin typeface="Roboto Mono"/>
                <a:ea typeface="Roboto Mono"/>
                <a:cs typeface="Roboto Mono"/>
                <a:sym typeface="Roboto Mono"/>
              </a:rPr>
              <a:t>s3://p8-data/</a:t>
            </a:r>
            <a:r>
              <a:rPr b="0" i="0" lang="fr-FR" sz="1600" u="none" cap="none" strike="noStrike">
                <a:solidFill>
                  <a:srgbClr val="0F1115"/>
                </a:solidFill>
                <a:highlight>
                  <a:srgbClr val="FFFFFF"/>
                </a:highlight>
                <a:latin typeface="Roboto"/>
                <a:ea typeface="Roboto"/>
                <a:cs typeface="Roboto"/>
                <a:sym typeface="Roboto"/>
              </a:rPr>
              <a:t> ou le bucket </a:t>
            </a:r>
            <a:r>
              <a:rPr b="1" i="0" lang="fr-FR" sz="1600" u="none" cap="none" strike="noStrike">
                <a:solidFill>
                  <a:srgbClr val="0F1115"/>
                </a:solidFill>
                <a:highlight>
                  <a:srgbClr val="FFFFFF"/>
                </a:highlight>
                <a:latin typeface="Roboto"/>
                <a:ea typeface="Roboto"/>
                <a:cs typeface="Roboto"/>
                <a:sym typeface="Roboto"/>
              </a:rPr>
              <a:t>SageMaker</a:t>
            </a:r>
            <a:r>
              <a:rPr b="0" i="0" lang="fr-FR" sz="1600" u="none" cap="none" strike="noStrike">
                <a:solidFill>
                  <a:srgbClr val="0F1115"/>
                </a:solidFill>
                <a:highlight>
                  <a:srgbClr val="FFFFFF"/>
                </a:highlight>
                <a:latin typeface="Roboto"/>
                <a:ea typeface="Roboto"/>
                <a:cs typeface="Roboto"/>
                <a:sym typeface="Roboto"/>
              </a:rPr>
              <a:t> par défaut).</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Upload des données d'entrée (dossier </a:t>
            </a:r>
            <a:r>
              <a:rPr b="0" i="0" lang="fr-FR" sz="1450" u="none" cap="none" strike="noStrike">
                <a:solidFill>
                  <a:srgbClr val="0F1115"/>
                </a:solidFill>
                <a:highlight>
                  <a:srgbClr val="EBEEF2"/>
                </a:highlight>
                <a:latin typeface="Roboto Mono"/>
                <a:ea typeface="Roboto Mono"/>
                <a:cs typeface="Roboto Mono"/>
                <a:sym typeface="Roboto Mono"/>
              </a:rPr>
              <a:t>Test</a:t>
            </a:r>
            <a:r>
              <a:rPr b="0" i="0" lang="fr-FR" sz="1600" u="none" cap="none" strike="noStrike">
                <a:solidFill>
                  <a:srgbClr val="0F1115"/>
                </a:solidFill>
                <a:highlight>
                  <a:srgbClr val="FFFFFF"/>
                </a:highlight>
                <a:latin typeface="Roboto"/>
                <a:ea typeface="Roboto"/>
                <a:cs typeface="Roboto"/>
                <a:sym typeface="Roboto"/>
              </a:rPr>
              <a:t>) dans </a:t>
            </a:r>
            <a:r>
              <a:rPr b="0" i="0" lang="fr-FR" sz="1450" u="none" cap="none" strike="noStrike">
                <a:solidFill>
                  <a:srgbClr val="0F1115"/>
                </a:solidFill>
                <a:highlight>
                  <a:srgbClr val="EBEEF2"/>
                </a:highlight>
                <a:latin typeface="Roboto Mono"/>
                <a:ea typeface="Roboto Mono"/>
                <a:cs typeface="Roboto Mono"/>
                <a:sym typeface="Roboto Mono"/>
              </a:rPr>
              <a:t>s3://p8-data/Test/</a:t>
            </a:r>
            <a:r>
              <a:rPr b="0" i="0" lang="fr-FR" sz="1600" u="none" cap="none" strike="noStrike">
                <a:solidFill>
                  <a:srgbClr val="0F1115"/>
                </a:solidFill>
                <a:highlight>
                  <a:srgbClr val="FFFFFF"/>
                </a:highlight>
                <a:latin typeface="Roboto"/>
                <a:ea typeface="Roboto"/>
                <a:cs typeface="Roboto"/>
                <a:sym typeface="Roboto"/>
              </a:rPr>
              <a:t> via la commande </a:t>
            </a:r>
            <a:r>
              <a:rPr b="0" i="0" lang="fr-FR" sz="1450" u="none" cap="none" strike="noStrike">
                <a:solidFill>
                  <a:srgbClr val="0F1115"/>
                </a:solidFill>
                <a:highlight>
                  <a:srgbClr val="EBEEF2"/>
                </a:highlight>
                <a:latin typeface="Roboto Mono"/>
                <a:ea typeface="Roboto Mono"/>
                <a:cs typeface="Roboto Mono"/>
                <a:sym typeface="Roboto Mono"/>
              </a:rPr>
              <a:t>aws s3 sync</a:t>
            </a:r>
            <a:r>
              <a:rPr b="0" i="0" lang="fr-FR" sz="1600" u="none" cap="none" strike="noStrike">
                <a:solidFill>
                  <a:srgbClr val="0F1115"/>
                </a:solidFill>
                <a:highlight>
                  <a:srgbClr val="FFFFFF"/>
                </a:highlight>
                <a:latin typeface="Roboto"/>
                <a:ea typeface="Roboto"/>
                <a:cs typeface="Roboto"/>
                <a:sym typeface="Roboto"/>
              </a:rPr>
              <a:t> ou l'interface web.</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Les résultats du traitement seront enregistrés dans </a:t>
            </a:r>
            <a:r>
              <a:rPr b="0" i="0" lang="fr-FR" sz="1450" u="none" cap="none" strike="noStrike">
                <a:solidFill>
                  <a:srgbClr val="0F1115"/>
                </a:solidFill>
                <a:highlight>
                  <a:srgbClr val="EBEEF2"/>
                </a:highlight>
                <a:latin typeface="Roboto Mono"/>
                <a:ea typeface="Roboto Mono"/>
                <a:cs typeface="Roboto Mono"/>
                <a:sym typeface="Roboto Mono"/>
              </a:rPr>
              <a:t>s3://p8-data/results/</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Configuration du cluster (AWS EMR)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1600" u="none" cap="none" strike="noStrike">
                <a:solidFill>
                  <a:srgbClr val="0F1115"/>
                </a:solidFill>
                <a:highlight>
                  <a:srgbClr val="FFFFFF"/>
                </a:highlight>
                <a:latin typeface="Roboto"/>
                <a:ea typeface="Roboto"/>
                <a:cs typeface="Roboto"/>
                <a:sym typeface="Roboto"/>
              </a:rPr>
              <a:t>Matériel : </a:t>
            </a:r>
            <a:r>
              <a:rPr b="0" i="0" lang="fr-FR" sz="1600" u="none" cap="none" strike="noStrike">
                <a:solidFill>
                  <a:srgbClr val="0F1115"/>
                </a:solidFill>
                <a:highlight>
                  <a:srgbClr val="FFFFFF"/>
                </a:highlight>
                <a:latin typeface="Roboto"/>
                <a:ea typeface="Roboto"/>
                <a:cs typeface="Roboto"/>
                <a:sym typeface="Roboto"/>
              </a:rPr>
              <a:t>3 instances de type </a:t>
            </a:r>
            <a:r>
              <a:rPr b="0" i="0" lang="fr-FR" sz="1450" u="none" cap="none" strike="noStrike">
                <a:solidFill>
                  <a:srgbClr val="0F1115"/>
                </a:solidFill>
                <a:highlight>
                  <a:srgbClr val="EBEEF2"/>
                </a:highlight>
                <a:latin typeface="Roboto Mono"/>
                <a:ea typeface="Roboto Mono"/>
                <a:cs typeface="Roboto Mono"/>
                <a:sym typeface="Roboto Mono"/>
              </a:rPr>
              <a:t>m5.xlarge</a:t>
            </a:r>
            <a:r>
              <a:rPr b="0" i="0" lang="fr-FR" sz="1600" u="none" cap="none" strike="noStrike">
                <a:solidFill>
                  <a:srgbClr val="0F1115"/>
                </a:solidFill>
                <a:highlight>
                  <a:srgbClr val="FFFFFF"/>
                </a:highlight>
                <a:latin typeface="Roboto"/>
                <a:ea typeface="Roboto"/>
                <a:cs typeface="Roboto"/>
                <a:sym typeface="Roboto"/>
              </a:rPr>
              <a:t> (1 master, 2 core). Ce type d'instance offre un bon équilibre entre mémoire et CPU.</a:t>
            </a:r>
            <a:endParaRPr b="0" i="0" sz="1600" u="none" cap="none" strike="noStrike">
              <a:solidFill>
                <a:srgbClr val="0F1115"/>
              </a:solidFill>
              <a:highlight>
                <a:srgbClr val="FFFFFF"/>
              </a:highlight>
              <a:latin typeface="Roboto"/>
              <a:ea typeface="Roboto"/>
              <a:cs typeface="Roboto"/>
              <a:sym typeface="Roboto"/>
            </a:endParaRPr>
          </a:p>
          <a:p>
            <a:pPr indent="-330200" lvl="1" marL="914400" marR="0" rtl="0" algn="l">
              <a:lnSpc>
                <a:spcPct val="115000"/>
              </a:lnSpc>
              <a:spcBef>
                <a:spcPts val="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Système d'exploitation : </a:t>
            </a:r>
            <a:r>
              <a:rPr b="0" i="0" lang="fr-FR" sz="1600" u="none" cap="none" strike="noStrike">
                <a:solidFill>
                  <a:srgbClr val="0F1115"/>
                </a:solidFill>
                <a:highlight>
                  <a:srgbClr val="FFFFFF"/>
                </a:highlight>
                <a:latin typeface="Roboto"/>
                <a:ea typeface="Roboto"/>
                <a:cs typeface="Roboto"/>
                <a:sym typeface="Roboto"/>
              </a:rPr>
              <a:t>Amazon Linux 2 (ou Ubuntu Server 18.04).</a:t>
            </a:r>
            <a:endParaRPr b="0" i="0" sz="1600" u="none" cap="none" strike="noStrike">
              <a:solidFill>
                <a:srgbClr val="0F1115"/>
              </a:solidFill>
              <a:highlight>
                <a:srgbClr val="FFFFFF"/>
              </a:highlight>
              <a:latin typeface="Roboto"/>
              <a:ea typeface="Roboto"/>
              <a:cs typeface="Roboto"/>
              <a:sym typeface="Roboto"/>
            </a:endParaRPr>
          </a:p>
          <a:p>
            <a:pPr indent="-330200" lvl="1" marL="914400" marR="0" rtl="0" algn="l">
              <a:lnSpc>
                <a:spcPct val="115000"/>
              </a:lnSpc>
              <a:spcBef>
                <a:spcPts val="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Logiciels installés (lors de la création du cluster) :</a:t>
            </a:r>
            <a:endParaRPr b="1" i="0" sz="1600" u="none" cap="none" strike="noStrike">
              <a:solidFill>
                <a:srgbClr val="0F1115"/>
              </a:solidFill>
              <a:highlight>
                <a:srgbClr val="FFFFFF"/>
              </a:highlight>
              <a:latin typeface="Roboto"/>
              <a:ea typeface="Roboto"/>
              <a:cs typeface="Roboto"/>
              <a:sym typeface="Roboto"/>
            </a:endParaRPr>
          </a:p>
          <a:p>
            <a:pPr indent="-330200" lvl="2" marL="1371600" marR="0" rtl="0" algn="l">
              <a:lnSpc>
                <a:spcPct val="115000"/>
              </a:lnSpc>
              <a:spcBef>
                <a:spcPts val="0"/>
              </a:spcBef>
              <a:spcAft>
                <a:spcPts val="0"/>
              </a:spcAft>
              <a:buClr>
                <a:srgbClr val="0F1115"/>
              </a:buClr>
              <a:buSzPts val="1600"/>
              <a:buFont typeface="Roboto"/>
              <a:buChar char="■"/>
            </a:pPr>
            <a:r>
              <a:rPr b="0" i="0" lang="fr-FR" sz="1600" u="none" cap="none" strike="noStrike">
                <a:solidFill>
                  <a:srgbClr val="0F1115"/>
                </a:solidFill>
                <a:highlight>
                  <a:srgbClr val="FFFFFF"/>
                </a:highlight>
                <a:latin typeface="Roboto"/>
                <a:ea typeface="Roboto"/>
                <a:cs typeface="Roboto"/>
                <a:sym typeface="Roboto"/>
              </a:rPr>
              <a:t>Hadoop, Spark, TensorFlow, JupyterHub.</a:t>
            </a:r>
            <a:endParaRPr b="0" i="0" sz="1600" u="none" cap="none" strike="noStrike">
              <a:solidFill>
                <a:srgbClr val="0F1115"/>
              </a:solidFill>
              <a:highlight>
                <a:srgbClr val="FFFFFF"/>
              </a:highlight>
              <a:latin typeface="Roboto"/>
              <a:ea typeface="Roboto"/>
              <a:cs typeface="Roboto"/>
              <a:sym typeface="Roboto"/>
            </a:endParaRPr>
          </a:p>
          <a:p>
            <a:pPr indent="-330200" lvl="1" marL="914400" marR="0" rtl="0" algn="l">
              <a:lnSpc>
                <a:spcPct val="115000"/>
              </a:lnSpc>
              <a:spcBef>
                <a:spcPts val="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Configuration personnalisée (via script Bootstrap) :</a:t>
            </a:r>
            <a:endParaRPr b="1" i="0" sz="1600" u="none" cap="none" strike="noStrike">
              <a:solidFill>
                <a:srgbClr val="0F1115"/>
              </a:solidFill>
              <a:highlight>
                <a:srgbClr val="FFFFFF"/>
              </a:highlight>
              <a:latin typeface="Roboto"/>
              <a:ea typeface="Roboto"/>
              <a:cs typeface="Roboto"/>
              <a:sym typeface="Roboto"/>
            </a:endParaRPr>
          </a:p>
          <a:p>
            <a:pPr indent="-304800" lvl="2" marL="13716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Un script shell (</a:t>
            </a:r>
            <a:r>
              <a:rPr b="0" i="0" lang="fr-FR" sz="1450" u="none" cap="none" strike="noStrike">
                <a:solidFill>
                  <a:srgbClr val="0F1115"/>
                </a:solidFill>
                <a:highlight>
                  <a:srgbClr val="EBEEF2"/>
                </a:highlight>
                <a:latin typeface="Roboto Mono"/>
                <a:ea typeface="Roboto Mono"/>
                <a:cs typeface="Roboto Mono"/>
                <a:sym typeface="Roboto Mono"/>
              </a:rPr>
              <a:t>bootstrap-emr.sh</a:t>
            </a:r>
            <a:r>
              <a:rPr b="0" i="0" lang="fr-FR" sz="1600" u="none" cap="none" strike="noStrike">
                <a:solidFill>
                  <a:srgbClr val="0F1115"/>
                </a:solidFill>
                <a:highlight>
                  <a:srgbClr val="FFFFFF"/>
                </a:highlight>
                <a:latin typeface="Roboto"/>
                <a:ea typeface="Roboto"/>
                <a:cs typeface="Roboto"/>
                <a:sym typeface="Roboto"/>
              </a:rPr>
              <a:t>) est exécuté sur toutes les instances pour installer les bibliothèques Python nécessaires : </a:t>
            </a:r>
            <a:r>
              <a:rPr b="0" i="0" lang="fr-FR" sz="1450" u="none" cap="none" strike="noStrike">
                <a:solidFill>
                  <a:srgbClr val="0F1115"/>
                </a:solidFill>
                <a:highlight>
                  <a:srgbClr val="EBEEF2"/>
                </a:highlight>
                <a:latin typeface="Roboto Mono"/>
                <a:ea typeface="Roboto Mono"/>
                <a:cs typeface="Roboto Mono"/>
                <a:sym typeface="Roboto Mono"/>
              </a:rPr>
              <a:t>pandas</a:t>
            </a:r>
            <a:r>
              <a:rPr b="0" i="0" lang="fr-FR" sz="1600" u="none" cap="none" strike="noStrike">
                <a:solidFill>
                  <a:srgbClr val="0F1115"/>
                </a:solidFill>
                <a:highlight>
                  <a:srgbClr val="FFFFFF"/>
                </a:highlight>
                <a:latin typeface="Roboto"/>
                <a:ea typeface="Roboto"/>
                <a:cs typeface="Roboto"/>
                <a:sym typeface="Roboto"/>
              </a:rPr>
              <a:t>, </a:t>
            </a:r>
            <a:r>
              <a:rPr b="0" i="0" lang="fr-FR" sz="1450" u="none" cap="none" strike="noStrike">
                <a:solidFill>
                  <a:srgbClr val="0F1115"/>
                </a:solidFill>
                <a:highlight>
                  <a:srgbClr val="EBEEF2"/>
                </a:highlight>
                <a:latin typeface="Roboto Mono"/>
                <a:ea typeface="Roboto Mono"/>
                <a:cs typeface="Roboto Mono"/>
                <a:sym typeface="Roboto Mono"/>
              </a:rPr>
              <a:t>pillow</a:t>
            </a:r>
            <a:r>
              <a:rPr b="0" i="0" lang="fr-FR" sz="1600" u="none" cap="none" strike="noStrike">
                <a:solidFill>
                  <a:srgbClr val="0F1115"/>
                </a:solidFill>
                <a:highlight>
                  <a:srgbClr val="FFFFFF"/>
                </a:highlight>
                <a:latin typeface="Roboto"/>
                <a:ea typeface="Roboto"/>
                <a:cs typeface="Roboto"/>
                <a:sym typeface="Roboto"/>
              </a:rPr>
              <a:t>, </a:t>
            </a:r>
            <a:r>
              <a:rPr b="0" i="0" lang="fr-FR" sz="1450" u="none" cap="none" strike="noStrike">
                <a:solidFill>
                  <a:srgbClr val="0F1115"/>
                </a:solidFill>
                <a:highlight>
                  <a:srgbClr val="EBEEF2"/>
                </a:highlight>
                <a:latin typeface="Roboto Mono"/>
                <a:ea typeface="Roboto Mono"/>
                <a:cs typeface="Roboto Mono"/>
                <a:sym typeface="Roboto Mono"/>
              </a:rPr>
              <a:t>pyarrow</a:t>
            </a:r>
            <a:r>
              <a:rPr b="0" i="0" lang="fr-FR" sz="1600" u="none" cap="none" strike="noStrike">
                <a:solidFill>
                  <a:srgbClr val="0F1115"/>
                </a:solidFill>
                <a:highlight>
                  <a:srgbClr val="FFFFFF"/>
                </a:highlight>
                <a:latin typeface="Roboto"/>
                <a:ea typeface="Roboto"/>
                <a:cs typeface="Roboto"/>
                <a:sym typeface="Roboto"/>
              </a:rPr>
              <a:t> (avec des versions spécifiques pour garantir la compatibilité). Le script inclut la mise à jour de </a:t>
            </a:r>
            <a:r>
              <a:rPr b="0" i="0" lang="fr-FR" sz="1450" u="none" cap="none" strike="noStrike">
                <a:solidFill>
                  <a:srgbClr val="0F1115"/>
                </a:solidFill>
                <a:highlight>
                  <a:srgbClr val="EBEEF2"/>
                </a:highlight>
                <a:latin typeface="Roboto Mono"/>
                <a:ea typeface="Roboto Mono"/>
                <a:cs typeface="Roboto Mono"/>
                <a:sym typeface="Roboto Mono"/>
              </a:rPr>
              <a:t>setuptools</a:t>
            </a:r>
            <a:r>
              <a:rPr b="0" i="0" lang="fr-FR" sz="1600" u="none" cap="none" strike="noStrike">
                <a:solidFill>
                  <a:srgbClr val="0F1115"/>
                </a:solidFill>
                <a:highlight>
                  <a:srgbClr val="FFFFFF"/>
                </a:highlight>
                <a:latin typeface="Roboto"/>
                <a:ea typeface="Roboto"/>
                <a:cs typeface="Roboto"/>
                <a:sym typeface="Roboto"/>
              </a:rPr>
              <a:t> et </a:t>
            </a:r>
            <a:r>
              <a:rPr b="0" i="0" lang="fr-FR" sz="1450" u="none" cap="none" strike="noStrike">
                <a:solidFill>
                  <a:srgbClr val="0F1115"/>
                </a:solidFill>
                <a:highlight>
                  <a:srgbClr val="EBEEF2"/>
                </a:highlight>
                <a:latin typeface="Roboto Mono"/>
                <a:ea typeface="Roboto Mono"/>
                <a:cs typeface="Roboto Mono"/>
                <a:sym typeface="Roboto Mono"/>
              </a:rPr>
              <a:t>pip</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1" i="0" lang="fr-FR" sz="1600" u="none" cap="none" strike="noStrike">
                <a:solidFill>
                  <a:srgbClr val="0F1115"/>
                </a:solidFill>
                <a:highlight>
                  <a:srgbClr val="FFFFFF"/>
                </a:highlight>
                <a:latin typeface="Roboto"/>
                <a:ea typeface="Roboto"/>
                <a:cs typeface="Roboto"/>
                <a:sym typeface="Roboto"/>
              </a:rPr>
              <a:t>Persistance : </a:t>
            </a:r>
            <a:r>
              <a:rPr b="0" i="0" lang="fr-FR" sz="1600" u="none" cap="none" strike="noStrike">
                <a:solidFill>
                  <a:srgbClr val="0F1115"/>
                </a:solidFill>
                <a:highlight>
                  <a:srgbClr val="FFFFFF"/>
                </a:highlight>
                <a:latin typeface="Roboto"/>
                <a:ea typeface="Roboto"/>
                <a:cs typeface="Roboto"/>
                <a:sym typeface="Roboto"/>
              </a:rPr>
              <a:t>Configuration de JupyterHub pour enregistrer les notebooks directement sur S3 (</a:t>
            </a:r>
            <a:r>
              <a:rPr b="0" i="0" lang="fr-FR" sz="1450" u="none" cap="none" strike="noStrike">
                <a:solidFill>
                  <a:srgbClr val="0F1115"/>
                </a:solidFill>
                <a:highlight>
                  <a:srgbClr val="EBEEF2"/>
                </a:highlight>
                <a:latin typeface="Roboto Mono"/>
                <a:ea typeface="Roboto Mono"/>
                <a:cs typeface="Roboto Mono"/>
                <a:sym typeface="Roboto Mono"/>
              </a:rPr>
              <a:t>s3.persistence.enabled=true</a:t>
            </a:r>
            <a:r>
              <a:rPr b="0" i="0" lang="fr-FR" sz="1600" u="none" cap="none" strike="noStrike">
                <a:solidFill>
                  <a:srgbClr val="0F1115"/>
                </a:solidFill>
                <a:highlight>
                  <a:srgbClr val="FFFFFF"/>
                </a:highlight>
                <a:latin typeface="Roboto"/>
                <a:ea typeface="Roboto"/>
                <a:cs typeface="Roboto"/>
                <a:sym typeface="Roboto"/>
              </a:rPr>
              <a:t>, </a:t>
            </a:r>
            <a:r>
              <a:rPr b="0" i="0" lang="fr-FR" sz="1450" u="none" cap="none" strike="noStrike">
                <a:solidFill>
                  <a:srgbClr val="0F1115"/>
                </a:solidFill>
                <a:highlight>
                  <a:srgbClr val="EBEEF2"/>
                </a:highlight>
                <a:latin typeface="Roboto Mono"/>
                <a:ea typeface="Roboto Mono"/>
                <a:cs typeface="Roboto Mono"/>
                <a:sym typeface="Roboto Mono"/>
              </a:rPr>
              <a:t>s3.persistence.bucket=p8-data</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F1115"/>
              </a:buClr>
              <a:buSzPts val="1600"/>
              <a:buFont typeface="Roboto"/>
              <a:buChar char="●"/>
            </a:pPr>
            <a:r>
              <a:rPr b="1" i="0" lang="fr-FR" sz="1600" u="none" cap="none" strike="noStrike">
                <a:solidFill>
                  <a:srgbClr val="0F1115"/>
                </a:solidFill>
                <a:highlight>
                  <a:srgbClr val="FFFFFF"/>
                </a:highlight>
                <a:latin typeface="Roboto"/>
                <a:ea typeface="Roboto"/>
                <a:cs typeface="Roboto"/>
                <a:sym typeface="Roboto"/>
              </a:rPr>
              <a:t>Accès et exécution :</a:t>
            </a:r>
            <a:endParaRPr b="1"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Connexion SSH à l'instance master en utilisant la clé EC2 préalablement créée (ex: </a:t>
            </a:r>
            <a:r>
              <a:rPr b="0" i="0" lang="fr-FR" sz="1450" u="none" cap="none" strike="noStrike">
                <a:solidFill>
                  <a:srgbClr val="0F1115"/>
                </a:solidFill>
                <a:highlight>
                  <a:srgbClr val="EBEEF2"/>
                </a:highlight>
                <a:latin typeface="Roboto Mono"/>
                <a:ea typeface="Roboto Mono"/>
                <a:cs typeface="Roboto Mono"/>
                <a:sym typeface="Roboto Mono"/>
              </a:rPr>
              <a:t>ssh -i ~/.ssh/p8-ec2.pem hadoop@...</a:t>
            </a:r>
            <a:r>
              <a:rPr b="0" i="0" lang="fr-FR" sz="1600" u="none" cap="none" strike="noStrike">
                <a:solidFill>
                  <a:srgbClr val="0F1115"/>
                </a:solidFill>
                <a:highlight>
                  <a:srgbClr val="FFFFFF"/>
                </a:highlight>
                <a:latin typeface="Roboto"/>
                <a:ea typeface="Roboto"/>
                <a:cs typeface="Roboto"/>
                <a:sym typeface="Roboto"/>
              </a:rPr>
              <a:t>).</a:t>
            </a:r>
            <a:endParaRPr b="0" i="0" sz="16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0" lang="fr-FR" sz="1600" u="none" cap="none" strike="noStrike">
                <a:solidFill>
                  <a:srgbClr val="0F1115"/>
                </a:solidFill>
                <a:highlight>
                  <a:srgbClr val="FFFFFF"/>
                </a:highlight>
                <a:latin typeface="Roboto"/>
                <a:ea typeface="Roboto"/>
                <a:cs typeface="Roboto"/>
                <a:sym typeface="Roboto"/>
              </a:rPr>
              <a:t>Mise en place d'un tunnel SSH (ex: sur le port </a:t>
            </a:r>
            <a:r>
              <a:rPr b="0" i="0" lang="fr-FR" sz="1450" u="none" cap="none" strike="noStrike">
                <a:solidFill>
                  <a:srgbClr val="0F1115"/>
                </a:solidFill>
                <a:highlight>
                  <a:srgbClr val="EBEEF2"/>
                </a:highlight>
                <a:latin typeface="Roboto Mono"/>
                <a:ea typeface="Roboto Mono"/>
                <a:cs typeface="Roboto Mono"/>
                <a:sym typeface="Roboto Mono"/>
              </a:rPr>
              <a:t>5555</a:t>
            </a:r>
            <a:r>
              <a:rPr b="0" i="0" lang="fr-FR" sz="1600" u="none" cap="none" strike="noStrike">
                <a:solidFill>
                  <a:srgbClr val="0F1115"/>
                </a:solidFill>
                <a:highlight>
                  <a:srgbClr val="FFFFFF"/>
                </a:highlight>
                <a:latin typeface="Roboto"/>
                <a:ea typeface="Roboto"/>
                <a:cs typeface="Roboto"/>
                <a:sym typeface="Roboto"/>
              </a:rPr>
              <a:t>) et configuration de FoxyProxy dans le navigateur pour accéder à l'interface Web de JupyterHub et au serveur d'historique Spark.</a:t>
            </a:r>
            <a:endParaRPr b="0" i="0" sz="1600" u="none" cap="none" strike="noStrike">
              <a:solidFill>
                <a:srgbClr val="0F1115"/>
              </a:solidFill>
              <a:highlight>
                <a:srgbClr val="FFFFFF"/>
              </a:highlight>
              <a:latin typeface="Roboto"/>
              <a:ea typeface="Roboto"/>
              <a:cs typeface="Roboto"/>
              <a:sym typeface="Roboto"/>
            </a:endParaRPr>
          </a:p>
          <a:p>
            <a:pPr indent="-330200" lvl="1" marL="914400" marR="0" rtl="0" algn="l">
              <a:lnSpc>
                <a:spcPct val="115000"/>
              </a:lnSpc>
              <a:spcBef>
                <a:spcPts val="0"/>
              </a:spcBef>
              <a:spcAft>
                <a:spcPts val="0"/>
              </a:spcAft>
              <a:buClr>
                <a:srgbClr val="0F1115"/>
              </a:buClr>
              <a:buSzPts val="1600"/>
              <a:buFont typeface="Roboto"/>
              <a:buChar char="○"/>
            </a:pPr>
            <a:r>
              <a:rPr b="0" i="0" lang="fr-FR" sz="1600" u="none" cap="none" strike="noStrike">
                <a:solidFill>
                  <a:srgbClr val="0F1115"/>
                </a:solidFill>
                <a:highlight>
                  <a:srgbClr val="FFFFFF"/>
                </a:highlight>
                <a:latin typeface="Roboto"/>
                <a:ea typeface="Roboto"/>
                <a:cs typeface="Roboto"/>
                <a:sym typeface="Roboto"/>
              </a:rPr>
              <a:t>Le notebook de traitement est exécuté directement sur le cluster depuis JupyterHub.</a:t>
            </a:r>
            <a:endParaRPr b="0" i="0" sz="1600" u="none" cap="none" strike="noStrike">
              <a:solidFill>
                <a:srgbClr val="0F1115"/>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4294967295" type="body"/>
          </p:nvPr>
        </p:nvSpPr>
        <p:spPr>
          <a:xfrm>
            <a:off x="456480" y="529200"/>
            <a:ext cx="11128680" cy="5806800"/>
          </a:xfrm>
          <a:prstGeom prst="rect">
            <a:avLst/>
          </a:prstGeom>
          <a:noFill/>
          <a:ln>
            <a:noFill/>
          </a:ln>
        </p:spPr>
        <p:txBody>
          <a:bodyPr anchorCtr="0" anchor="t" bIns="45000" lIns="90000" spcFirstLastPara="1" rIns="90000" wrap="square" tIns="45000">
            <a:normAutofit/>
          </a:bodyPr>
          <a:lstStyle/>
          <a:p>
            <a:pPr indent="-228600" lvl="0" marL="228600" marR="0" rtl="0" algn="l">
              <a:lnSpc>
                <a:spcPct val="90000"/>
              </a:lnSpc>
              <a:spcBef>
                <a:spcPts val="0"/>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Stockage : système de fichiers distribué (ex : HDFS)</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Tolérance aux pannes</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Utilisation d'ensembles de données distribués résilients (RDD)</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Duplication des données (c’est mon architecture (3 machines par défaut))</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Division des données en partitions </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Répartition : régénération à partir des nœuds parents</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Nœuds (RDD ou Résultats) : liés par des actions et des transformations</a:t>
            </a:r>
            <a:endParaRPr b="0" i="0" sz="2800" u="none" cap="none" strike="noStrike">
              <a:latin typeface="Arial"/>
              <a:ea typeface="Arial"/>
              <a:cs typeface="Arial"/>
              <a:sym typeface="Arial"/>
            </a:endParaRPr>
          </a:p>
        </p:txBody>
      </p:sp>
      <p:pic>
        <p:nvPicPr>
          <p:cNvPr id="139" name="Google Shape;139;p17"/>
          <p:cNvPicPr preferRelativeResize="0"/>
          <p:nvPr/>
        </p:nvPicPr>
        <p:blipFill rotWithShape="1">
          <a:blip r:embed="rId3">
            <a:alphaModFix/>
          </a:blip>
          <a:srcRect b="0" l="0" r="0" t="0"/>
          <a:stretch/>
        </p:blipFill>
        <p:spPr>
          <a:xfrm>
            <a:off x="281880" y="4416480"/>
            <a:ext cx="8770680" cy="1940760"/>
          </a:xfrm>
          <a:prstGeom prst="rect">
            <a:avLst/>
          </a:prstGeom>
          <a:noFill/>
          <a:ln>
            <a:noFill/>
          </a:ln>
        </p:spPr>
      </p:pic>
    </p:spTree>
  </p:cSld>
  <p:clrMapOvr>
    <a:masterClrMapping/>
  </p:clrMapOvr>
  <p:transition spd="slow" p14:dur="1500">
    <p:random/>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19"/>
          <p:cNvPicPr preferRelativeResize="0"/>
          <p:nvPr/>
        </p:nvPicPr>
        <p:blipFill rotWithShape="1">
          <a:blip r:embed="rId3">
            <a:alphaModFix/>
          </a:blip>
          <a:srcRect b="0" l="0" r="0" t="0"/>
          <a:stretch/>
        </p:blipFill>
        <p:spPr>
          <a:xfrm>
            <a:off x="9093960" y="2356920"/>
            <a:ext cx="2428200" cy="1199160"/>
          </a:xfrm>
          <a:prstGeom prst="rect">
            <a:avLst/>
          </a:prstGeom>
          <a:noFill/>
          <a:ln>
            <a:noFill/>
          </a:ln>
        </p:spPr>
      </p:pic>
      <p:pic>
        <p:nvPicPr>
          <p:cNvPr id="146" name="Google Shape;146;p19"/>
          <p:cNvPicPr preferRelativeResize="0"/>
          <p:nvPr/>
        </p:nvPicPr>
        <p:blipFill rotWithShape="1">
          <a:blip r:embed="rId4">
            <a:alphaModFix/>
          </a:blip>
          <a:srcRect b="0" l="0" r="0" t="0"/>
          <a:stretch/>
        </p:blipFill>
        <p:spPr>
          <a:xfrm>
            <a:off x="3461040" y="2356920"/>
            <a:ext cx="4398480" cy="1097280"/>
          </a:xfrm>
          <a:prstGeom prst="rect">
            <a:avLst/>
          </a:prstGeom>
          <a:noFill/>
          <a:ln>
            <a:noFill/>
          </a:ln>
        </p:spPr>
      </p:pic>
      <p:pic>
        <p:nvPicPr>
          <p:cNvPr id="147" name="Google Shape;147;p19"/>
          <p:cNvPicPr preferRelativeResize="0"/>
          <p:nvPr/>
        </p:nvPicPr>
        <p:blipFill rotWithShape="1">
          <a:blip r:embed="rId5">
            <a:alphaModFix/>
          </a:blip>
          <a:srcRect b="0" l="0" r="0" t="0"/>
          <a:stretch/>
        </p:blipFill>
        <p:spPr>
          <a:xfrm>
            <a:off x="426240" y="2795040"/>
            <a:ext cx="1380600" cy="811440"/>
          </a:xfrm>
          <a:prstGeom prst="rect">
            <a:avLst/>
          </a:prstGeom>
          <a:noFill/>
          <a:ln>
            <a:noFill/>
          </a:ln>
        </p:spPr>
      </p:pic>
      <p:sp>
        <p:nvSpPr>
          <p:cNvPr id="148" name="Google Shape;148;p19"/>
          <p:cNvSpPr/>
          <p:nvPr/>
        </p:nvSpPr>
        <p:spPr>
          <a:xfrm>
            <a:off x="2748600" y="3205800"/>
            <a:ext cx="5347440" cy="2625840"/>
          </a:xfrm>
          <a:prstGeom prst="rect">
            <a:avLst/>
          </a:prstGeom>
          <a:solidFill>
            <a:schemeClr val="accent3"/>
          </a:solidFill>
          <a:ln cap="flat" cmpd="sng" w="12700">
            <a:solidFill>
              <a:srgbClr val="787878"/>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9"/>
          <p:cNvSpPr/>
          <p:nvPr/>
        </p:nvSpPr>
        <p:spPr>
          <a:xfrm>
            <a:off x="118440" y="3566160"/>
            <a:ext cx="1948320" cy="18568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Stockage des données sur un système pouvant être mis à l’échelle </a:t>
            </a:r>
            <a:endParaRPr b="0" i="0" sz="1800" u="none" cap="none" strike="noStrike">
              <a:solidFill>
                <a:srgbClr val="000000"/>
              </a:solidFill>
              <a:latin typeface="Arial"/>
              <a:ea typeface="Arial"/>
              <a:cs typeface="Arial"/>
              <a:sym typeface="Arial"/>
            </a:endParaRPr>
          </a:p>
        </p:txBody>
      </p:sp>
      <p:sp>
        <p:nvSpPr>
          <p:cNvPr id="150" name="Google Shape;150;p19"/>
          <p:cNvSpPr/>
          <p:nvPr/>
        </p:nvSpPr>
        <p:spPr>
          <a:xfrm>
            <a:off x="2861640" y="3539160"/>
            <a:ext cx="2249280" cy="190512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Chargement des données dans un format structuré</a:t>
            </a:r>
            <a:endParaRPr b="0" i="0" sz="1800" u="none" cap="none" strike="noStrike">
              <a:solidFill>
                <a:srgbClr val="000000"/>
              </a:solidFill>
              <a:latin typeface="Arial"/>
              <a:ea typeface="Arial"/>
              <a:cs typeface="Arial"/>
              <a:sym typeface="Arial"/>
            </a:endParaRPr>
          </a:p>
        </p:txBody>
      </p:sp>
      <p:sp>
        <p:nvSpPr>
          <p:cNvPr id="151" name="Google Shape;151;p19"/>
          <p:cNvSpPr/>
          <p:nvPr/>
        </p:nvSpPr>
        <p:spPr>
          <a:xfrm>
            <a:off x="5470200" y="3539160"/>
            <a:ext cx="2469960" cy="190512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Prétraitement des données par calcul distribué</a:t>
            </a:r>
            <a:endParaRPr b="0" i="0" sz="1800" u="none" cap="none" strike="noStrike">
              <a:solidFill>
                <a:srgbClr val="000000"/>
              </a:solidFill>
              <a:latin typeface="Arial"/>
              <a:ea typeface="Arial"/>
              <a:cs typeface="Arial"/>
              <a:sym typeface="Arial"/>
            </a:endParaRPr>
          </a:p>
        </p:txBody>
      </p:sp>
      <p:sp>
        <p:nvSpPr>
          <p:cNvPr id="152" name="Google Shape;152;p19"/>
          <p:cNvSpPr/>
          <p:nvPr/>
        </p:nvSpPr>
        <p:spPr>
          <a:xfrm>
            <a:off x="9063360" y="3463920"/>
            <a:ext cx="2459160" cy="2319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Stockage des résultats du prétraitement</a:t>
            </a:r>
            <a:endParaRPr b="0" i="0" sz="1800" u="none" cap="none" strike="noStrike">
              <a:solidFill>
                <a:srgbClr val="000000"/>
              </a:solidFill>
              <a:latin typeface="Arial"/>
              <a:ea typeface="Arial"/>
              <a:cs typeface="Arial"/>
              <a:sym typeface="Arial"/>
            </a:endParaRPr>
          </a:p>
        </p:txBody>
      </p:sp>
      <p:sp>
        <p:nvSpPr>
          <p:cNvPr id="153" name="Google Shape;153;p19"/>
          <p:cNvSpPr/>
          <p:nvPr/>
        </p:nvSpPr>
        <p:spPr>
          <a:xfrm>
            <a:off x="2100600" y="4472640"/>
            <a:ext cx="360" cy="360"/>
          </a:xfrm>
          <a:custGeom>
            <a:rect b="b" l="l" r="r" t="t"/>
            <a:pathLst>
              <a:path extrusionOk="0" h="21600" w="21600">
                <a:moveTo>
                  <a:pt x="0" y="0"/>
                </a:moveTo>
                <a:lnTo>
                  <a:pt x="21600" y="21600"/>
                </a:lnTo>
              </a:path>
            </a:pathLst>
          </a:custGeom>
          <a:noFill/>
          <a:ln cap="flat" cmpd="sng" w="9525">
            <a:solidFill>
              <a:srgbClr val="538135"/>
            </a:solidFill>
            <a:prstDash val="solid"/>
            <a:miter lim="8000"/>
            <a:headEnd len="sm" w="sm" type="none"/>
            <a:tailEnd len="med" w="med" type="triangle"/>
          </a:ln>
        </p:spPr>
      </p:sp>
      <p:sp>
        <p:nvSpPr>
          <p:cNvPr id="154" name="Google Shape;154;p19"/>
          <p:cNvSpPr/>
          <p:nvPr/>
        </p:nvSpPr>
        <p:spPr>
          <a:xfrm>
            <a:off x="2146320" y="4496760"/>
            <a:ext cx="560520" cy="360"/>
          </a:xfrm>
          <a:custGeom>
            <a:rect b="b" l="l" r="r" t="t"/>
            <a:pathLst>
              <a:path extrusionOk="0" h="21600" w="21600">
                <a:moveTo>
                  <a:pt x="0" y="0"/>
                </a:moveTo>
                <a:lnTo>
                  <a:pt x="21600" y="21600"/>
                </a:lnTo>
              </a:path>
            </a:pathLst>
          </a:custGeom>
          <a:noFill/>
          <a:ln cap="flat" cmpd="sng" w="57150">
            <a:solidFill>
              <a:srgbClr val="538135"/>
            </a:solidFill>
            <a:prstDash val="solid"/>
            <a:miter lim="8000"/>
            <a:headEnd len="sm" w="sm" type="none"/>
            <a:tailEnd len="med" w="med" type="triangle"/>
          </a:ln>
        </p:spPr>
      </p:sp>
      <p:sp>
        <p:nvSpPr>
          <p:cNvPr id="155" name="Google Shape;155;p19"/>
          <p:cNvSpPr/>
          <p:nvPr/>
        </p:nvSpPr>
        <p:spPr>
          <a:xfrm>
            <a:off x="8156160" y="4496760"/>
            <a:ext cx="560520" cy="360"/>
          </a:xfrm>
          <a:custGeom>
            <a:rect b="b" l="l" r="r" t="t"/>
            <a:pathLst>
              <a:path extrusionOk="0" h="21600" w="21600">
                <a:moveTo>
                  <a:pt x="0" y="0"/>
                </a:moveTo>
                <a:lnTo>
                  <a:pt x="21600" y="21600"/>
                </a:lnTo>
              </a:path>
            </a:pathLst>
          </a:custGeom>
          <a:noFill/>
          <a:ln cap="flat" cmpd="sng" w="57150">
            <a:solidFill>
              <a:srgbClr val="538135"/>
            </a:solidFill>
            <a:prstDash val="solid"/>
            <a:miter lim="8000"/>
            <a:headEnd len="sm" w="sm" type="none"/>
            <a:tailEnd len="med" w="med" type="triangle"/>
          </a:ln>
        </p:spPr>
      </p:sp>
      <p:sp>
        <p:nvSpPr>
          <p:cNvPr id="156" name="Google Shape;156;p19"/>
          <p:cNvSpPr/>
          <p:nvPr/>
        </p:nvSpPr>
        <p:spPr>
          <a:xfrm>
            <a:off x="4375080" y="748080"/>
            <a:ext cx="3675960" cy="51624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rgbClr val="0F47A6"/>
                </a:solidFill>
                <a:latin typeface="Yeseva One"/>
                <a:ea typeface="Yeseva One"/>
                <a:cs typeface="Yeseva One"/>
                <a:sym typeface="Yeseva One"/>
              </a:rPr>
              <a:t>Méthodologie</a:t>
            </a:r>
            <a:endParaRPr b="0" i="0" sz="28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p:nvPr/>
        </p:nvSpPr>
        <p:spPr>
          <a:xfrm>
            <a:off x="589680" y="1387800"/>
            <a:ext cx="160560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Création d’un SparkContext </a:t>
            </a:r>
            <a:endParaRPr b="0" i="0" sz="1800" u="none" cap="none" strike="noStrike">
              <a:solidFill>
                <a:srgbClr val="000000"/>
              </a:solidFill>
              <a:latin typeface="Arial"/>
              <a:ea typeface="Arial"/>
              <a:cs typeface="Arial"/>
              <a:sym typeface="Arial"/>
            </a:endParaRPr>
          </a:p>
        </p:txBody>
      </p:sp>
      <p:sp>
        <p:nvSpPr>
          <p:cNvPr id="162" name="Google Shape;162;p20"/>
          <p:cNvSpPr/>
          <p:nvPr/>
        </p:nvSpPr>
        <p:spPr>
          <a:xfrm>
            <a:off x="2527920" y="1387800"/>
            <a:ext cx="156636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Chargement des images dans l’arborescence: stockage dans un spark DataFrame</a:t>
            </a:r>
            <a:endParaRPr b="0" i="0" sz="1800" u="none" cap="none" strike="noStrike">
              <a:solidFill>
                <a:srgbClr val="000000"/>
              </a:solidFill>
              <a:latin typeface="Arial"/>
              <a:ea typeface="Arial"/>
              <a:cs typeface="Arial"/>
              <a:sym typeface="Arial"/>
            </a:endParaRPr>
          </a:p>
        </p:txBody>
      </p:sp>
      <p:sp>
        <p:nvSpPr>
          <p:cNvPr id="163" name="Google Shape;163;p20"/>
          <p:cNvSpPr/>
          <p:nvPr/>
        </p:nvSpPr>
        <p:spPr>
          <a:xfrm>
            <a:off x="4466160" y="1330200"/>
            <a:ext cx="156636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Extraction du chemin vers chaque fichier</a:t>
            </a:r>
            <a:endParaRPr b="0" i="0" sz="1800" u="none" cap="none" strike="noStrike">
              <a:solidFill>
                <a:srgbClr val="000000"/>
              </a:solidFill>
              <a:latin typeface="Arial"/>
              <a:ea typeface="Arial"/>
              <a:cs typeface="Arial"/>
              <a:sym typeface="Arial"/>
            </a:endParaRPr>
          </a:p>
        </p:txBody>
      </p:sp>
      <p:sp>
        <p:nvSpPr>
          <p:cNvPr id="164" name="Google Shape;164;p20"/>
          <p:cNvSpPr/>
          <p:nvPr/>
        </p:nvSpPr>
        <p:spPr>
          <a:xfrm>
            <a:off x="6404400" y="1387800"/>
            <a:ext cx="156636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Obtention de la catégorie du fruit (split String du nom de dossier)</a:t>
            </a:r>
            <a:endParaRPr b="0" i="0" sz="1800" u="none" cap="none" strike="noStrike">
              <a:solidFill>
                <a:srgbClr val="000000"/>
              </a:solidFill>
              <a:latin typeface="Arial"/>
              <a:ea typeface="Arial"/>
              <a:cs typeface="Arial"/>
              <a:sym typeface="Arial"/>
            </a:endParaRPr>
          </a:p>
        </p:txBody>
      </p:sp>
      <p:sp>
        <p:nvSpPr>
          <p:cNvPr id="165" name="Google Shape;165;p20"/>
          <p:cNvSpPr/>
          <p:nvPr/>
        </p:nvSpPr>
        <p:spPr>
          <a:xfrm>
            <a:off x="8342640" y="1387800"/>
            <a:ext cx="156636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Prétraitement et Réduction Dimensionnelle</a:t>
            </a:r>
            <a:endParaRPr b="0" i="0" sz="1800" u="none" cap="none" strike="noStrike">
              <a:solidFill>
                <a:srgbClr val="000000"/>
              </a:solidFill>
              <a:latin typeface="Arial"/>
              <a:ea typeface="Arial"/>
              <a:cs typeface="Arial"/>
              <a:sym typeface="Arial"/>
            </a:endParaRPr>
          </a:p>
        </p:txBody>
      </p:sp>
      <p:sp>
        <p:nvSpPr>
          <p:cNvPr id="166" name="Google Shape;166;p20"/>
          <p:cNvSpPr/>
          <p:nvPr/>
        </p:nvSpPr>
        <p:spPr>
          <a:xfrm>
            <a:off x="10280880" y="1359000"/>
            <a:ext cx="1566360" cy="2238480"/>
          </a:xfrm>
          <a:prstGeom prst="roundRect">
            <a:avLst>
              <a:gd fmla="val 16667" name="adj"/>
            </a:avLst>
          </a:prstGeom>
          <a:solidFill>
            <a:schemeClr val="accent1"/>
          </a:solidFill>
          <a:ln cap="flat" cmpd="sng" w="12700">
            <a:solidFill>
              <a:srgbClr val="3C5E26"/>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rgbClr val="FFFFFF"/>
                </a:solidFill>
                <a:latin typeface="Calibri"/>
                <a:ea typeface="Calibri"/>
                <a:cs typeface="Calibri"/>
                <a:sym typeface="Calibri"/>
              </a:rPr>
              <a:t>Enregistrement au format « Parquet »</a:t>
            </a:r>
            <a:endParaRPr b="0" i="0" sz="1800" u="none" cap="none" strike="noStrike">
              <a:solidFill>
                <a:srgbClr val="000000"/>
              </a:solidFill>
              <a:latin typeface="Arial"/>
              <a:ea typeface="Arial"/>
              <a:cs typeface="Arial"/>
              <a:sym typeface="Arial"/>
            </a:endParaRPr>
          </a:p>
        </p:txBody>
      </p:sp>
      <p:sp>
        <p:nvSpPr>
          <p:cNvPr id="167" name="Google Shape;167;p20"/>
          <p:cNvSpPr/>
          <p:nvPr/>
        </p:nvSpPr>
        <p:spPr>
          <a:xfrm>
            <a:off x="702720" y="4295160"/>
            <a:ext cx="6086160" cy="9126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1" i="1" lang="fr-FR" sz="1800" u="none" cap="none" strike="noStrike">
                <a:solidFill>
                  <a:srgbClr val="C00000"/>
                </a:solidFill>
                <a:latin typeface="Calibri"/>
                <a:ea typeface="Calibri"/>
                <a:cs typeface="Calibri"/>
                <a:sym typeface="Calibri"/>
              </a:rPr>
              <a:t>Les calculs ne sont réellement exécutés que lorsqu’une action est réalisée : affichage des données, enregistrement, requête, etc…</a:t>
            </a:r>
            <a:endParaRPr b="0" i="0" sz="1800" u="none" cap="none" strike="noStrike">
              <a:solidFill>
                <a:srgbClr val="000000"/>
              </a:solidFill>
              <a:latin typeface="Arial"/>
              <a:ea typeface="Arial"/>
              <a:cs typeface="Arial"/>
              <a:sym typeface="Arial"/>
            </a:endParaRPr>
          </a:p>
        </p:txBody>
      </p:sp>
      <p:pic>
        <p:nvPicPr>
          <p:cNvPr id="168" name="Google Shape;168;p20"/>
          <p:cNvPicPr preferRelativeResize="0"/>
          <p:nvPr/>
        </p:nvPicPr>
        <p:blipFill rotWithShape="1">
          <a:blip r:embed="rId3">
            <a:alphaModFix/>
          </a:blip>
          <a:srcRect b="0" l="0" r="0" t="0"/>
          <a:stretch/>
        </p:blipFill>
        <p:spPr>
          <a:xfrm>
            <a:off x="2527920" y="5059800"/>
            <a:ext cx="1765800" cy="1609560"/>
          </a:xfrm>
          <a:prstGeom prst="rect">
            <a:avLst/>
          </a:prstGeom>
          <a:noFill/>
          <a:ln>
            <a:noFill/>
          </a:ln>
        </p:spPr>
      </p:pic>
      <p:pic>
        <p:nvPicPr>
          <p:cNvPr id="169" name="Google Shape;169;p20"/>
          <p:cNvPicPr preferRelativeResize="0"/>
          <p:nvPr/>
        </p:nvPicPr>
        <p:blipFill rotWithShape="1">
          <a:blip r:embed="rId4">
            <a:alphaModFix/>
          </a:blip>
          <a:srcRect b="0" l="0" r="0" t="0"/>
          <a:stretch/>
        </p:blipFill>
        <p:spPr>
          <a:xfrm>
            <a:off x="6790320" y="4813920"/>
            <a:ext cx="4952520" cy="1724760"/>
          </a:xfrm>
          <a:prstGeom prst="rect">
            <a:avLst/>
          </a:prstGeom>
          <a:noFill/>
          <a:ln>
            <a:noFill/>
          </a:ln>
        </p:spPr>
      </p:pic>
      <p:sp>
        <p:nvSpPr>
          <p:cNvPr id="170" name="Google Shape;170;p20"/>
          <p:cNvSpPr/>
          <p:nvPr/>
        </p:nvSpPr>
        <p:spPr>
          <a:xfrm>
            <a:off x="702720" y="3551400"/>
            <a:ext cx="1566360" cy="638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SparkContext. getOrCreate()</a:t>
            </a:r>
            <a:endParaRPr b="0" i="0" sz="1800" u="none" cap="none" strike="noStrike">
              <a:solidFill>
                <a:srgbClr val="000000"/>
              </a:solidFill>
              <a:latin typeface="Arial"/>
              <a:ea typeface="Arial"/>
              <a:cs typeface="Arial"/>
              <a:sym typeface="Arial"/>
            </a:endParaRPr>
          </a:p>
        </p:txBody>
      </p:sp>
      <p:sp>
        <p:nvSpPr>
          <p:cNvPr id="171" name="Google Shape;171;p20"/>
          <p:cNvSpPr/>
          <p:nvPr/>
        </p:nvSpPr>
        <p:spPr>
          <a:xfrm>
            <a:off x="4948560" y="5681520"/>
            <a:ext cx="1571760" cy="360"/>
          </a:xfrm>
          <a:custGeom>
            <a:rect b="b" l="l" r="r" t="t"/>
            <a:pathLst>
              <a:path extrusionOk="0" h="21600" w="21600">
                <a:moveTo>
                  <a:pt x="0" y="0"/>
                </a:moveTo>
                <a:lnTo>
                  <a:pt x="21600" y="21600"/>
                </a:lnTo>
              </a:path>
            </a:pathLst>
          </a:custGeom>
          <a:noFill/>
          <a:ln cap="flat" cmpd="sng" w="76200">
            <a:solidFill>
              <a:srgbClr val="538135"/>
            </a:solidFill>
            <a:prstDash val="solid"/>
            <a:miter lim="8000"/>
            <a:headEnd len="sm" w="sm" type="none"/>
            <a:tailEnd len="med" w="med" type="triangle"/>
          </a:ln>
        </p:spPr>
      </p:sp>
      <p:sp>
        <p:nvSpPr>
          <p:cNvPr id="172" name="Google Shape;172;p20"/>
          <p:cNvSpPr/>
          <p:nvPr/>
        </p:nvSpPr>
        <p:spPr>
          <a:xfrm>
            <a:off x="2731680" y="3692520"/>
            <a:ext cx="135828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spark.read() </a:t>
            </a:r>
            <a:endParaRPr b="0" i="0" sz="1800" u="none" cap="none" strike="noStrike">
              <a:solidFill>
                <a:srgbClr val="000000"/>
              </a:solidFill>
              <a:latin typeface="Arial"/>
              <a:ea typeface="Arial"/>
              <a:cs typeface="Arial"/>
              <a:sym typeface="Arial"/>
            </a:endParaRPr>
          </a:p>
        </p:txBody>
      </p:sp>
      <p:sp>
        <p:nvSpPr>
          <p:cNvPr id="173" name="Google Shape;173;p20"/>
          <p:cNvSpPr/>
          <p:nvPr/>
        </p:nvSpPr>
        <p:spPr>
          <a:xfrm>
            <a:off x="4370400" y="3690000"/>
            <a:ext cx="187092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Input_file_name()</a:t>
            </a:r>
            <a:endParaRPr b="0" i="0" sz="1800" u="none" cap="none" strike="noStrike">
              <a:solidFill>
                <a:srgbClr val="000000"/>
              </a:solidFill>
              <a:latin typeface="Arial"/>
              <a:ea typeface="Arial"/>
              <a:cs typeface="Arial"/>
              <a:sym typeface="Arial"/>
            </a:endParaRPr>
          </a:p>
        </p:txBody>
      </p:sp>
      <p:sp>
        <p:nvSpPr>
          <p:cNvPr id="174" name="Google Shape;174;p20"/>
          <p:cNvSpPr/>
          <p:nvPr/>
        </p:nvSpPr>
        <p:spPr>
          <a:xfrm>
            <a:off x="6956640" y="3694680"/>
            <a:ext cx="570960" cy="638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UDF</a:t>
            </a:r>
            <a:endParaRPr b="0" i="0" sz="1800" u="none" cap="none" strike="noStrike">
              <a:solidFill>
                <a:srgbClr val="000000"/>
              </a:solidFill>
              <a:latin typeface="Arial"/>
              <a:ea typeface="Arial"/>
              <a:cs typeface="Arial"/>
              <a:sym typeface="Arial"/>
            </a:endParaRPr>
          </a:p>
        </p:txBody>
      </p:sp>
      <p:sp>
        <p:nvSpPr>
          <p:cNvPr id="175" name="Google Shape;175;p20"/>
          <p:cNvSpPr/>
          <p:nvPr/>
        </p:nvSpPr>
        <p:spPr>
          <a:xfrm>
            <a:off x="8588160" y="3690000"/>
            <a:ext cx="107532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ResNet50</a:t>
            </a:r>
            <a:endParaRPr b="0" i="0" sz="1800" u="none" cap="none" strike="noStrike">
              <a:solidFill>
                <a:srgbClr val="000000"/>
              </a:solidFill>
              <a:latin typeface="Arial"/>
              <a:ea typeface="Arial"/>
              <a:cs typeface="Arial"/>
              <a:sym typeface="Arial"/>
            </a:endParaRPr>
          </a:p>
        </p:txBody>
      </p:sp>
      <p:sp>
        <p:nvSpPr>
          <p:cNvPr id="176" name="Google Shape;176;p20"/>
          <p:cNvSpPr/>
          <p:nvPr/>
        </p:nvSpPr>
        <p:spPr>
          <a:xfrm>
            <a:off x="10573920" y="3690000"/>
            <a:ext cx="116928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Spark.save</a:t>
            </a:r>
            <a:endParaRPr b="0" i="0" sz="1800" u="none" cap="none" strike="noStrike">
              <a:solidFill>
                <a:srgbClr val="000000"/>
              </a:solidFill>
              <a:latin typeface="Arial"/>
              <a:ea typeface="Arial"/>
              <a:cs typeface="Arial"/>
              <a:sym typeface="Arial"/>
            </a:endParaRPr>
          </a:p>
        </p:txBody>
      </p:sp>
      <p:sp>
        <p:nvSpPr>
          <p:cNvPr id="177" name="Google Shape;177;p20"/>
          <p:cNvSpPr/>
          <p:nvPr/>
        </p:nvSpPr>
        <p:spPr>
          <a:xfrm>
            <a:off x="2442345" y="692580"/>
            <a:ext cx="6009900" cy="51630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rgbClr val="0F47A6"/>
                </a:solidFill>
                <a:latin typeface="Yeseva One"/>
                <a:ea typeface="Yeseva One"/>
                <a:cs typeface="Yeseva One"/>
                <a:sym typeface="Yeseva One"/>
              </a:rPr>
              <a:t> instance Spark </a:t>
            </a:r>
            <a:endParaRPr b="0" i="0" sz="28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idx="4294967295" type="body"/>
          </p:nvPr>
        </p:nvSpPr>
        <p:spPr>
          <a:xfrm>
            <a:off x="838080" y="1825560"/>
            <a:ext cx="10505880" cy="4341600"/>
          </a:xfrm>
          <a:prstGeom prst="rect">
            <a:avLst/>
          </a:prstGeom>
          <a:noFill/>
          <a:ln>
            <a:noFill/>
          </a:ln>
        </p:spPr>
        <p:txBody>
          <a:bodyPr anchorCtr="0" anchor="t" bIns="45000" lIns="90000" spcFirstLastPara="1" rIns="90000" wrap="square" tIns="45000">
            <a:normAutofit/>
          </a:bodyPr>
          <a:lstStyle/>
          <a:p>
            <a:pPr indent="0" lvl="0" marL="0" marR="0" rtl="0" algn="l">
              <a:lnSpc>
                <a:spcPct val="90000"/>
              </a:lnSpc>
              <a:spcBef>
                <a:spcPts val="0"/>
              </a:spcBef>
              <a:spcAft>
                <a:spcPts val="0"/>
              </a:spcAft>
              <a:buSzPts val="1400"/>
              <a:buNone/>
            </a:pPr>
            <a:r>
              <a:rPr b="1" i="1" lang="fr-FR" sz="2800" u="none" cap="none" strike="noStrike">
                <a:solidFill>
                  <a:srgbClr val="00B050"/>
                </a:solidFill>
                <a:latin typeface="Calibri"/>
                <a:ea typeface="Calibri"/>
                <a:cs typeface="Calibri"/>
                <a:sym typeface="Calibri"/>
              </a:rPr>
              <a:t>Réseau RESNET50 : </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Approche Transfer Learning </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23 Millions de paramètres pré entraînés </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50 couches de neurones</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Combine prétraitement et </a:t>
            </a:r>
            <a:endParaRPr b="0" i="0" sz="28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B050"/>
              </a:buClr>
              <a:buSzPts val="2800"/>
              <a:buFont typeface="Arial"/>
              <a:buChar char="•"/>
            </a:pPr>
            <a:r>
              <a:rPr b="1" i="1" lang="fr-FR" sz="2800" u="none" cap="none" strike="noStrike">
                <a:solidFill>
                  <a:srgbClr val="00B050"/>
                </a:solidFill>
                <a:latin typeface="Calibri"/>
                <a:ea typeface="Calibri"/>
                <a:cs typeface="Calibri"/>
                <a:sym typeface="Calibri"/>
              </a:rPr>
              <a:t>la réduction de dimension</a:t>
            </a:r>
            <a:endParaRPr b="0" i="0" sz="2800" u="none" cap="none" strike="noStrike">
              <a:latin typeface="Arial"/>
              <a:ea typeface="Arial"/>
              <a:cs typeface="Arial"/>
              <a:sym typeface="Arial"/>
            </a:endParaRPr>
          </a:p>
        </p:txBody>
      </p:sp>
      <p:pic>
        <p:nvPicPr>
          <p:cNvPr descr="File:ResNet50.png - Wikimedia Commons" id="183" name="Google Shape;183;p21"/>
          <p:cNvPicPr preferRelativeResize="0"/>
          <p:nvPr/>
        </p:nvPicPr>
        <p:blipFill rotWithShape="1">
          <a:blip r:embed="rId3">
            <a:alphaModFix/>
          </a:blip>
          <a:srcRect b="0" l="0" r="0" t="0"/>
          <a:stretch/>
        </p:blipFill>
        <p:spPr>
          <a:xfrm>
            <a:off x="4789800" y="4473720"/>
            <a:ext cx="7392600" cy="2374560"/>
          </a:xfrm>
          <a:prstGeom prst="rect">
            <a:avLst/>
          </a:prstGeom>
          <a:noFill/>
          <a:ln>
            <a:noFill/>
          </a:ln>
        </p:spPr>
      </p:pic>
      <p:sp>
        <p:nvSpPr>
          <p:cNvPr id="184" name="Google Shape;184;p21"/>
          <p:cNvSpPr/>
          <p:nvPr/>
        </p:nvSpPr>
        <p:spPr>
          <a:xfrm>
            <a:off x="2119680" y="795240"/>
            <a:ext cx="8052120" cy="51624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rgbClr val="0F47A6"/>
                </a:solidFill>
                <a:latin typeface="Yeseva One"/>
                <a:ea typeface="Yeseva One"/>
                <a:cs typeface="Yeseva One"/>
                <a:sym typeface="Yeseva One"/>
              </a:rPr>
              <a:t>Le prétraitement en détail </a:t>
            </a:r>
            <a:endParaRPr b="0" i="0" sz="2800" u="none" cap="none" strike="noStrike">
              <a:solidFill>
                <a:srgbClr val="000000"/>
              </a:solidFill>
              <a:latin typeface="Arial"/>
              <a:ea typeface="Arial"/>
              <a:cs typeface="Arial"/>
              <a:sym typeface="Arial"/>
            </a:endParaRPr>
          </a:p>
        </p:txBody>
      </p:sp>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idx="1" type="body"/>
          </p:nvPr>
        </p:nvSpPr>
        <p:spPr>
          <a:xfrm>
            <a:off x="609475" y="644050"/>
            <a:ext cx="11582400" cy="6213900"/>
          </a:xfrm>
          <a:prstGeom prst="rect">
            <a:avLst/>
          </a:prstGeom>
          <a:noFill/>
          <a:ln>
            <a:noFill/>
          </a:ln>
        </p:spPr>
        <p:txBody>
          <a:bodyPr anchorCtr="0" anchor="t" bIns="45000" lIns="90000" spcFirstLastPara="1" rIns="90000" wrap="square" tIns="45000">
            <a:noAutofit/>
          </a:bodyPr>
          <a:lstStyle/>
          <a:p>
            <a:pPr indent="0" lvl="0" marL="0" marR="0" rtl="0" algn="l">
              <a:lnSpc>
                <a:spcPct val="90000"/>
              </a:lnSpc>
              <a:spcBef>
                <a:spcPts val="0"/>
              </a:spcBef>
              <a:spcAft>
                <a:spcPts val="0"/>
              </a:spcAft>
              <a:buSzPts val="1400"/>
              <a:buNone/>
            </a:pPr>
            <a:r>
              <a:rPr b="1" i="1" lang="fr-FR" sz="2400" u="none" cap="none" strike="noStrike">
                <a:solidFill>
                  <a:srgbClr val="FF0000"/>
                </a:solidFill>
                <a:latin typeface="Calibri"/>
                <a:ea typeface="Calibri"/>
                <a:cs typeface="Calibri"/>
                <a:sym typeface="Calibri"/>
              </a:rPr>
              <a:t>Stockage fichiers sur S3 </a:t>
            </a:r>
            <a:endParaRPr b="0" i="0" sz="24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upload via AWS CLI ou Interface Web</a:t>
            </a:r>
            <a:endParaRPr b="0" i="0" sz="24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Lecture des fichiers depuis Spark</a:t>
            </a:r>
            <a:endParaRPr b="0" i="0" sz="24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Enregistrement de fichier depuis </a:t>
            </a:r>
            <a:endParaRPr b="0" i="1" sz="2400" u="none" cap="none" strike="noStrike">
              <a:solidFill>
                <a:srgbClr val="FF0000"/>
              </a:solidFill>
              <a:latin typeface="Calibri"/>
              <a:ea typeface="Calibri"/>
              <a:cs typeface="Calibri"/>
              <a:sym typeface="Calibri"/>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spark vers S3</a:t>
            </a:r>
            <a:endParaRPr b="0" i="0" sz="2400" u="none" cap="none" strike="noStrike">
              <a:latin typeface="Arial"/>
              <a:ea typeface="Arial"/>
              <a:cs typeface="Arial"/>
              <a:sym typeface="Arial"/>
            </a:endParaRPr>
          </a:p>
          <a:p>
            <a:pPr indent="0" lvl="0" marL="0" marR="0" rtl="0" algn="l">
              <a:lnSpc>
                <a:spcPct val="90000"/>
              </a:lnSpc>
              <a:spcBef>
                <a:spcPts val="1001"/>
              </a:spcBef>
              <a:spcAft>
                <a:spcPts val="0"/>
              </a:spcAft>
              <a:buSzPts val="1400"/>
              <a:buNone/>
            </a:pPr>
            <a:r>
              <a:rPr b="1" i="1" lang="fr-FR" sz="2400" u="none" cap="none" strike="noStrike">
                <a:solidFill>
                  <a:srgbClr val="FF0000"/>
                </a:solidFill>
                <a:latin typeface="Calibri"/>
                <a:ea typeface="Calibri"/>
                <a:cs typeface="Calibri"/>
                <a:sym typeface="Calibri"/>
              </a:rPr>
              <a:t>Instance EC2 (T2.xlarge) / </a:t>
            </a:r>
            <a:endParaRPr b="1" i="1" sz="2400" u="none" cap="none" strike="noStrike">
              <a:solidFill>
                <a:srgbClr val="FF0000"/>
              </a:solidFill>
              <a:latin typeface="Calibri"/>
              <a:ea typeface="Calibri"/>
              <a:cs typeface="Calibri"/>
              <a:sym typeface="Calibri"/>
            </a:endParaRPr>
          </a:p>
          <a:p>
            <a:pPr indent="0" lvl="0" marL="0" marR="0" rtl="0" algn="l">
              <a:lnSpc>
                <a:spcPct val="90000"/>
              </a:lnSpc>
              <a:spcBef>
                <a:spcPts val="1001"/>
              </a:spcBef>
              <a:spcAft>
                <a:spcPts val="0"/>
              </a:spcAft>
              <a:buSzPts val="1400"/>
              <a:buNone/>
            </a:pPr>
            <a:r>
              <a:rPr b="1" i="1" lang="fr-FR" sz="2400">
                <a:solidFill>
                  <a:srgbClr val="FF0000"/>
                </a:solidFill>
                <a:latin typeface="Calibri"/>
                <a:ea typeface="Calibri"/>
                <a:cs typeface="Calibri"/>
                <a:sym typeface="Calibri"/>
              </a:rPr>
              <a:t>/ </a:t>
            </a:r>
            <a:r>
              <a:rPr b="1" i="1" lang="fr-FR" sz="2400" u="none" cap="none" strike="noStrike">
                <a:solidFill>
                  <a:srgbClr val="FF0000"/>
                </a:solidFill>
                <a:latin typeface="Calibri"/>
                <a:ea typeface="Calibri"/>
                <a:cs typeface="Calibri"/>
                <a:sym typeface="Calibri"/>
              </a:rPr>
              <a:t>OS Ubuntu Server 18.04 </a:t>
            </a:r>
            <a:endParaRPr b="0" i="0" sz="2400" u="none" cap="none" strike="noStrike">
              <a:latin typeface="Arial"/>
              <a:ea typeface="Arial"/>
              <a:cs typeface="Arial"/>
              <a:sym typeface="Arial"/>
            </a:endParaRPr>
          </a:p>
          <a:p>
            <a:pPr indent="0" lvl="0" marL="0" marR="0" rtl="0" algn="l">
              <a:lnSpc>
                <a:spcPct val="90000"/>
              </a:lnSpc>
              <a:spcBef>
                <a:spcPts val="1001"/>
              </a:spcBef>
              <a:spcAft>
                <a:spcPts val="0"/>
              </a:spcAft>
              <a:buSzPts val="1400"/>
              <a:buNone/>
            </a:pPr>
            <a:r>
              <a:rPr b="1" i="1" lang="fr-FR" sz="2400" u="none" cap="none" strike="noStrike">
                <a:solidFill>
                  <a:srgbClr val="FF0000"/>
                </a:solidFill>
                <a:latin typeface="Calibri"/>
                <a:ea typeface="Calibri"/>
                <a:cs typeface="Calibri"/>
                <a:sym typeface="Calibri"/>
              </a:rPr>
              <a:t>Configuration :</a:t>
            </a:r>
            <a:endParaRPr b="0" i="0" sz="24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Python 3 / Java 8 / Spark / </a:t>
            </a:r>
            <a:endParaRPr b="0" i="1" sz="2400" u="none" cap="none" strike="noStrike">
              <a:solidFill>
                <a:srgbClr val="FF0000"/>
              </a:solidFill>
              <a:latin typeface="Calibri"/>
              <a:ea typeface="Calibri"/>
              <a:cs typeface="Calibri"/>
              <a:sym typeface="Calibri"/>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Hadoop-AWS/ Spark MLLib / Pillow</a:t>
            </a:r>
            <a:endParaRPr b="0" i="0" sz="2400" u="none" cap="none" strike="noStrike">
              <a:latin typeface="Arial"/>
              <a:ea typeface="Arial"/>
              <a:cs typeface="Arial"/>
              <a:sym typeface="Arial"/>
            </a:endParaRPr>
          </a:p>
          <a:p>
            <a:pPr indent="0" lvl="0" marL="0" marR="0" rtl="0" algn="l">
              <a:lnSpc>
                <a:spcPct val="90000"/>
              </a:lnSpc>
              <a:spcBef>
                <a:spcPts val="1001"/>
              </a:spcBef>
              <a:spcAft>
                <a:spcPts val="0"/>
              </a:spcAft>
              <a:buSzPts val="1400"/>
              <a:buNone/>
            </a:pPr>
            <a:r>
              <a:rPr b="1" i="1" lang="fr-FR" sz="2400" u="none" cap="none" strike="noStrike">
                <a:solidFill>
                  <a:srgbClr val="FF0000"/>
                </a:solidFill>
                <a:latin typeface="Calibri"/>
                <a:ea typeface="Calibri"/>
                <a:cs typeface="Calibri"/>
                <a:sym typeface="Calibri"/>
              </a:rPr>
              <a:t>Configuration sur machine distante : </a:t>
            </a:r>
            <a:endParaRPr b="1" i="1" sz="2400">
              <a:solidFill>
                <a:srgbClr val="FF0000"/>
              </a:solidFill>
              <a:latin typeface="Calibri"/>
              <a:ea typeface="Calibri"/>
              <a:cs typeface="Calibri"/>
              <a:sym typeface="Calibri"/>
            </a:endParaRPr>
          </a:p>
          <a:p>
            <a:pPr indent="0" lvl="0" marL="0" marR="0" rtl="0" algn="l">
              <a:lnSpc>
                <a:spcPct val="90000"/>
              </a:lnSpc>
              <a:spcBef>
                <a:spcPts val="1001"/>
              </a:spcBef>
              <a:spcAft>
                <a:spcPts val="0"/>
              </a:spcAft>
              <a:buSzPts val="1400"/>
              <a:buNone/>
            </a:pPr>
            <a:r>
              <a:rPr b="0" i="1" lang="fr-FR" sz="2400" u="none" cap="none" strike="noStrike">
                <a:solidFill>
                  <a:srgbClr val="FF0000"/>
                </a:solidFill>
                <a:latin typeface="Calibri"/>
                <a:ea typeface="Calibri"/>
                <a:cs typeface="Calibri"/>
                <a:sym typeface="Calibri"/>
              </a:rPr>
              <a:t>accès via tunnel SSH , Chargement clés IAM / AWS</a:t>
            </a:r>
            <a:endParaRPr b="0" i="0" sz="24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FF0000"/>
              </a:buClr>
              <a:buSzPts val="2400"/>
              <a:buFont typeface="Arial"/>
              <a:buChar char="•"/>
            </a:pPr>
            <a:r>
              <a:rPr b="0" i="1" lang="fr-FR" sz="2400" u="none" cap="none" strike="noStrike">
                <a:solidFill>
                  <a:srgbClr val="FF0000"/>
                </a:solidFill>
                <a:latin typeface="Calibri"/>
                <a:ea typeface="Calibri"/>
                <a:cs typeface="Calibri"/>
                <a:sym typeface="Calibri"/>
              </a:rPr>
              <a:t>Installation des logiciels et packages, Mise en place Jupyter Notebook accessible à distance pour exécution du code / analyse des résultats</a:t>
            </a:r>
            <a:r>
              <a:rPr b="1" i="1" lang="fr-FR" sz="2400" u="none" cap="none" strike="noStrike">
                <a:solidFill>
                  <a:srgbClr val="FF0000"/>
                </a:solidFill>
                <a:latin typeface="Calibri"/>
                <a:ea typeface="Calibri"/>
                <a:cs typeface="Calibri"/>
                <a:sym typeface="Calibri"/>
              </a:rPr>
              <a:t> </a:t>
            </a:r>
            <a:endParaRPr b="0" i="0" sz="2400" u="none" cap="none" strike="noStrike">
              <a:latin typeface="Arial"/>
              <a:ea typeface="Arial"/>
              <a:cs typeface="Arial"/>
              <a:sym typeface="Arial"/>
            </a:endParaRPr>
          </a:p>
        </p:txBody>
      </p:sp>
      <p:sp>
        <p:nvSpPr>
          <p:cNvPr id="190" name="Google Shape;190;p23"/>
          <p:cNvSpPr/>
          <p:nvPr/>
        </p:nvSpPr>
        <p:spPr>
          <a:xfrm>
            <a:off x="3458520" y="127800"/>
            <a:ext cx="5356440" cy="51624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Clr>
                <a:srgbClr val="000000"/>
              </a:buClr>
              <a:buSzPts val="2800"/>
              <a:buFont typeface="Arial"/>
              <a:buNone/>
            </a:pPr>
            <a:r>
              <a:rPr b="1" i="1" lang="fr-FR" sz="2800" u="none" cap="none" strike="noStrike">
                <a:solidFill>
                  <a:srgbClr val="0F47A6"/>
                </a:solidFill>
                <a:latin typeface="Yeseva One"/>
                <a:ea typeface="Yeseva One"/>
                <a:cs typeface="Yeseva One"/>
                <a:sym typeface="Yeseva One"/>
              </a:rPr>
              <a:t>Déploiement sur AWS</a:t>
            </a:r>
            <a:endParaRPr b="0" i="0" sz="2800" u="none" cap="none" strike="noStrike">
              <a:solidFill>
                <a:srgbClr val="000000"/>
              </a:solidFill>
              <a:latin typeface="Arial"/>
              <a:ea typeface="Arial"/>
              <a:cs typeface="Arial"/>
              <a:sym typeface="Arial"/>
            </a:endParaRPr>
          </a:p>
        </p:txBody>
      </p:sp>
      <p:sp>
        <p:nvSpPr>
          <p:cNvPr id="191" name="Google Shape;191;p23"/>
          <p:cNvSpPr txBox="1"/>
          <p:nvPr>
            <p:ph type="title"/>
          </p:nvPr>
        </p:nvSpPr>
        <p:spPr>
          <a:xfrm>
            <a:off x="752350" y="-258925"/>
            <a:ext cx="10972500" cy="833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2" name="Google Shape;192;p23"/>
          <p:cNvSpPr txBox="1"/>
          <p:nvPr>
            <p:ph idx="2" type="body"/>
          </p:nvPr>
        </p:nvSpPr>
        <p:spPr>
          <a:xfrm>
            <a:off x="6227575" y="734276"/>
            <a:ext cx="5354400" cy="4840800"/>
          </a:xfrm>
          <a:prstGeom prst="rect">
            <a:avLst/>
          </a:prstGeom>
          <a:noFill/>
          <a:ln>
            <a:noFill/>
          </a:ln>
        </p:spPr>
        <p:txBody>
          <a:bodyPr anchorCtr="0" anchor="t" bIns="0" lIns="0" spcFirstLastPara="1" rIns="0" wrap="square" tIns="0">
            <a:normAutofit/>
          </a:bodyPr>
          <a:lstStyle/>
          <a:p>
            <a:pPr indent="0" lvl="0" marL="0" rtl="0" algn="l">
              <a:lnSpc>
                <a:spcPct val="70000"/>
              </a:lnSpc>
              <a:spcBef>
                <a:spcPts val="0"/>
              </a:spcBef>
              <a:spcAft>
                <a:spcPts val="0"/>
              </a:spcAft>
              <a:buClr>
                <a:schemeClr val="dk1"/>
              </a:buClr>
              <a:buSzPts val="1400"/>
              <a:buFont typeface="Arial"/>
              <a:buNone/>
            </a:pPr>
            <a:r>
              <a:rPr b="1" i="1" lang="fr-FR" sz="2500">
                <a:solidFill>
                  <a:srgbClr val="00B050"/>
                </a:solidFill>
                <a:latin typeface="Calibri"/>
                <a:ea typeface="Calibri"/>
                <a:cs typeface="Calibri"/>
                <a:sym typeface="Calibri"/>
              </a:rPr>
              <a:t>Dans ce projet, nous avons appris :</a:t>
            </a:r>
            <a:endParaRPr sz="2500">
              <a:solidFill>
                <a:schemeClr val="dk1"/>
              </a:solidFill>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Comment utiliser pyspark ?</a:t>
            </a:r>
            <a:endParaRPr sz="2500">
              <a:solidFill>
                <a:schemeClr val="dk1"/>
              </a:solidFill>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Découverte du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format parquet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distribué.</a:t>
            </a:r>
            <a:endParaRPr sz="2500">
              <a:solidFill>
                <a:schemeClr val="dk1"/>
              </a:solidFill>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Écosystème AWS.</a:t>
            </a:r>
            <a:endParaRPr sz="2500">
              <a:solidFill>
                <a:schemeClr val="dk1"/>
              </a:solidFill>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Déploiement dans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AWS et connexion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avec tunnel SSH en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utilisant le </a:t>
            </a:r>
            <a:endParaRPr b="1" i="1" sz="2500">
              <a:solidFill>
                <a:srgbClr val="00B050"/>
              </a:solidFill>
              <a:latin typeface="Calibri"/>
              <a:ea typeface="Calibri"/>
              <a:cs typeface="Calibri"/>
              <a:sym typeface="Calibri"/>
            </a:endParaRPr>
          </a:p>
          <a:p>
            <a:pPr indent="-184150" lvl="0" marL="228600" rtl="0" algn="l">
              <a:lnSpc>
                <a:spcPct val="70000"/>
              </a:lnSpc>
              <a:spcBef>
                <a:spcPts val="1001"/>
              </a:spcBef>
              <a:spcAft>
                <a:spcPts val="0"/>
              </a:spcAft>
              <a:buClr>
                <a:srgbClr val="00B050"/>
              </a:buClr>
              <a:buSzPts val="2500"/>
              <a:buChar char="•"/>
            </a:pPr>
            <a:r>
              <a:rPr b="1" i="1" lang="fr-FR" sz="2500">
                <a:solidFill>
                  <a:srgbClr val="00B050"/>
                </a:solidFill>
                <a:latin typeface="Calibri"/>
                <a:ea typeface="Calibri"/>
                <a:cs typeface="Calibri"/>
                <a:sym typeface="Calibri"/>
              </a:rPr>
              <a:t>système linux.</a:t>
            </a:r>
            <a:endParaRPr sz="2500">
              <a:solidFill>
                <a:schemeClr val="dk1"/>
              </a:solidFill>
            </a:endParaRPr>
          </a:p>
          <a:p>
            <a:pPr indent="0" lvl="0" marL="0" rtl="0" algn="l">
              <a:lnSpc>
                <a:spcPct val="80000"/>
              </a:lnSpc>
              <a:spcBef>
                <a:spcPts val="0"/>
              </a:spcBef>
              <a:spcAft>
                <a:spcPts val="0"/>
              </a:spcAft>
              <a:buSzPts val="1400"/>
              <a:buNone/>
            </a:pPr>
            <a:r>
              <a:t/>
            </a:r>
            <a:endParaRPr sz="1100"/>
          </a:p>
        </p:txBody>
      </p:sp>
      <p:pic>
        <p:nvPicPr>
          <p:cNvPr id="193" name="Google Shape;193;p23"/>
          <p:cNvPicPr preferRelativeResize="0"/>
          <p:nvPr/>
        </p:nvPicPr>
        <p:blipFill rotWithShape="1">
          <a:blip r:embed="rId3">
            <a:alphaModFix/>
          </a:blip>
          <a:srcRect b="0" l="0" r="0" t="0"/>
          <a:stretch/>
        </p:blipFill>
        <p:spPr>
          <a:xfrm>
            <a:off x="9116280" y="1615680"/>
            <a:ext cx="2395440" cy="4605839"/>
          </a:xfrm>
          <a:prstGeom prst="rect">
            <a:avLst/>
          </a:prstGeom>
          <a:noFill/>
          <a:ln>
            <a:noFill/>
          </a:ln>
        </p:spPr>
      </p:pic>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9588013f93_8_8"/>
          <p:cNvSpPr txBox="1"/>
          <p:nvPr/>
        </p:nvSpPr>
        <p:spPr>
          <a:xfrm>
            <a:off x="0" y="0"/>
            <a:ext cx="12192000" cy="652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2200"/>
              <a:buFont typeface="Arial"/>
              <a:buNone/>
            </a:pPr>
            <a:r>
              <a:rPr b="1" i="1" lang="fr-FR" sz="2200" u="none" cap="none" strike="noStrike">
                <a:solidFill>
                  <a:srgbClr val="FF0000"/>
                </a:solidFill>
                <a:highlight>
                  <a:srgbClr val="FFFFFF"/>
                </a:highlight>
                <a:latin typeface="Roboto"/>
                <a:ea typeface="Roboto"/>
                <a:cs typeface="Roboto"/>
                <a:sym typeface="Roboto"/>
              </a:rPr>
              <a:t>Analyse des Résultats &amp; Conclusion</a:t>
            </a:r>
            <a:endParaRPr b="1" i="1" sz="2200" u="none" cap="none" strike="noStrike">
              <a:solidFill>
                <a:srgbClr val="FF0000"/>
              </a:solidFill>
              <a:highlight>
                <a:srgbClr val="FFFFFF"/>
              </a:highlight>
              <a:latin typeface="Roboto"/>
              <a:ea typeface="Roboto"/>
              <a:cs typeface="Roboto"/>
              <a:sym typeface="Roboto"/>
            </a:endParaRPr>
          </a:p>
          <a:p>
            <a:pPr indent="-349250" lvl="0" marL="457200" marR="0" rtl="0" algn="l">
              <a:lnSpc>
                <a:spcPct val="115000"/>
              </a:lnSpc>
              <a:spcBef>
                <a:spcPts val="1200"/>
              </a:spcBef>
              <a:spcAft>
                <a:spcPts val="0"/>
              </a:spcAft>
              <a:buClr>
                <a:srgbClr val="FF0000"/>
              </a:buClr>
              <a:buSzPts val="1900"/>
              <a:buFont typeface="Roboto"/>
              <a:buChar char="●"/>
            </a:pPr>
            <a:r>
              <a:rPr b="1" i="1" lang="fr-FR" sz="1900" u="none" cap="none" strike="noStrike">
                <a:solidFill>
                  <a:srgbClr val="FF0000"/>
                </a:solidFill>
                <a:highlight>
                  <a:srgbClr val="FFFFFF"/>
                </a:highlight>
                <a:latin typeface="Roboto"/>
                <a:ea typeface="Roboto"/>
                <a:cs typeface="Roboto"/>
                <a:sym typeface="Roboto"/>
              </a:rPr>
              <a:t>Preuve de Concept Validée :</a:t>
            </a:r>
            <a:endParaRPr b="1" i="1" sz="1900" u="none" cap="none" strike="noStrike">
              <a:solidFill>
                <a:srgbClr val="FF0000"/>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Le pipeline a été testé avec succès </a:t>
            </a:r>
            <a:r>
              <a:rPr b="1" i="1" lang="fr-FR" sz="1900" u="none" cap="none" strike="noStrike">
                <a:solidFill>
                  <a:srgbClr val="FF0000"/>
                </a:solidFill>
                <a:highlight>
                  <a:srgbClr val="FFFFFF"/>
                </a:highlight>
                <a:latin typeface="Roboto"/>
                <a:ea typeface="Roboto"/>
                <a:cs typeface="Roboto"/>
                <a:sym typeface="Roboto"/>
              </a:rPr>
              <a:t>en local</a:t>
            </a:r>
            <a:r>
              <a:rPr b="0" i="1" lang="fr-FR" sz="1900" u="none" cap="none" strike="noStrike">
                <a:solidFill>
                  <a:srgbClr val="FF00FF"/>
                </a:solidFill>
                <a:highlight>
                  <a:srgbClr val="FFFFFF"/>
                </a:highlight>
                <a:latin typeface="Roboto"/>
                <a:ea typeface="Roboto"/>
                <a:cs typeface="Roboto"/>
                <a:sym typeface="Roboto"/>
              </a:rPr>
              <a:t> sur un environnement Windows (malgré les défis techniques), validant la logique métier.</a:t>
            </a:r>
            <a:endParaRPr b="0" i="1" sz="1900" u="none" cap="none" strike="noStrike">
              <a:solidFill>
                <a:srgbClr val="FF00FF"/>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Il a ensuite été déployé et exécuté sans erreur sur un véritable cluster </a:t>
            </a:r>
            <a:r>
              <a:rPr b="1" i="1" lang="fr-FR" sz="1900" u="none" cap="none" strike="noStrike">
                <a:solidFill>
                  <a:srgbClr val="FF0000"/>
                </a:solidFill>
                <a:highlight>
                  <a:srgbClr val="FFFFFF"/>
                </a:highlight>
                <a:latin typeface="Roboto"/>
                <a:ea typeface="Roboto"/>
                <a:cs typeface="Roboto"/>
                <a:sym typeface="Roboto"/>
              </a:rPr>
              <a:t>AWS EMR</a:t>
            </a:r>
            <a:r>
              <a:rPr b="0" i="1" lang="fr-FR" sz="1900" u="none" cap="none" strike="noStrike">
                <a:solidFill>
                  <a:srgbClr val="FF00FF"/>
                </a:solidFill>
                <a:highlight>
                  <a:srgbClr val="FFFFFF"/>
                </a:highlight>
                <a:latin typeface="Roboto"/>
                <a:ea typeface="Roboto"/>
                <a:cs typeface="Roboto"/>
                <a:sym typeface="Roboto"/>
              </a:rPr>
              <a:t>, prouvant sa scalabilité.</a:t>
            </a:r>
            <a:endParaRPr b="0" i="1" sz="1900" u="none" cap="none" strike="noStrike">
              <a:solidFill>
                <a:srgbClr val="FF00FF"/>
              </a:solidFill>
              <a:highlight>
                <a:srgbClr val="FFFFFF"/>
              </a:highlight>
              <a:latin typeface="Roboto"/>
              <a:ea typeface="Roboto"/>
              <a:cs typeface="Roboto"/>
              <a:sym typeface="Roboto"/>
            </a:endParaRPr>
          </a:p>
          <a:p>
            <a:pPr indent="-349250" lvl="0" marL="457200" marR="0" rtl="0" algn="l">
              <a:lnSpc>
                <a:spcPct val="115000"/>
              </a:lnSpc>
              <a:spcBef>
                <a:spcPts val="0"/>
              </a:spcBef>
              <a:spcAft>
                <a:spcPts val="0"/>
              </a:spcAft>
              <a:buClr>
                <a:srgbClr val="FF0000"/>
              </a:buClr>
              <a:buSzPts val="1900"/>
              <a:buFont typeface="Roboto"/>
              <a:buChar char="●"/>
            </a:pPr>
            <a:r>
              <a:rPr b="1" i="1" lang="fr-FR" sz="1900" u="none" cap="none" strike="noStrike">
                <a:solidFill>
                  <a:srgbClr val="FF0000"/>
                </a:solidFill>
                <a:highlight>
                  <a:srgbClr val="FFFFFF"/>
                </a:highlight>
                <a:latin typeface="Roboto"/>
                <a:ea typeface="Roboto"/>
                <a:cs typeface="Roboto"/>
                <a:sym typeface="Roboto"/>
              </a:rPr>
              <a:t>Résultats du Prototype sur le Cloud :</a:t>
            </a:r>
            <a:endParaRPr b="1" i="1" sz="1900" u="none" cap="none" strike="noStrike">
              <a:solidFill>
                <a:srgbClr val="FF0000"/>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1" i="1" lang="fr-FR" sz="1900" u="none" cap="none" strike="noStrike">
                <a:solidFill>
                  <a:srgbClr val="FF0000"/>
                </a:solidFill>
                <a:highlight>
                  <a:srgbClr val="FFFFFF"/>
                </a:highlight>
                <a:latin typeface="Roboto"/>
                <a:ea typeface="Roboto"/>
                <a:cs typeface="Roboto"/>
                <a:sym typeface="Roboto"/>
              </a:rPr>
              <a:t>100 images</a:t>
            </a:r>
            <a:r>
              <a:rPr b="0" i="1" lang="fr-FR" sz="1900" u="none" cap="none" strike="noStrike">
                <a:solidFill>
                  <a:srgbClr val="FF0000"/>
                </a:solidFill>
                <a:highlight>
                  <a:srgbClr val="FFFFFF"/>
                </a:highlight>
                <a:latin typeface="Roboto"/>
                <a:ea typeface="Roboto"/>
                <a:cs typeface="Roboto"/>
                <a:sym typeface="Roboto"/>
              </a:rPr>
              <a:t> </a:t>
            </a:r>
            <a:r>
              <a:rPr b="0" i="1" lang="fr-FR" sz="1900" u="none" cap="none" strike="noStrike">
                <a:solidFill>
                  <a:srgbClr val="FF00FF"/>
                </a:solidFill>
                <a:highlight>
                  <a:srgbClr val="FFFFFF"/>
                </a:highlight>
                <a:latin typeface="Roboto"/>
                <a:ea typeface="Roboto"/>
                <a:cs typeface="Roboto"/>
                <a:sym typeface="Roboto"/>
              </a:rPr>
              <a:t>du dossier de test (lot de test) ont été traitées avec succès.</a:t>
            </a:r>
            <a:endParaRPr b="0" i="1" sz="1900" u="none" cap="none" strike="noStrike">
              <a:solidFill>
                <a:srgbClr val="FF00FF"/>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Chaque image a été convertie en un vecteur de caractéristiques de </a:t>
            </a:r>
            <a:r>
              <a:rPr b="1" i="1" lang="fr-FR" sz="1900" u="none" cap="none" strike="noStrike">
                <a:solidFill>
                  <a:srgbClr val="FF0000"/>
                </a:solidFill>
                <a:highlight>
                  <a:srgbClr val="FFFFFF"/>
                </a:highlight>
                <a:latin typeface="Roboto"/>
                <a:ea typeface="Roboto"/>
                <a:cs typeface="Roboto"/>
                <a:sym typeface="Roboto"/>
              </a:rPr>
              <a:t>1280</a:t>
            </a:r>
            <a:r>
              <a:rPr b="0" i="1" lang="fr-FR" sz="1900" u="none" cap="none" strike="noStrike">
                <a:solidFill>
                  <a:srgbClr val="FF0000"/>
                </a:solidFill>
                <a:highlight>
                  <a:srgbClr val="FFFFFF"/>
                </a:highlight>
                <a:latin typeface="Roboto"/>
                <a:ea typeface="Roboto"/>
                <a:cs typeface="Roboto"/>
                <a:sym typeface="Roboto"/>
              </a:rPr>
              <a:t> </a:t>
            </a:r>
            <a:r>
              <a:rPr b="1" i="1" lang="fr-FR" sz="1900" u="none" cap="none" strike="noStrike">
                <a:solidFill>
                  <a:srgbClr val="FF0000"/>
                </a:solidFill>
                <a:highlight>
                  <a:srgbClr val="FFFFFF"/>
                </a:highlight>
                <a:latin typeface="Roboto"/>
                <a:ea typeface="Roboto"/>
                <a:cs typeface="Roboto"/>
                <a:sym typeface="Roboto"/>
              </a:rPr>
              <a:t>dimensions</a:t>
            </a:r>
            <a:r>
              <a:rPr b="0" i="1" lang="fr-FR" sz="1900" u="none" cap="none" strike="noStrike">
                <a:solidFill>
                  <a:srgbClr val="FF00FF"/>
                </a:solidFill>
                <a:highlight>
                  <a:srgbClr val="FFFFFF"/>
                </a:highlight>
                <a:latin typeface="Roboto"/>
                <a:ea typeface="Roboto"/>
                <a:cs typeface="Roboto"/>
                <a:sym typeface="Roboto"/>
              </a:rPr>
              <a:t> par le modèle MobileNetV2.</a:t>
            </a:r>
            <a:endParaRPr b="0" i="1" sz="1900" u="none" cap="none" strike="noStrike">
              <a:solidFill>
                <a:srgbClr val="FF00FF"/>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Les résultats sont stockés dans un format Parquet structuré sur </a:t>
            </a:r>
            <a:r>
              <a:rPr b="1" i="1" lang="fr-FR" sz="1900" u="none" cap="none" strike="noStrike">
                <a:solidFill>
                  <a:srgbClr val="FF0000"/>
                </a:solidFill>
                <a:highlight>
                  <a:srgbClr val="FFFFFF"/>
                </a:highlight>
                <a:latin typeface="Roboto"/>
                <a:ea typeface="Roboto"/>
                <a:cs typeface="Roboto"/>
                <a:sym typeface="Roboto"/>
              </a:rPr>
              <a:t>S3</a:t>
            </a:r>
            <a:r>
              <a:rPr b="0" i="1" lang="fr-FR" sz="1900" u="none" cap="none" strike="noStrike">
                <a:solidFill>
                  <a:srgbClr val="FF00FF"/>
                </a:solidFill>
                <a:highlight>
                  <a:srgbClr val="FFFFFF"/>
                </a:highlight>
                <a:latin typeface="Roboto"/>
                <a:ea typeface="Roboto"/>
                <a:cs typeface="Roboto"/>
                <a:sym typeface="Roboto"/>
              </a:rPr>
              <a:t>, prêts pour une étape de classification ultérieure.</a:t>
            </a:r>
            <a:endParaRPr b="0" i="1" sz="1900" u="none" cap="none" strike="noStrike">
              <a:solidFill>
                <a:srgbClr val="FF00FF"/>
              </a:solidFill>
              <a:highlight>
                <a:srgbClr val="FFFFFF"/>
              </a:highlight>
              <a:latin typeface="Roboto"/>
              <a:ea typeface="Roboto"/>
              <a:cs typeface="Roboto"/>
              <a:sym typeface="Roboto"/>
            </a:endParaRPr>
          </a:p>
          <a:p>
            <a:pPr indent="-349250" lvl="0" marL="457200" marR="0" rtl="0" algn="l">
              <a:lnSpc>
                <a:spcPct val="115000"/>
              </a:lnSpc>
              <a:spcBef>
                <a:spcPts val="0"/>
              </a:spcBef>
              <a:spcAft>
                <a:spcPts val="0"/>
              </a:spcAft>
              <a:buClr>
                <a:srgbClr val="FF0000"/>
              </a:buClr>
              <a:buSzPts val="1900"/>
              <a:buFont typeface="Roboto"/>
              <a:buChar char="●"/>
            </a:pPr>
            <a:r>
              <a:rPr b="1" i="1" lang="fr-FR" sz="1900" u="none" cap="none" strike="noStrike">
                <a:solidFill>
                  <a:srgbClr val="FF0000"/>
                </a:solidFill>
                <a:highlight>
                  <a:srgbClr val="FFFFFF"/>
                </a:highlight>
                <a:latin typeface="Roboto"/>
                <a:ea typeface="Roboto"/>
                <a:cs typeface="Roboto"/>
                <a:sym typeface="Roboto"/>
              </a:rPr>
              <a:t>Conclusion du Projet :</a:t>
            </a:r>
            <a:endParaRPr b="1" i="1" sz="1900" u="none" cap="none" strike="noStrike">
              <a:solidFill>
                <a:srgbClr val="FF0000"/>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L'objectif principal est atteint : un pipeline robuste et scalable pour l'extraction de features d'images à grande échelle a été conçu, développé et déployé avec succès sur une infrastructure cloud.</a:t>
            </a:r>
            <a:endParaRPr b="0" i="1" sz="1900" u="none" cap="none" strike="noStrike">
              <a:solidFill>
                <a:srgbClr val="FF00FF"/>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L'utilisation combinée d'</a:t>
            </a:r>
            <a:r>
              <a:rPr b="1" i="1" lang="fr-FR" sz="1900" u="none" cap="none" strike="noStrike">
                <a:solidFill>
                  <a:srgbClr val="FF0000"/>
                </a:solidFill>
                <a:highlight>
                  <a:srgbClr val="FFFFFF"/>
                </a:highlight>
                <a:latin typeface="Roboto"/>
                <a:ea typeface="Roboto"/>
                <a:cs typeface="Roboto"/>
                <a:sym typeface="Roboto"/>
              </a:rPr>
              <a:t>AWS EMR</a:t>
            </a:r>
            <a:r>
              <a:rPr b="0" i="1" lang="fr-FR" sz="1900" u="none" cap="none" strike="noStrike">
                <a:solidFill>
                  <a:srgbClr val="FF00FF"/>
                </a:solidFill>
                <a:highlight>
                  <a:srgbClr val="FFFFFF"/>
                </a:highlight>
                <a:latin typeface="Roboto"/>
                <a:ea typeface="Roboto"/>
                <a:cs typeface="Roboto"/>
                <a:sym typeface="Roboto"/>
              </a:rPr>
              <a:t> et </a:t>
            </a:r>
            <a:r>
              <a:rPr b="1" i="1" lang="fr-FR" sz="1900" u="none" cap="none" strike="noStrike">
                <a:solidFill>
                  <a:srgbClr val="FF0000"/>
                </a:solidFill>
                <a:highlight>
                  <a:srgbClr val="FFFFFF"/>
                </a:highlight>
                <a:latin typeface="Roboto"/>
                <a:ea typeface="Roboto"/>
                <a:cs typeface="Roboto"/>
                <a:sym typeface="Roboto"/>
              </a:rPr>
              <a:t>S3</a:t>
            </a:r>
            <a:r>
              <a:rPr b="0" i="1" lang="fr-FR" sz="1900" u="none" cap="none" strike="noStrike">
                <a:solidFill>
                  <a:srgbClr val="FF00FF"/>
                </a:solidFill>
                <a:highlight>
                  <a:srgbClr val="FFFFFF"/>
                </a:highlight>
                <a:latin typeface="Roboto"/>
                <a:ea typeface="Roboto"/>
                <a:cs typeface="Roboto"/>
                <a:sym typeface="Roboto"/>
              </a:rPr>
              <a:t> a permis de répondre de manière efficace et économique aux exigences de scalabilité et de gestion des données du projet.</a:t>
            </a:r>
            <a:endParaRPr b="0" i="1" sz="1900" u="none" cap="none" strike="noStrike">
              <a:solidFill>
                <a:srgbClr val="FF00FF"/>
              </a:solidFill>
              <a:highlight>
                <a:srgbClr val="FFFFFF"/>
              </a:highlight>
              <a:latin typeface="Roboto"/>
              <a:ea typeface="Roboto"/>
              <a:cs typeface="Roboto"/>
              <a:sym typeface="Roboto"/>
            </a:endParaRPr>
          </a:p>
          <a:p>
            <a:pPr indent="-349250" lvl="1" marL="914400" marR="0" rtl="0" algn="l">
              <a:lnSpc>
                <a:spcPct val="115000"/>
              </a:lnSpc>
              <a:spcBef>
                <a:spcPts val="0"/>
              </a:spcBef>
              <a:spcAft>
                <a:spcPts val="0"/>
              </a:spcAft>
              <a:buClr>
                <a:srgbClr val="FF00FF"/>
              </a:buClr>
              <a:buSzPts val="1900"/>
              <a:buFont typeface="Roboto"/>
              <a:buChar char="○"/>
            </a:pPr>
            <a:r>
              <a:rPr b="0" i="1" lang="fr-FR" sz="1900" u="none" cap="none" strike="noStrike">
                <a:solidFill>
                  <a:srgbClr val="FF00FF"/>
                </a:solidFill>
                <a:highlight>
                  <a:srgbClr val="FFFFFF"/>
                </a:highlight>
                <a:latin typeface="Roboto"/>
                <a:ea typeface="Roboto"/>
                <a:cs typeface="Roboto"/>
                <a:sym typeface="Roboto"/>
              </a:rPr>
              <a:t>Le passage de la simulation locale à un cluster cloud a été réalisé avec succès, démontrant la flexibilité de la solution.</a:t>
            </a:r>
            <a:endParaRPr b="0" i="1" sz="1900" u="none" cap="none" strike="noStrike">
              <a:solidFill>
                <a:srgbClr val="FF00FF"/>
              </a:solidFill>
              <a:highlight>
                <a:srgbClr val="FFFFFF"/>
              </a:highlight>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9588013f93_8_13"/>
          <p:cNvSpPr txBox="1"/>
          <p:nvPr/>
        </p:nvSpPr>
        <p:spPr>
          <a:xfrm>
            <a:off x="0" y="0"/>
            <a:ext cx="12192000" cy="6177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2400"/>
              </a:spcBef>
              <a:spcAft>
                <a:spcPts val="0"/>
              </a:spcAft>
              <a:buClr>
                <a:srgbClr val="000000"/>
              </a:buClr>
              <a:buSzPts val="2000"/>
              <a:buFont typeface="Arial"/>
              <a:buNone/>
            </a:pPr>
            <a:r>
              <a:rPr b="1" i="1" lang="fr-FR" sz="2000" u="none" cap="none" strike="noStrike">
                <a:solidFill>
                  <a:srgbClr val="FF0000"/>
                </a:solidFill>
                <a:highlight>
                  <a:srgbClr val="FFFFFF"/>
                </a:highlight>
                <a:latin typeface="Roboto"/>
                <a:ea typeface="Roboto"/>
                <a:cs typeface="Roboto"/>
                <a:sym typeface="Roboto"/>
              </a:rPr>
              <a:t>Apprentissages Clés &amp; Étapes Futures </a:t>
            </a:r>
            <a:endParaRPr b="1" i="1" sz="2000" u="none" cap="none" strike="noStrike">
              <a:solidFill>
                <a:srgbClr val="FF0000"/>
              </a:solidFill>
              <a:highlight>
                <a:srgbClr val="FFFFFF"/>
              </a:highlight>
              <a:latin typeface="Roboto"/>
              <a:ea typeface="Roboto"/>
              <a:cs typeface="Roboto"/>
              <a:sym typeface="Roboto"/>
            </a:endParaRPr>
          </a:p>
          <a:p>
            <a:pPr indent="-336550" lvl="0" marL="457200" marR="0" rtl="0" algn="l">
              <a:lnSpc>
                <a:spcPct val="115000"/>
              </a:lnSpc>
              <a:spcBef>
                <a:spcPts val="1200"/>
              </a:spcBef>
              <a:spcAft>
                <a:spcPts val="0"/>
              </a:spcAft>
              <a:buClr>
                <a:srgbClr val="FF0000"/>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Apprentissages Clés :</a:t>
            </a:r>
            <a:endParaRPr b="1" i="1" sz="1700" u="none" cap="none" strike="noStrike">
              <a:solidFill>
                <a:srgbClr val="FF0000"/>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000FF"/>
              </a:buClr>
              <a:buSzPts val="1200"/>
              <a:buFont typeface="Roboto"/>
              <a:buChar char="○"/>
            </a:pPr>
            <a:r>
              <a:rPr b="1" i="1" lang="fr-FR" sz="1700" u="none" cap="none" strike="noStrike">
                <a:solidFill>
                  <a:srgbClr val="FF0000"/>
                </a:solidFill>
                <a:highlight>
                  <a:srgbClr val="FFFFFF"/>
                </a:highlight>
                <a:latin typeface="Roboto"/>
                <a:ea typeface="Roboto"/>
                <a:cs typeface="Roboto"/>
                <a:sym typeface="Roboto"/>
              </a:rPr>
              <a:t>Maîtrise de PySpark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Utilisation avancée des DataFrames, gestion des chemins de fichiers avec </a:t>
            </a:r>
            <a:r>
              <a:rPr b="0" i="1" lang="fr-FR" sz="1550" u="none" cap="none" strike="noStrike">
                <a:solidFill>
                  <a:srgbClr val="0000FF"/>
                </a:solidFill>
                <a:highlight>
                  <a:srgbClr val="EBEEF2"/>
                </a:highlight>
                <a:latin typeface="Roboto Mono"/>
                <a:ea typeface="Roboto Mono"/>
                <a:cs typeface="Roboto Mono"/>
                <a:sym typeface="Roboto Mono"/>
              </a:rPr>
              <a:t>input_file_name()</a:t>
            </a:r>
            <a:r>
              <a:rPr b="0" i="1" lang="fr-FR" sz="1700" u="none" cap="none" strike="noStrike">
                <a:solidFill>
                  <a:srgbClr val="0000FF"/>
                </a:solidFill>
                <a:highlight>
                  <a:srgbClr val="FFFFFF"/>
                </a:highlight>
                <a:latin typeface="Roboto"/>
                <a:ea typeface="Roboto"/>
                <a:cs typeface="Roboto"/>
                <a:sym typeface="Roboto"/>
              </a:rPr>
              <a:t>, et surtout, création et déploiement de Pandas UDFs (</a:t>
            </a:r>
            <a:r>
              <a:rPr b="0" i="1" lang="fr-FR" sz="1550" u="none" cap="none" strike="noStrike">
                <a:solidFill>
                  <a:srgbClr val="0000FF"/>
                </a:solidFill>
                <a:highlight>
                  <a:srgbClr val="EBEEF2"/>
                </a:highlight>
                <a:latin typeface="Roboto Mono"/>
                <a:ea typeface="Roboto Mono"/>
                <a:cs typeface="Roboto Mono"/>
                <a:sym typeface="Roboto Mono"/>
              </a:rPr>
              <a:t>SCALAR</a:t>
            </a:r>
            <a:r>
              <a:rPr b="0" i="1" lang="fr-FR" sz="1700" u="none" cap="none" strike="noStrike">
                <a:solidFill>
                  <a:srgbClr val="0000FF"/>
                </a:solidFill>
                <a:highlight>
                  <a:srgbClr val="FFFFFF"/>
                </a:highlight>
                <a:latin typeface="Roboto"/>
                <a:ea typeface="Roboto"/>
                <a:cs typeface="Roboto"/>
                <a:sym typeface="Roboto"/>
              </a:rPr>
              <a:t>) pour le calcul distribué de modèles de deep learning.</a:t>
            </a:r>
            <a:endParaRPr b="0" i="1" sz="1700" u="none" cap="none" strike="noStrike">
              <a:solidFill>
                <a:srgbClr val="0000FF"/>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000FF"/>
              </a:buClr>
              <a:buSzPts val="1200"/>
              <a:buFont typeface="Roboto"/>
              <a:buChar char="○"/>
            </a:pPr>
            <a:r>
              <a:rPr b="1" i="1" lang="fr-FR" sz="1700" u="none" cap="none" strike="noStrike">
                <a:solidFill>
                  <a:srgbClr val="FF0000"/>
                </a:solidFill>
                <a:highlight>
                  <a:srgbClr val="FFFFFF"/>
                </a:highlight>
                <a:latin typeface="Roboto"/>
                <a:ea typeface="Roboto"/>
                <a:cs typeface="Roboto"/>
                <a:sym typeface="Roboto"/>
              </a:rPr>
              <a:t>Intégration TensorFlow/Spark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Mise en œuvre réussie de l'inférence d'un modèle </a:t>
            </a:r>
            <a:r>
              <a:rPr b="0" i="1" lang="fr-FR" sz="1550" u="none" cap="none" strike="noStrike">
                <a:solidFill>
                  <a:srgbClr val="0000FF"/>
                </a:solidFill>
                <a:highlight>
                  <a:srgbClr val="EBEEF2"/>
                </a:highlight>
                <a:latin typeface="Roboto Mono"/>
                <a:ea typeface="Roboto Mono"/>
                <a:cs typeface="Roboto Mono"/>
                <a:sym typeface="Roboto Mono"/>
              </a:rPr>
              <a:t>MobileNetV2</a:t>
            </a:r>
            <a:r>
              <a:rPr b="0" i="1" lang="fr-FR" sz="1700" u="none" cap="none" strike="noStrike">
                <a:solidFill>
                  <a:srgbClr val="0000FF"/>
                </a:solidFill>
                <a:highlight>
                  <a:srgbClr val="FFFFFF"/>
                </a:highlight>
                <a:latin typeface="Roboto"/>
                <a:ea typeface="Roboto"/>
                <a:cs typeface="Roboto"/>
                <a:sym typeface="Roboto"/>
              </a:rPr>
              <a:t> pré-entraîné sur des données partitionnées par Spark, avec </a:t>
            </a:r>
            <a:r>
              <a:rPr b="1" i="1" lang="fr-FR" sz="1700" u="none" cap="none" strike="noStrike">
                <a:solidFill>
                  <a:srgbClr val="FF0000"/>
                </a:solidFill>
                <a:highlight>
                  <a:srgbClr val="FFFFFF"/>
                </a:highlight>
                <a:latin typeface="Roboto"/>
                <a:ea typeface="Roboto"/>
                <a:cs typeface="Roboto"/>
                <a:sym typeface="Roboto"/>
              </a:rPr>
              <a:t>broadcast des poids.</a:t>
            </a:r>
            <a:endParaRPr b="1" i="1" sz="1700" u="none" cap="none" strike="noStrike">
              <a:solidFill>
                <a:srgbClr val="FF0000"/>
              </a:solidFill>
              <a:highlight>
                <a:srgbClr val="FFFFFF"/>
              </a:highlight>
              <a:latin typeface="Roboto"/>
              <a:ea typeface="Roboto"/>
              <a:cs typeface="Roboto"/>
              <a:sym typeface="Roboto"/>
            </a:endParaRPr>
          </a:p>
          <a:p>
            <a:pPr indent="-336550" lvl="1" marL="914400" marR="0" rtl="0" algn="l">
              <a:lnSpc>
                <a:spcPct val="115000"/>
              </a:lnSpc>
              <a:spcBef>
                <a:spcPts val="0"/>
              </a:spcBef>
              <a:spcAft>
                <a:spcPts val="0"/>
              </a:spcAft>
              <a:buClr>
                <a:srgbClr val="0000FF"/>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Gestion des données distribuées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Découverte et adoption du format </a:t>
            </a:r>
            <a:r>
              <a:rPr b="1" i="1" lang="fr-FR" sz="1700" u="none" cap="none" strike="noStrike">
                <a:solidFill>
                  <a:srgbClr val="FF0000"/>
                </a:solidFill>
                <a:highlight>
                  <a:srgbClr val="FFFFFF"/>
                </a:highlight>
                <a:latin typeface="Roboto"/>
                <a:ea typeface="Roboto"/>
                <a:cs typeface="Roboto"/>
                <a:sym typeface="Roboto"/>
              </a:rPr>
              <a:t>Parquet</a:t>
            </a:r>
            <a:r>
              <a:rPr b="0" i="1" lang="fr-FR" sz="1700" u="none" cap="none" strike="noStrike">
                <a:solidFill>
                  <a:srgbClr val="0000FF"/>
                </a:solidFill>
                <a:highlight>
                  <a:srgbClr val="FFFFFF"/>
                </a:highlight>
                <a:latin typeface="Roboto"/>
                <a:ea typeface="Roboto"/>
                <a:cs typeface="Roboto"/>
                <a:sym typeface="Roboto"/>
              </a:rPr>
              <a:t> pour un stockage et un accès optimisés, ainsi que la lecture depuis </a:t>
            </a:r>
            <a:r>
              <a:rPr b="0" i="1" lang="fr-FR" sz="1700" u="none" cap="none" strike="noStrike">
                <a:solidFill>
                  <a:srgbClr val="FF0000"/>
                </a:solidFill>
                <a:highlight>
                  <a:srgbClr val="FFFFFF"/>
                </a:highlight>
                <a:latin typeface="Roboto"/>
                <a:ea typeface="Roboto"/>
                <a:cs typeface="Roboto"/>
                <a:sym typeface="Roboto"/>
              </a:rPr>
              <a:t>S3.</a:t>
            </a:r>
            <a:endParaRPr b="0" i="1" sz="1700" u="none" cap="none" strike="noStrike">
              <a:solidFill>
                <a:srgbClr val="FF0000"/>
              </a:solidFill>
              <a:highlight>
                <a:srgbClr val="FFFFFF"/>
              </a:highlight>
              <a:latin typeface="Roboto"/>
              <a:ea typeface="Roboto"/>
              <a:cs typeface="Roboto"/>
              <a:sym typeface="Roboto"/>
            </a:endParaRPr>
          </a:p>
          <a:p>
            <a:pPr indent="-336550" lvl="1" marL="914400" marR="0" rtl="0" algn="l">
              <a:lnSpc>
                <a:spcPct val="115000"/>
              </a:lnSpc>
              <a:spcBef>
                <a:spcPts val="0"/>
              </a:spcBef>
              <a:spcAft>
                <a:spcPts val="0"/>
              </a:spcAft>
              <a:buClr>
                <a:srgbClr val="0000FF"/>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Écosystème AWS :</a:t>
            </a:r>
            <a:r>
              <a:rPr b="0" i="1" lang="fr-FR" sz="1700" u="none" cap="none" strike="noStrike">
                <a:solidFill>
                  <a:srgbClr val="0000FF"/>
                </a:solidFill>
                <a:highlight>
                  <a:srgbClr val="FFFFFF"/>
                </a:highlight>
                <a:latin typeface="Roboto"/>
                <a:ea typeface="Roboto"/>
                <a:cs typeface="Roboto"/>
                <a:sym typeface="Roboto"/>
              </a:rPr>
              <a:t> Prise en main concrète des services </a:t>
            </a:r>
            <a:r>
              <a:rPr b="1" i="1" lang="fr-FR" sz="1700" u="none" cap="none" strike="noStrike">
                <a:solidFill>
                  <a:srgbClr val="FF0000"/>
                </a:solidFill>
                <a:highlight>
                  <a:srgbClr val="FFFFFF"/>
                </a:highlight>
                <a:latin typeface="Roboto"/>
                <a:ea typeface="Roboto"/>
                <a:cs typeface="Roboto"/>
                <a:sym typeface="Roboto"/>
              </a:rPr>
              <a:t>EMR</a:t>
            </a:r>
            <a:r>
              <a:rPr b="0" i="1" lang="fr-FR" sz="1700" u="none" cap="none" strike="noStrike">
                <a:solidFill>
                  <a:srgbClr val="0000FF"/>
                </a:solidFill>
                <a:highlight>
                  <a:srgbClr val="FFFFFF"/>
                </a:highlight>
                <a:latin typeface="Roboto"/>
                <a:ea typeface="Roboto"/>
                <a:cs typeface="Roboto"/>
                <a:sym typeface="Roboto"/>
              </a:rPr>
              <a:t> (configuration, bootstrapping, gestion des applications), </a:t>
            </a:r>
            <a:r>
              <a:rPr b="1" i="1" lang="fr-FR" sz="1700" u="none" cap="none" strike="noStrike">
                <a:solidFill>
                  <a:srgbClr val="FF0000"/>
                </a:solidFill>
                <a:highlight>
                  <a:srgbClr val="FFFFFF"/>
                </a:highlight>
                <a:latin typeface="Roboto"/>
                <a:ea typeface="Roboto"/>
                <a:cs typeface="Roboto"/>
                <a:sym typeface="Roboto"/>
              </a:rPr>
              <a:t>S3</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(stockage et accès aux données), et configuration réseau avancée (gestion des clés SSH, tunnels, proxy avec FoxyProxy).</a:t>
            </a:r>
            <a:endParaRPr b="0" i="1" sz="1700" u="none" cap="none" strike="noStrike">
              <a:solidFill>
                <a:srgbClr val="0000FF"/>
              </a:solidFill>
              <a:highlight>
                <a:srgbClr val="FFFFFF"/>
              </a:highlight>
              <a:latin typeface="Roboto"/>
              <a:ea typeface="Roboto"/>
              <a:cs typeface="Roboto"/>
              <a:sym typeface="Roboto"/>
            </a:endParaRPr>
          </a:p>
          <a:p>
            <a:pPr indent="-336550" lvl="0" marL="457200" marR="0" rtl="0" algn="l">
              <a:lnSpc>
                <a:spcPct val="115000"/>
              </a:lnSpc>
              <a:spcBef>
                <a:spcPts val="0"/>
              </a:spcBef>
              <a:spcAft>
                <a:spcPts val="0"/>
              </a:spcAft>
              <a:buClr>
                <a:srgbClr val="FF0000"/>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Étapes Futures :</a:t>
            </a:r>
            <a:endParaRPr b="1" i="1" sz="1700" u="none" cap="none" strike="noStrike">
              <a:solidFill>
                <a:srgbClr val="FF0000"/>
              </a:solidFill>
              <a:highlight>
                <a:srgbClr val="FFFFFF"/>
              </a:highlight>
              <a:latin typeface="Roboto"/>
              <a:ea typeface="Roboto"/>
              <a:cs typeface="Roboto"/>
              <a:sym typeface="Roboto"/>
            </a:endParaRPr>
          </a:p>
          <a:p>
            <a:pPr indent="-336550" lvl="1" marL="914400" marR="0" rtl="0" algn="l">
              <a:lnSpc>
                <a:spcPct val="115000"/>
              </a:lnSpc>
              <a:spcBef>
                <a:spcPts val="0"/>
              </a:spcBef>
              <a:spcAft>
                <a:spcPts val="0"/>
              </a:spcAft>
              <a:buClr>
                <a:srgbClr val="0000FF"/>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Traitement à grande échelle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Exécuter le pipeline sur la totalité des 22,688 images du jeu de test.</a:t>
            </a:r>
            <a:endParaRPr b="0" i="1" sz="1700" u="none" cap="none" strike="noStrike">
              <a:solidFill>
                <a:srgbClr val="0000FF"/>
              </a:solidFill>
              <a:highlight>
                <a:srgbClr val="FFFFFF"/>
              </a:highlight>
              <a:latin typeface="Roboto"/>
              <a:ea typeface="Roboto"/>
              <a:cs typeface="Roboto"/>
              <a:sym typeface="Roboto"/>
            </a:endParaRPr>
          </a:p>
          <a:p>
            <a:pPr indent="-336550" lvl="1" marL="914400" marR="0" rtl="0" algn="l">
              <a:lnSpc>
                <a:spcPct val="115000"/>
              </a:lnSpc>
              <a:spcBef>
                <a:spcPts val="0"/>
              </a:spcBef>
              <a:spcAft>
                <a:spcPts val="0"/>
              </a:spcAft>
              <a:buClr>
                <a:srgbClr val="0000FF"/>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Classification des features :</a:t>
            </a:r>
            <a:r>
              <a:rPr b="0" i="1" lang="fr-FR" sz="1700" u="none" cap="none" strike="noStrike">
                <a:solidFill>
                  <a:srgbClr val="0000FF"/>
                </a:solidFill>
                <a:highlight>
                  <a:srgbClr val="FFFFFF"/>
                </a:highlight>
                <a:latin typeface="Roboto"/>
                <a:ea typeface="Roboto"/>
                <a:cs typeface="Roboto"/>
                <a:sym typeface="Roboto"/>
              </a:rPr>
              <a:t> Utiliser les vecteurs de features extraits pour entraîner un classifieur (ex: régression logistique, forêt aléatoire, SVM) avec </a:t>
            </a:r>
            <a:r>
              <a:rPr b="1" i="1" lang="fr-FR" sz="1700" u="none" cap="none" strike="noStrike">
                <a:solidFill>
                  <a:srgbClr val="FF0000"/>
                </a:solidFill>
                <a:highlight>
                  <a:srgbClr val="FFFFFF"/>
                </a:highlight>
                <a:latin typeface="Roboto"/>
                <a:ea typeface="Roboto"/>
                <a:cs typeface="Roboto"/>
                <a:sym typeface="Roboto"/>
              </a:rPr>
              <a:t>Spark MLlib</a:t>
            </a:r>
            <a:r>
              <a:rPr b="0" i="1" lang="fr-FR" sz="1700" u="none" cap="none" strike="noStrike">
                <a:solidFill>
                  <a:srgbClr val="0000FF"/>
                </a:solidFill>
                <a:highlight>
                  <a:srgbClr val="FFFFFF"/>
                </a:highlight>
                <a:latin typeface="Roboto"/>
                <a:ea typeface="Roboto"/>
                <a:cs typeface="Roboto"/>
                <a:sym typeface="Roboto"/>
              </a:rPr>
              <a:t> et évaluer ses performances sur un véritable cluster </a:t>
            </a:r>
            <a:r>
              <a:rPr b="0" i="1" lang="fr-FR" sz="1700" u="none" cap="none" strike="noStrike">
                <a:solidFill>
                  <a:srgbClr val="FF0000"/>
                </a:solidFill>
                <a:highlight>
                  <a:srgbClr val="FFFFFF"/>
                </a:highlight>
                <a:latin typeface="Roboto"/>
                <a:ea typeface="Roboto"/>
                <a:cs typeface="Roboto"/>
                <a:sym typeface="Roboto"/>
              </a:rPr>
              <a:t>EMR</a:t>
            </a:r>
            <a:r>
              <a:rPr b="0" i="1" lang="fr-FR" sz="1700" u="none" cap="none" strike="noStrike">
                <a:solidFill>
                  <a:srgbClr val="0000FF"/>
                </a:solidFill>
                <a:highlight>
                  <a:srgbClr val="FFFFFF"/>
                </a:highlight>
                <a:latin typeface="Roboto"/>
                <a:ea typeface="Roboto"/>
                <a:cs typeface="Roboto"/>
                <a:sym typeface="Roboto"/>
              </a:rPr>
              <a:t>.</a:t>
            </a:r>
            <a:endParaRPr b="0" i="1" sz="1700" u="none" cap="none" strike="noStrike">
              <a:solidFill>
                <a:srgbClr val="0000FF"/>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000FF"/>
              </a:buClr>
              <a:buSzPts val="1200"/>
              <a:buFont typeface="Roboto"/>
              <a:buChar char="○"/>
            </a:pPr>
            <a:r>
              <a:rPr b="1" i="1" lang="fr-FR" sz="1700" u="none" cap="none" strike="noStrike">
                <a:solidFill>
                  <a:srgbClr val="FF0000"/>
                </a:solidFill>
                <a:highlight>
                  <a:srgbClr val="FFFFFF"/>
                </a:highlight>
                <a:latin typeface="Roboto"/>
                <a:ea typeface="Roboto"/>
                <a:cs typeface="Roboto"/>
                <a:sym typeface="Roboto"/>
              </a:rPr>
              <a:t>Optimisation des performances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Tester différentes configurations (nombre de partitions, taille des batches avec </a:t>
            </a:r>
            <a:r>
              <a:rPr b="0" i="1" lang="fr-FR" sz="1550" u="none" cap="none" strike="noStrike">
                <a:solidFill>
                  <a:srgbClr val="0000FF"/>
                </a:solidFill>
                <a:highlight>
                  <a:srgbClr val="EBEEF2"/>
                </a:highlight>
                <a:latin typeface="Roboto Mono"/>
                <a:ea typeface="Roboto Mono"/>
                <a:cs typeface="Roboto Mono"/>
                <a:sym typeface="Roboto Mono"/>
              </a:rPr>
              <a:t>spark.sql.execution.arrow.maxRecordsPerBatch</a:t>
            </a:r>
            <a:r>
              <a:rPr b="0" i="1" lang="fr-FR" sz="1700" u="none" cap="none" strike="noStrike">
                <a:solidFill>
                  <a:srgbClr val="0000FF"/>
                </a:solidFill>
                <a:highlight>
                  <a:srgbClr val="FFFFFF"/>
                </a:highlight>
                <a:latin typeface="Roboto"/>
                <a:ea typeface="Roboto"/>
                <a:cs typeface="Roboto"/>
                <a:sym typeface="Roboto"/>
              </a:rPr>
              <a:t>) pour améliorer la vitesse d'exécution sur le cluster.</a:t>
            </a:r>
            <a:endParaRPr b="0" i="1" sz="1700" u="none" cap="none" strike="noStrike">
              <a:solidFill>
                <a:srgbClr val="0000FF"/>
              </a:solidFill>
              <a:highlight>
                <a:srgbClr val="FFFFFF"/>
              </a:highlight>
              <a:latin typeface="Roboto"/>
              <a:ea typeface="Roboto"/>
              <a:cs typeface="Roboto"/>
              <a:sym typeface="Roboto"/>
            </a:endParaRPr>
          </a:p>
          <a:p>
            <a:pPr indent="-336550" lvl="1" marL="914400" marR="0" rtl="0" algn="l">
              <a:lnSpc>
                <a:spcPct val="115000"/>
              </a:lnSpc>
              <a:spcBef>
                <a:spcPts val="0"/>
              </a:spcBef>
              <a:spcAft>
                <a:spcPts val="0"/>
              </a:spcAft>
              <a:buClr>
                <a:srgbClr val="0000FF"/>
              </a:buClr>
              <a:buSzPts val="1700"/>
              <a:buFont typeface="Roboto"/>
              <a:buChar char="○"/>
            </a:pPr>
            <a:r>
              <a:rPr b="1" i="1" lang="fr-FR" sz="1700" u="none" cap="none" strike="noStrike">
                <a:solidFill>
                  <a:srgbClr val="FF0000"/>
                </a:solidFill>
                <a:highlight>
                  <a:srgbClr val="FFFFFF"/>
                </a:highlight>
                <a:latin typeface="Roboto"/>
                <a:ea typeface="Roboto"/>
                <a:cs typeface="Roboto"/>
                <a:sym typeface="Roboto"/>
              </a:rPr>
              <a:t>Industrialisation du déploiement :</a:t>
            </a:r>
            <a:r>
              <a:rPr b="1" i="1" lang="fr-FR" sz="1700" u="none" cap="none" strike="noStrike">
                <a:solidFill>
                  <a:srgbClr val="0000FF"/>
                </a:solidFill>
                <a:highlight>
                  <a:srgbClr val="FFFFFF"/>
                </a:highlight>
                <a:latin typeface="Roboto"/>
                <a:ea typeface="Roboto"/>
                <a:cs typeface="Roboto"/>
                <a:sym typeface="Roboto"/>
              </a:rPr>
              <a:t> </a:t>
            </a:r>
            <a:r>
              <a:rPr b="0" i="1" lang="fr-FR" sz="1700" u="none" cap="none" strike="noStrike">
                <a:solidFill>
                  <a:srgbClr val="0000FF"/>
                </a:solidFill>
                <a:highlight>
                  <a:srgbClr val="FFFFFF"/>
                </a:highlight>
                <a:latin typeface="Roboto"/>
                <a:ea typeface="Roboto"/>
                <a:cs typeface="Roboto"/>
                <a:sym typeface="Roboto"/>
              </a:rPr>
              <a:t>Automatiser la création et la configuration du cluster </a:t>
            </a:r>
            <a:r>
              <a:rPr b="0" i="1" lang="fr-FR" sz="1700" u="none" cap="none" strike="noStrike">
                <a:solidFill>
                  <a:srgbClr val="FF0000"/>
                </a:solidFill>
                <a:highlight>
                  <a:srgbClr val="FFFFFF"/>
                </a:highlight>
                <a:latin typeface="Roboto"/>
                <a:ea typeface="Roboto"/>
                <a:cs typeface="Roboto"/>
                <a:sym typeface="Roboto"/>
              </a:rPr>
              <a:t>EMR</a:t>
            </a:r>
            <a:r>
              <a:rPr b="0" i="1" lang="fr-FR" sz="1700" u="none" cap="none" strike="noStrike">
                <a:solidFill>
                  <a:srgbClr val="0000FF"/>
                </a:solidFill>
                <a:highlight>
                  <a:srgbClr val="FFFFFF"/>
                </a:highlight>
                <a:latin typeface="Roboto"/>
                <a:ea typeface="Roboto"/>
                <a:cs typeface="Roboto"/>
                <a:sym typeface="Roboto"/>
              </a:rPr>
              <a:t> à l'aide d'outils comme </a:t>
            </a:r>
            <a:r>
              <a:rPr b="1" i="1" lang="fr-FR" sz="1700" u="none" cap="none" strike="noStrike">
                <a:solidFill>
                  <a:srgbClr val="FF0000"/>
                </a:solidFill>
                <a:highlight>
                  <a:srgbClr val="FFFFFF"/>
                </a:highlight>
                <a:latin typeface="Roboto"/>
                <a:ea typeface="Roboto"/>
                <a:cs typeface="Roboto"/>
                <a:sym typeface="Roboto"/>
              </a:rPr>
              <a:t>AWS CloudFormation</a:t>
            </a:r>
            <a:r>
              <a:rPr b="0" i="1" lang="fr-FR" sz="1700" u="none" cap="none" strike="noStrike">
                <a:solidFill>
                  <a:srgbClr val="0000FF"/>
                </a:solidFill>
                <a:highlight>
                  <a:srgbClr val="FFFFFF"/>
                </a:highlight>
                <a:latin typeface="Roboto"/>
                <a:ea typeface="Roboto"/>
                <a:cs typeface="Roboto"/>
                <a:sym typeface="Roboto"/>
              </a:rPr>
              <a:t> ou des scripts pour une reproductibilité parfaite.</a:t>
            </a:r>
            <a:endParaRPr b="0" i="1" sz="1700" u="none" cap="none" strike="noStrike">
              <a:solidFill>
                <a:srgbClr val="0000FF"/>
              </a:solidFill>
              <a:highlight>
                <a:srgbClr val="FFFFFF"/>
              </a:highlight>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b="0" l="0" r="0" t="0"/>
          <a:stretch/>
        </p:blipFill>
        <p:spPr>
          <a:xfrm>
            <a:off x="0" y="0"/>
            <a:ext cx="12182400" cy="6848282"/>
          </a:xfrm>
          <a:prstGeom prst="rect">
            <a:avLst/>
          </a:prstGeom>
          <a:noFill/>
          <a:ln>
            <a:noFill/>
          </a:ln>
        </p:spPr>
      </p:pic>
      <p:sp>
        <p:nvSpPr>
          <p:cNvPr id="212" name="Google Shape;212;p26"/>
          <p:cNvSpPr/>
          <p:nvPr/>
        </p:nvSpPr>
        <p:spPr>
          <a:xfrm>
            <a:off x="393840" y="2204280"/>
            <a:ext cx="3309900" cy="82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00"/>
              <a:buFont typeface="Arial"/>
              <a:buNone/>
            </a:pPr>
            <a:r>
              <a:rPr b="0" i="0" lang="fr-FR" sz="5400" u="none" cap="none" strike="noStrike">
                <a:solidFill>
                  <a:srgbClr val="FFFFFF"/>
                </a:solidFill>
                <a:latin typeface="Yeseva One"/>
                <a:ea typeface="Yeseva One"/>
                <a:cs typeface="Yeseva One"/>
                <a:sym typeface="Yeseva One"/>
              </a:rPr>
              <a:t>THANKS ! </a:t>
            </a:r>
            <a:endParaRPr b="0" i="0" sz="5400" u="none" cap="none" strike="noStrike">
              <a:solidFill>
                <a:srgbClr val="FFFFFF"/>
              </a:solidFill>
              <a:latin typeface="Yeseva One"/>
              <a:ea typeface="Yeseva One"/>
              <a:cs typeface="Yeseva One"/>
              <a:sym typeface="Yeseva One"/>
            </a:endParaRPr>
          </a:p>
          <a:p>
            <a:pPr indent="0" lvl="0" marL="0" marR="0" rtl="0" algn="l">
              <a:lnSpc>
                <a:spcPct val="100000"/>
              </a:lnSpc>
              <a:spcBef>
                <a:spcPts val="0"/>
              </a:spcBef>
              <a:spcAft>
                <a:spcPts val="0"/>
              </a:spcAft>
              <a:buClr>
                <a:srgbClr val="000000"/>
              </a:buClr>
              <a:buSzPts val="5400"/>
              <a:buFont typeface="Arial"/>
              <a:buNone/>
            </a:pPr>
            <a:r>
              <a:rPr b="0" i="0" lang="fr-FR" sz="5400" u="none" cap="none" strike="noStrike">
                <a:solidFill>
                  <a:srgbClr val="FFFFFF"/>
                </a:solidFill>
                <a:latin typeface="Yeseva One"/>
                <a:ea typeface="Yeseva One"/>
                <a:cs typeface="Yeseva One"/>
                <a:sym typeface="Yeseva One"/>
              </a:rPr>
              <a:t>Merci de votre attention  </a:t>
            </a:r>
            <a:endParaRPr b="0" i="0" sz="5400" u="none" cap="none" strike="noStrike">
              <a:solidFill>
                <a:srgbClr val="FFFFFF"/>
              </a:solidFill>
              <a:latin typeface="Yeseva One"/>
              <a:ea typeface="Yeseva One"/>
              <a:cs typeface="Yeseva One"/>
              <a:sym typeface="Yeseva One"/>
            </a:endParaRPr>
          </a:p>
          <a:p>
            <a:pPr indent="0" lvl="0" marL="0" marR="0" rtl="0" algn="l">
              <a:lnSpc>
                <a:spcPct val="100000"/>
              </a:lnSpc>
              <a:spcBef>
                <a:spcPts val="0"/>
              </a:spcBef>
              <a:spcAft>
                <a:spcPts val="0"/>
              </a:spcAft>
              <a:buClr>
                <a:srgbClr val="000000"/>
              </a:buClr>
              <a:buSzPts val="5400"/>
              <a:buFont typeface="Arial"/>
              <a:buNone/>
            </a:pPr>
            <a:r>
              <a:t/>
            </a:r>
            <a:endParaRPr b="0" i="0" sz="5400" u="none" cap="none" strike="noStrike">
              <a:solidFill>
                <a:srgbClr val="FFFFFF"/>
              </a:solidFill>
              <a:latin typeface="Yeseva One"/>
              <a:ea typeface="Yeseva One"/>
              <a:cs typeface="Yeseva One"/>
              <a:sym typeface="Yeseva One"/>
            </a:endParaRPr>
          </a:p>
        </p:txBody>
      </p:sp>
      <p:sp>
        <p:nvSpPr>
          <p:cNvPr id="213" name="Google Shape;213;p26"/>
          <p:cNvSpPr/>
          <p:nvPr/>
        </p:nvSpPr>
        <p:spPr>
          <a:xfrm>
            <a:off x="155800" y="3026875"/>
            <a:ext cx="6420900" cy="36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214" name="Google Shape;214;p26"/>
          <p:cNvSpPr/>
          <p:nvPr/>
        </p:nvSpPr>
        <p:spPr>
          <a:xfrm>
            <a:off x="412920" y="4172040"/>
            <a:ext cx="3927258" cy="378"/>
          </a:xfrm>
          <a:custGeom>
            <a:rect b="b" l="l" r="r" t="t"/>
            <a:pathLst>
              <a:path extrusionOk="0" h="21600" w="21600">
                <a:moveTo>
                  <a:pt x="0" y="0"/>
                </a:moveTo>
                <a:lnTo>
                  <a:pt x="21600" y="21600"/>
                </a:lnTo>
              </a:path>
            </a:pathLst>
          </a:custGeom>
          <a:noFill/>
          <a:ln cap="flat" cmpd="sng" w="9525">
            <a:solidFill>
              <a:srgbClr val="FFFFFF"/>
            </a:solidFill>
            <a:prstDash val="solid"/>
            <a:round/>
            <a:headEnd len="sm" w="sm" type="none"/>
            <a:tailEnd len="sm" w="sm" type="none"/>
          </a:ln>
        </p:spPr>
      </p:sp>
    </p:spTree>
  </p:cSld>
  <p:clrMapOvr>
    <a:masterClrMapping/>
  </p:clrMapOvr>
  <p:transition spd="slow" p14:dur="1500">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1400"/>
                                  </p:stCondLst>
                                  <p:childTnLst>
                                    <p:set>
                                      <p:cBhvr>
                                        <p:cTn dur="1" fill="hold">
                                          <p:stCondLst>
                                            <p:cond delay="0"/>
                                          </p:stCondLst>
                                        </p:cTn>
                                        <p:tgtEl>
                                          <p:spTgt spid="212"/>
                                        </p:tgtEl>
                                        <p:attrNameLst>
                                          <p:attrName>style.visibility</p:attrName>
                                        </p:attrNameLst>
                                      </p:cBhvr>
                                      <p:to>
                                        <p:strVal val="visible"/>
                                      </p:to>
                                    </p:set>
                                    <p:animEffect filter="fade" transition="in">
                                      <p:cBhvr>
                                        <p:cTn dur="750"/>
                                        <p:tgtEl>
                                          <p:spTgt spid="212"/>
                                        </p:tgtEl>
                                      </p:cBhvr>
                                    </p:animEffect>
                                  </p:childTnLst>
                                </p:cTn>
                              </p:par>
                              <p:par>
                                <p:cTn fill="hold" nodeType="withEffect" presetClass="entr" presetID="10" presetSubtype="0">
                                  <p:stCondLst>
                                    <p:cond delay="2200"/>
                                  </p:stCondLst>
                                  <p:childTnLst>
                                    <p:set>
                                      <p:cBhvr>
                                        <p:cTn dur="1" fill="hold">
                                          <p:stCondLst>
                                            <p:cond delay="0"/>
                                          </p:stCondLst>
                                        </p:cTn>
                                        <p:tgtEl>
                                          <p:spTgt spid="213"/>
                                        </p:tgtEl>
                                        <p:attrNameLst>
                                          <p:attrName>style.visibility</p:attrName>
                                        </p:attrNameLst>
                                      </p:cBhvr>
                                      <p:to>
                                        <p:strVal val="visible"/>
                                      </p:to>
                                    </p:set>
                                    <p:animEffect filter="fade" transition="in">
                                      <p:cBhvr>
                                        <p:cTn dur="750"/>
                                        <p:tgtEl>
                                          <p:spTgt spid="213"/>
                                        </p:tgtEl>
                                      </p:cBhvr>
                                    </p:animEffect>
                                  </p:childTnLst>
                                </p:cTn>
                              </p:par>
                              <p:par>
                                <p:cTn fill="hold" nodeType="withEffect" presetClass="entr" presetID="10" presetSubtype="0">
                                  <p:stCondLst>
                                    <p:cond delay="300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38135"/>
      </a:accent1>
      <a:accent2>
        <a:srgbClr val="ED7D31"/>
      </a:accent2>
      <a:accent3>
        <a:srgbClr val="A5A5A5"/>
      </a:accent3>
      <a:accent4>
        <a:srgbClr val="FFC000"/>
      </a:accent4>
      <a:accent5>
        <a:srgbClr val="375623"/>
      </a:accent5>
      <a:accent6>
        <a:srgbClr val="70AD47"/>
      </a:accent6>
      <a:hlink>
        <a:srgbClr val="3756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38135"/>
      </a:accent1>
      <a:accent2>
        <a:srgbClr val="ED7D31"/>
      </a:accent2>
      <a:accent3>
        <a:srgbClr val="A5A5A5"/>
      </a:accent3>
      <a:accent4>
        <a:srgbClr val="FFC000"/>
      </a:accent4>
      <a:accent5>
        <a:srgbClr val="375623"/>
      </a:accent5>
      <a:accent6>
        <a:srgbClr val="70AD47"/>
      </a:accent6>
      <a:hlink>
        <a:srgbClr val="3756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2021-05-10T15:49:33Z</dcterms:created>
  <dc:creator>china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2052-3.4.0.5283</vt:lpwstr>
  </property>
</Properties>
</file>