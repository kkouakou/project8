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custom-properties+xml" PartName="/docProps/custom.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custom-properties" Target="docProps/custom.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Lst>
  <p:sldSz cy="6858000" cx="12192000"/>
  <p:notesSz cx="6858000" cy="9144000"/>
  <p:embeddedFontLst>
    <p:embeddedFont>
      <p:font typeface="Roboto"/>
      <p:regular r:id="rId24"/>
      <p:bold r:id="rId25"/>
      <p:italic r:id="rId26"/>
      <p:boldItalic r:id="rId27"/>
    </p:embeddedFont>
    <p:embeddedFont>
      <p:font typeface="Yeseva One"/>
      <p:regular r:id="rId28"/>
    </p:embeddedFont>
    <p:embeddedFont>
      <p:font typeface="Roboto Mono"/>
      <p:regular r:id="rId29"/>
      <p:bold r:id="rId30"/>
      <p:italic r:id="rId31"/>
      <p:boldItalic r:id="rId3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3" roundtripDataSignature="AMtx7mjfd4uhCKApD86cZ43djlu3CV0I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font" Target="fonts/Roboto-regular.fntdata"/><Relationship Id="rId23" Type="http://schemas.openxmlformats.org/officeDocument/2006/relationships/slide" Target="slides/slide19.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font" Target="fonts/Roboto-italic.fntdata"/><Relationship Id="rId25" Type="http://schemas.openxmlformats.org/officeDocument/2006/relationships/font" Target="fonts/Roboto-bold.fntdata"/><Relationship Id="rId28" Type="http://schemas.openxmlformats.org/officeDocument/2006/relationships/font" Target="fonts/YesevaOne-regular.fntdata"/><Relationship Id="rId27" Type="http://schemas.openxmlformats.org/officeDocument/2006/relationships/font" Target="fonts/Roboto-boldItalic.fntdata"/><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font" Target="fonts/RobotoMono-regular.fntdata"/><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font" Target="fonts/RobotoMono-italic.fntdata"/><Relationship Id="rId30" Type="http://schemas.openxmlformats.org/officeDocument/2006/relationships/font" Target="fonts/RobotoMono-bold.fntdata"/><Relationship Id="rId11" Type="http://schemas.openxmlformats.org/officeDocument/2006/relationships/slide" Target="slides/slide7.xml"/><Relationship Id="rId33" Type="http://customschemas.google.com/relationships/presentationmetadata" Target="metadata"/><Relationship Id="rId10" Type="http://schemas.openxmlformats.org/officeDocument/2006/relationships/slide" Target="slides/slide6.xml"/><Relationship Id="rId32" Type="http://schemas.openxmlformats.org/officeDocument/2006/relationships/font" Target="fonts/RobotoMono-boldItalic.fntdata"/><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216000" y="812520"/>
            <a:ext cx="7127280" cy="40089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 name="Google Shape;4;n"/>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5" name="Google Shape;5;n"/>
          <p:cNvSpPr txBox="1"/>
          <p:nvPr>
            <p:ph idx="3" type="hdr"/>
          </p:nvPr>
        </p:nvSpPr>
        <p:spPr>
          <a:xfrm>
            <a:off x="0" y="0"/>
            <a:ext cx="3280680" cy="534240"/>
          </a:xfrm>
          <a:prstGeom prst="rect">
            <a:avLst/>
          </a:prstGeom>
          <a:noFill/>
          <a:ln>
            <a:noFill/>
          </a:ln>
        </p:spPr>
        <p:txBody>
          <a:bodyPr anchorCtr="0" anchor="t" bIns="0" lIns="0" spcFirstLastPara="1" rIns="0" wrap="square" tIns="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6" name="Google Shape;6;n"/>
          <p:cNvSpPr txBox="1"/>
          <p:nvPr>
            <p:ph idx="10" type="dt"/>
          </p:nvPr>
        </p:nvSpPr>
        <p:spPr>
          <a:xfrm>
            <a:off x="4278960" y="0"/>
            <a:ext cx="3280680" cy="534240"/>
          </a:xfrm>
          <a:prstGeom prst="rect">
            <a:avLst/>
          </a:prstGeom>
          <a:noFill/>
          <a:ln>
            <a:noFill/>
          </a:ln>
        </p:spPr>
        <p:txBody>
          <a:bodyPr anchorCtr="0" anchor="t" bIns="0" lIns="0" spcFirstLastPara="1" rIns="0" wrap="square" tIns="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7" name="Google Shape;7;n"/>
          <p:cNvSpPr txBox="1"/>
          <p:nvPr>
            <p:ph idx="11" type="ftr"/>
          </p:nvPr>
        </p:nvSpPr>
        <p:spPr>
          <a:xfrm>
            <a:off x="0" y="10157400"/>
            <a:ext cx="3280680" cy="534240"/>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4278960" y="10157400"/>
            <a:ext cx="3280680" cy="53424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None/>
            </a:pPr>
            <a:fld id="{00000000-1234-1234-1234-123412341234}" type="slidenum">
              <a:rPr b="0" i="0" lang="fr-FR" sz="1400" u="none" cap="none" strike="noStrike">
                <a:latin typeface="Times New Roman"/>
                <a:ea typeface="Times New Roman"/>
                <a:cs typeface="Times New Roman"/>
                <a:sym typeface="Times New Roman"/>
              </a:rPr>
              <a:t>‹#›</a:t>
            </a:fld>
            <a:endParaRPr b="0" i="0" sz="1400" u="none" cap="none" strike="noStrike">
              <a:latin typeface="Times New Roman"/>
              <a:ea typeface="Times New Roman"/>
              <a:cs typeface="Times New Roman"/>
              <a:sym typeface="Times New Roman"/>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1:notes"/>
          <p:cNvSpPr/>
          <p:nvPr>
            <p:ph idx="2" type="sldImg"/>
          </p:nvPr>
        </p:nvSpPr>
        <p:spPr>
          <a:xfrm>
            <a:off x="685800" y="1143000"/>
            <a:ext cx="5476680" cy="3076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 name="Google Shape;62;p1:notes"/>
          <p:cNvSpPr txBox="1"/>
          <p:nvPr>
            <p:ph idx="1" type="body"/>
          </p:nvPr>
        </p:nvSpPr>
        <p:spPr>
          <a:xfrm>
            <a:off x="685800" y="4400640"/>
            <a:ext cx="5476680" cy="3590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63" name="Google Shape;63;p1:notes"/>
          <p:cNvSpPr txBox="1"/>
          <p:nvPr>
            <p:ph idx="12" type="sldNum"/>
          </p:nvPr>
        </p:nvSpPr>
        <p:spPr>
          <a:xfrm>
            <a:off x="3884760" y="8685360"/>
            <a:ext cx="2962080" cy="448920"/>
          </a:xfrm>
          <a:prstGeom prst="rect">
            <a:avLst/>
          </a:prstGeom>
          <a:noFill/>
          <a:ln>
            <a:noFill/>
          </a:ln>
        </p:spPr>
        <p:txBody>
          <a:bodyPr anchorCtr="0" anchor="b" bIns="0" lIns="0" spcFirstLastPara="1" rIns="0" wrap="square" tIns="0">
            <a:noAutofit/>
          </a:bodyPr>
          <a:lstStyle/>
          <a:p>
            <a:pPr indent="0" lvl="0" marL="0" rtl="0" algn="r">
              <a:lnSpc>
                <a:spcPct val="100000"/>
              </a:lnSpc>
              <a:spcBef>
                <a:spcPts val="0"/>
              </a:spcBef>
              <a:spcAft>
                <a:spcPts val="0"/>
              </a:spcAft>
              <a:buNone/>
            </a:pPr>
            <a:fld id="{00000000-1234-1234-1234-123412341234}" type="slidenum">
              <a:rPr b="0" lang="fr-FR" sz="1400" strike="noStrike">
                <a:latin typeface="Times New Roman"/>
                <a:ea typeface="Times New Roman"/>
                <a:cs typeface="Times New Roman"/>
                <a:sym typeface="Times New Roman"/>
              </a:rPr>
              <a:t>‹#›</a:t>
            </a:fld>
            <a:endParaRPr b="0" sz="1400" strike="noStrike">
              <a:latin typeface="Times New Roman"/>
              <a:ea typeface="Times New Roman"/>
              <a:cs typeface="Times New Roman"/>
              <a:sym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p2:notes"/>
          <p:cNvSpPr/>
          <p:nvPr>
            <p:ph idx="2" type="sldImg"/>
          </p:nvPr>
        </p:nvSpPr>
        <p:spPr>
          <a:xfrm>
            <a:off x="685800" y="1143000"/>
            <a:ext cx="5476680" cy="3076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 name="Google Shape;72;p2:notes"/>
          <p:cNvSpPr txBox="1"/>
          <p:nvPr>
            <p:ph idx="1" type="body"/>
          </p:nvPr>
        </p:nvSpPr>
        <p:spPr>
          <a:xfrm>
            <a:off x="685800" y="4400640"/>
            <a:ext cx="5476680" cy="3591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73" name="Google Shape;73;p2:notes"/>
          <p:cNvSpPr txBox="1"/>
          <p:nvPr>
            <p:ph idx="12" type="sldNum"/>
          </p:nvPr>
        </p:nvSpPr>
        <p:spPr>
          <a:xfrm>
            <a:off x="3884760" y="8685360"/>
            <a:ext cx="2962080" cy="448920"/>
          </a:xfrm>
          <a:prstGeom prst="rect">
            <a:avLst/>
          </a:prstGeom>
          <a:noFill/>
          <a:ln>
            <a:noFill/>
          </a:ln>
        </p:spPr>
        <p:txBody>
          <a:bodyPr anchorCtr="0" anchor="b" bIns="0" lIns="0" spcFirstLastPara="1" rIns="0" wrap="square" tIns="0">
            <a:noAutofit/>
          </a:bodyPr>
          <a:lstStyle/>
          <a:p>
            <a:pPr indent="0" lvl="0" marL="0" rtl="0" algn="r">
              <a:lnSpc>
                <a:spcPct val="100000"/>
              </a:lnSpc>
              <a:spcBef>
                <a:spcPts val="0"/>
              </a:spcBef>
              <a:spcAft>
                <a:spcPts val="0"/>
              </a:spcAft>
              <a:buNone/>
            </a:pPr>
            <a:fld id="{00000000-1234-1234-1234-123412341234}" type="slidenum">
              <a:rPr b="0" lang="fr-FR" sz="1400" strike="noStrike">
                <a:latin typeface="Times New Roman"/>
                <a:ea typeface="Times New Roman"/>
                <a:cs typeface="Times New Roman"/>
                <a:sym typeface="Times New Roman"/>
              </a:rPr>
              <a:t>‹#›</a:t>
            </a:fld>
            <a:endParaRPr b="0" sz="1400" strike="noStrike">
              <a:latin typeface="Times New Roman"/>
              <a:ea typeface="Times New Roman"/>
              <a:cs typeface="Times New Roman"/>
              <a:sym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3:notes"/>
          <p:cNvSpPr txBox="1"/>
          <p:nvPr>
            <p:ph idx="1" type="body"/>
          </p:nvPr>
        </p:nvSpPr>
        <p:spPr>
          <a:xfrm>
            <a:off x="756000" y="5078520"/>
            <a:ext cx="6047640" cy="481104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78" name="Google Shape;78;p3:notes"/>
          <p:cNvSpPr/>
          <p:nvPr>
            <p:ph idx="2" type="sldImg"/>
          </p:nvPr>
        </p:nvSpPr>
        <p:spPr>
          <a:xfrm>
            <a:off x="216000" y="812520"/>
            <a:ext cx="7127280" cy="400896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95896f6180_0_0:notes"/>
          <p:cNvSpPr/>
          <p:nvPr>
            <p:ph idx="2" type="sldImg"/>
          </p:nvPr>
        </p:nvSpPr>
        <p:spPr>
          <a:xfrm>
            <a:off x="216000" y="812520"/>
            <a:ext cx="7127400" cy="4008900"/>
          </a:xfrm>
          <a:custGeom>
            <a:rect b="b" l="l" r="r" t="t"/>
            <a:pathLst>
              <a:path extrusionOk="0" h="120000" w="120000">
                <a:moveTo>
                  <a:pt x="0" y="0"/>
                </a:moveTo>
                <a:lnTo>
                  <a:pt x="120000" y="0"/>
                </a:lnTo>
                <a:lnTo>
                  <a:pt x="120000" y="120000"/>
                </a:lnTo>
                <a:lnTo>
                  <a:pt x="0" y="120000"/>
                </a:lnTo>
                <a:close/>
              </a:path>
            </a:pathLst>
          </a:custGeom>
        </p:spPr>
      </p:sp>
      <p:sp>
        <p:nvSpPr>
          <p:cNvPr id="83" name="Google Shape;83;g395896f6180_0_0:notes"/>
          <p:cNvSpPr txBox="1"/>
          <p:nvPr>
            <p:ph idx="1" type="body"/>
          </p:nvPr>
        </p:nvSpPr>
        <p:spPr>
          <a:xfrm>
            <a:off x="756000" y="5078520"/>
            <a:ext cx="6047700" cy="4811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84" name="Google Shape;84;g395896f6180_0_0:notes"/>
          <p:cNvSpPr txBox="1"/>
          <p:nvPr>
            <p:ph idx="12" type="sldNum"/>
          </p:nvPr>
        </p:nvSpPr>
        <p:spPr>
          <a:xfrm>
            <a:off x="4278960" y="10157400"/>
            <a:ext cx="3280800" cy="534300"/>
          </a:xfrm>
          <a:prstGeom prst="rect">
            <a:avLst/>
          </a:prstGeom>
        </p:spPr>
        <p:txBody>
          <a:bodyPr anchorCtr="0" anchor="b" bIns="0" lIns="0" spcFirstLastPara="1" rIns="0" wrap="square" tIns="0">
            <a:noAutofit/>
          </a:bodyPr>
          <a:lstStyle/>
          <a:p>
            <a:pPr indent="0" lvl="0" marL="0" rtl="0" algn="r">
              <a:spcBef>
                <a:spcPts val="0"/>
              </a:spcBef>
              <a:spcAft>
                <a:spcPts val="0"/>
              </a:spcAft>
              <a:buClr>
                <a:srgbClr val="000000"/>
              </a:buClr>
              <a:buFont typeface="Arial"/>
              <a:buNone/>
            </a:pPr>
            <a:fld id="{00000000-1234-1234-1234-123412341234}" type="slidenum">
              <a:rPr lang="fr-FR"/>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6:notes"/>
          <p:cNvSpPr txBox="1"/>
          <p:nvPr>
            <p:ph idx="1" type="body"/>
          </p:nvPr>
        </p:nvSpPr>
        <p:spPr>
          <a:xfrm>
            <a:off x="756000" y="5078520"/>
            <a:ext cx="6047640" cy="481104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92" name="Google Shape;92;p6:notes"/>
          <p:cNvSpPr/>
          <p:nvPr>
            <p:ph idx="2" type="sldImg"/>
          </p:nvPr>
        </p:nvSpPr>
        <p:spPr>
          <a:xfrm>
            <a:off x="216000" y="812520"/>
            <a:ext cx="7127280" cy="400896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958445f59d_3_0:notes"/>
          <p:cNvSpPr/>
          <p:nvPr>
            <p:ph idx="2" type="sldImg"/>
          </p:nvPr>
        </p:nvSpPr>
        <p:spPr>
          <a:xfrm>
            <a:off x="216000" y="812520"/>
            <a:ext cx="7127400" cy="4008900"/>
          </a:xfrm>
          <a:custGeom>
            <a:rect b="b" l="l" r="r" t="t"/>
            <a:pathLst>
              <a:path extrusionOk="0" h="120000" w="120000">
                <a:moveTo>
                  <a:pt x="0" y="0"/>
                </a:moveTo>
                <a:lnTo>
                  <a:pt x="120000" y="0"/>
                </a:lnTo>
                <a:lnTo>
                  <a:pt x="120000" y="120000"/>
                </a:lnTo>
                <a:lnTo>
                  <a:pt x="0" y="120000"/>
                </a:lnTo>
                <a:close/>
              </a:path>
            </a:pathLst>
          </a:custGeom>
        </p:spPr>
      </p:sp>
      <p:sp>
        <p:nvSpPr>
          <p:cNvPr id="97" name="Google Shape;97;g3958445f59d_3_0:notes"/>
          <p:cNvSpPr txBox="1"/>
          <p:nvPr>
            <p:ph idx="1" type="body"/>
          </p:nvPr>
        </p:nvSpPr>
        <p:spPr>
          <a:xfrm>
            <a:off x="756000" y="5078520"/>
            <a:ext cx="6047700" cy="4811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98" name="Google Shape;98;g3958445f59d_3_0:notes"/>
          <p:cNvSpPr txBox="1"/>
          <p:nvPr>
            <p:ph idx="12" type="sldNum"/>
          </p:nvPr>
        </p:nvSpPr>
        <p:spPr>
          <a:xfrm>
            <a:off x="4278960" y="10157400"/>
            <a:ext cx="3280800" cy="534300"/>
          </a:xfrm>
          <a:prstGeom prst="rect">
            <a:avLst/>
          </a:prstGeom>
        </p:spPr>
        <p:txBody>
          <a:bodyPr anchorCtr="0" anchor="b" bIns="0" lIns="0" spcFirstLastPara="1" rIns="0" wrap="square" tIns="0">
            <a:noAutofit/>
          </a:bodyPr>
          <a:lstStyle/>
          <a:p>
            <a:pPr indent="0" lvl="0" marL="0" rtl="0" algn="r">
              <a:spcBef>
                <a:spcPts val="0"/>
              </a:spcBef>
              <a:spcAft>
                <a:spcPts val="0"/>
              </a:spcAft>
              <a:buClr>
                <a:srgbClr val="000000"/>
              </a:buClr>
              <a:buFont typeface="Arial"/>
              <a:buNone/>
            </a:pPr>
            <a:fld id="{00000000-1234-1234-1234-123412341234}" type="slidenum">
              <a:rPr lang="fr-FR"/>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958445f59d_7_0:notes"/>
          <p:cNvSpPr/>
          <p:nvPr>
            <p:ph idx="2" type="sldImg"/>
          </p:nvPr>
        </p:nvSpPr>
        <p:spPr>
          <a:xfrm>
            <a:off x="216000" y="812520"/>
            <a:ext cx="7127400" cy="40089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958445f59d_7_0:notes"/>
          <p:cNvSpPr txBox="1"/>
          <p:nvPr>
            <p:ph idx="1" type="body"/>
          </p:nvPr>
        </p:nvSpPr>
        <p:spPr>
          <a:xfrm>
            <a:off x="756000" y="5078520"/>
            <a:ext cx="6047700" cy="4811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04" name="Google Shape;104;g3958445f59d_7_0:notes"/>
          <p:cNvSpPr txBox="1"/>
          <p:nvPr>
            <p:ph idx="12" type="sldNum"/>
          </p:nvPr>
        </p:nvSpPr>
        <p:spPr>
          <a:xfrm>
            <a:off x="4278960" y="10157400"/>
            <a:ext cx="3280800" cy="534300"/>
          </a:xfrm>
          <a:prstGeom prst="rect">
            <a:avLst/>
          </a:prstGeom>
        </p:spPr>
        <p:txBody>
          <a:bodyPr anchorCtr="0" anchor="b" bIns="0" lIns="0" spcFirstLastPara="1" rIns="0" wrap="square" tIns="0">
            <a:noAutofit/>
          </a:bodyPr>
          <a:lstStyle/>
          <a:p>
            <a:pPr indent="0" lvl="0" marL="0" rtl="0" algn="r">
              <a:spcBef>
                <a:spcPts val="0"/>
              </a:spcBef>
              <a:spcAft>
                <a:spcPts val="0"/>
              </a:spcAft>
              <a:buClr>
                <a:srgbClr val="000000"/>
              </a:buClr>
              <a:buFont typeface="Arial"/>
              <a:buNone/>
            </a:pPr>
            <a:fld id="{00000000-1234-1234-1234-123412341234}" type="slidenum">
              <a:rPr lang="fr-FR"/>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958445f59d_8_0:notes"/>
          <p:cNvSpPr/>
          <p:nvPr>
            <p:ph idx="2" type="sldImg"/>
          </p:nvPr>
        </p:nvSpPr>
        <p:spPr>
          <a:xfrm>
            <a:off x="216000" y="812520"/>
            <a:ext cx="7127400" cy="40089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958445f59d_8_0:notes"/>
          <p:cNvSpPr txBox="1"/>
          <p:nvPr>
            <p:ph idx="1" type="body"/>
          </p:nvPr>
        </p:nvSpPr>
        <p:spPr>
          <a:xfrm>
            <a:off x="756000" y="5078520"/>
            <a:ext cx="6047700" cy="4811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10" name="Google Shape;110;g3958445f59d_8_0:notes"/>
          <p:cNvSpPr txBox="1"/>
          <p:nvPr>
            <p:ph idx="12" type="sldNum"/>
          </p:nvPr>
        </p:nvSpPr>
        <p:spPr>
          <a:xfrm>
            <a:off x="4278960" y="10157400"/>
            <a:ext cx="3280800" cy="534300"/>
          </a:xfrm>
          <a:prstGeom prst="rect">
            <a:avLst/>
          </a:prstGeom>
        </p:spPr>
        <p:txBody>
          <a:bodyPr anchorCtr="0" anchor="b" bIns="0" lIns="0" spcFirstLastPara="1" rIns="0" wrap="square" tIns="0">
            <a:noAutofit/>
          </a:bodyPr>
          <a:lstStyle/>
          <a:p>
            <a:pPr indent="0" lvl="0" marL="0" rtl="0" algn="r">
              <a:spcBef>
                <a:spcPts val="0"/>
              </a:spcBef>
              <a:spcAft>
                <a:spcPts val="0"/>
              </a:spcAft>
              <a:buClr>
                <a:srgbClr val="000000"/>
              </a:buClr>
              <a:buFont typeface="Arial"/>
              <a:buNone/>
            </a:pPr>
            <a:fld id="{00000000-1234-1234-1234-123412341234}" type="slidenum">
              <a:rPr lang="fr-FR"/>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g39587452415_0_4:notes"/>
          <p:cNvSpPr/>
          <p:nvPr>
            <p:ph idx="2" type="sldImg"/>
          </p:nvPr>
        </p:nvSpPr>
        <p:spPr>
          <a:xfrm>
            <a:off x="216000" y="812520"/>
            <a:ext cx="7127400" cy="4008900"/>
          </a:xfrm>
          <a:custGeom>
            <a:rect b="b" l="l" r="r" t="t"/>
            <a:pathLst>
              <a:path extrusionOk="0" h="120000" w="120000">
                <a:moveTo>
                  <a:pt x="0" y="0"/>
                </a:moveTo>
                <a:lnTo>
                  <a:pt x="120000" y="0"/>
                </a:lnTo>
                <a:lnTo>
                  <a:pt x="120000" y="120000"/>
                </a:lnTo>
                <a:lnTo>
                  <a:pt x="0" y="120000"/>
                </a:lnTo>
                <a:close/>
              </a:path>
            </a:pathLst>
          </a:custGeom>
        </p:spPr>
      </p:sp>
      <p:sp>
        <p:nvSpPr>
          <p:cNvPr id="115" name="Google Shape;115;g39587452415_0_4:notes"/>
          <p:cNvSpPr txBox="1"/>
          <p:nvPr>
            <p:ph idx="1" type="body"/>
          </p:nvPr>
        </p:nvSpPr>
        <p:spPr>
          <a:xfrm>
            <a:off x="756000" y="5078520"/>
            <a:ext cx="6047700" cy="4811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16" name="Google Shape;116;g39587452415_0_4:notes"/>
          <p:cNvSpPr txBox="1"/>
          <p:nvPr>
            <p:ph idx="12" type="sldNum"/>
          </p:nvPr>
        </p:nvSpPr>
        <p:spPr>
          <a:xfrm>
            <a:off x="4278960" y="10157400"/>
            <a:ext cx="3280800" cy="534300"/>
          </a:xfrm>
          <a:prstGeom prst="rect">
            <a:avLst/>
          </a:prstGeom>
        </p:spPr>
        <p:txBody>
          <a:bodyPr anchorCtr="0" anchor="b" bIns="0" lIns="0" spcFirstLastPara="1" rIns="0" wrap="square" tIns="0">
            <a:noAutofit/>
          </a:bodyPr>
          <a:lstStyle/>
          <a:p>
            <a:pPr indent="0" lvl="0" marL="0" rtl="0" algn="r">
              <a:spcBef>
                <a:spcPts val="0"/>
              </a:spcBef>
              <a:spcAft>
                <a:spcPts val="0"/>
              </a:spcAft>
              <a:buClr>
                <a:srgbClr val="000000"/>
              </a:buClr>
              <a:buFont typeface="Arial"/>
              <a:buNone/>
            </a:pPr>
            <a:fld id="{00000000-1234-1234-1234-123412341234}" type="slidenum">
              <a:rPr lang="fr-FR"/>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14:notes"/>
          <p:cNvSpPr/>
          <p:nvPr>
            <p:ph idx="2" type="sldImg"/>
          </p:nvPr>
        </p:nvSpPr>
        <p:spPr>
          <a:xfrm>
            <a:off x="685800" y="1143000"/>
            <a:ext cx="5476680" cy="3076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1" name="Google Shape;121;p14:notes"/>
          <p:cNvSpPr txBox="1"/>
          <p:nvPr>
            <p:ph idx="1" type="body"/>
          </p:nvPr>
        </p:nvSpPr>
        <p:spPr>
          <a:xfrm>
            <a:off x="685800" y="4400640"/>
            <a:ext cx="5476680" cy="3590640"/>
          </a:xfrm>
          <a:prstGeom prst="rect">
            <a:avLst/>
          </a:prstGeom>
          <a:noFill/>
          <a:ln>
            <a:noFill/>
          </a:ln>
        </p:spPr>
        <p:txBody>
          <a:bodyPr anchorCtr="0" anchor="t" bIns="0" lIns="0" spcFirstLastPara="1" rIns="0" wrap="square" tIns="0">
            <a:normAutofit/>
          </a:bodyPr>
          <a:lstStyle/>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C’est comme cela que l’on fait pour faire du Traitement sur différents Ordinateurs ( un Cluster de serveurs )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Spark ( un Framework ) est la méthode qui permet de faire travailler ensemble différents calculateurs ( parce que ce n’est pas forcément des serveurs ) : c’est ce qui est affiché à droite dans le Cluster de serveurs.  </a:t>
            </a:r>
            <a:endParaRPr b="0" sz="1200" strike="noStrike">
              <a:latin typeface="Arial"/>
              <a:ea typeface="Arial"/>
              <a:cs typeface="Arial"/>
              <a:sym typeface="Arial"/>
            </a:endParaRPr>
          </a:p>
        </p:txBody>
      </p:sp>
      <p:sp>
        <p:nvSpPr>
          <p:cNvPr id="122" name="Google Shape;122;p14:notes"/>
          <p:cNvSpPr txBox="1"/>
          <p:nvPr>
            <p:ph idx="12" type="sldNum"/>
          </p:nvPr>
        </p:nvSpPr>
        <p:spPr>
          <a:xfrm>
            <a:off x="3884760" y="8685360"/>
            <a:ext cx="2962080" cy="448920"/>
          </a:xfrm>
          <a:prstGeom prst="rect">
            <a:avLst/>
          </a:prstGeom>
          <a:noFill/>
          <a:ln>
            <a:noFill/>
          </a:ln>
        </p:spPr>
        <p:txBody>
          <a:bodyPr anchorCtr="0" anchor="b" bIns="0" lIns="0" spcFirstLastPara="1" rIns="0" wrap="square" tIns="0">
            <a:noAutofit/>
          </a:bodyPr>
          <a:lstStyle/>
          <a:p>
            <a:pPr indent="0" lvl="0" marL="0" rtl="0" algn="r">
              <a:lnSpc>
                <a:spcPct val="100000"/>
              </a:lnSpc>
              <a:spcBef>
                <a:spcPts val="0"/>
              </a:spcBef>
              <a:spcAft>
                <a:spcPts val="0"/>
              </a:spcAft>
              <a:buNone/>
            </a:pPr>
            <a:fld id="{00000000-1234-1234-1234-123412341234}" type="slidenum">
              <a:rPr b="0" lang="fr-FR" sz="1400" strike="noStrike">
                <a:latin typeface="Times New Roman"/>
                <a:ea typeface="Times New Roman"/>
                <a:cs typeface="Times New Roman"/>
                <a:sym typeface="Times New Roman"/>
              </a:rPr>
              <a:t>‹#›</a:t>
            </a:fld>
            <a:endParaRPr b="0" sz="1400" strike="noStrike">
              <a:latin typeface="Times New Roman"/>
              <a:ea typeface="Times New Roman"/>
              <a:cs typeface="Times New Roman"/>
              <a:sym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95876a071c_4_0:notes"/>
          <p:cNvSpPr/>
          <p:nvPr>
            <p:ph idx="2" type="sldImg"/>
          </p:nvPr>
        </p:nvSpPr>
        <p:spPr>
          <a:xfrm>
            <a:off x="216000" y="812520"/>
            <a:ext cx="7127400" cy="40089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95876a071c_4_0:notes"/>
          <p:cNvSpPr txBox="1"/>
          <p:nvPr>
            <p:ph idx="1" type="body"/>
          </p:nvPr>
        </p:nvSpPr>
        <p:spPr>
          <a:xfrm>
            <a:off x="756000" y="5078520"/>
            <a:ext cx="6047700" cy="4811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31" name="Google Shape;131;g395876a071c_4_0:notes"/>
          <p:cNvSpPr txBox="1"/>
          <p:nvPr>
            <p:ph idx="12" type="sldNum"/>
          </p:nvPr>
        </p:nvSpPr>
        <p:spPr>
          <a:xfrm>
            <a:off x="4278960" y="10157400"/>
            <a:ext cx="3280800" cy="534300"/>
          </a:xfrm>
          <a:prstGeom prst="rect">
            <a:avLst/>
          </a:prstGeom>
        </p:spPr>
        <p:txBody>
          <a:bodyPr anchorCtr="0" anchor="b" bIns="0" lIns="0" spcFirstLastPara="1" rIns="0" wrap="square" tIns="0">
            <a:noAutofit/>
          </a:bodyPr>
          <a:lstStyle/>
          <a:p>
            <a:pPr indent="0" lvl="0" marL="0" rtl="0" algn="r">
              <a:spcBef>
                <a:spcPts val="0"/>
              </a:spcBef>
              <a:spcAft>
                <a:spcPts val="0"/>
              </a:spcAft>
              <a:buClr>
                <a:srgbClr val="000000"/>
              </a:buClr>
              <a:buFont typeface="Arial"/>
              <a:buNone/>
            </a:pPr>
            <a:fld id="{00000000-1234-1234-1234-123412341234}" type="slidenum">
              <a:rPr lang="fr-FR"/>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7:notes"/>
          <p:cNvSpPr txBox="1"/>
          <p:nvPr>
            <p:ph idx="1" type="body"/>
          </p:nvPr>
        </p:nvSpPr>
        <p:spPr>
          <a:xfrm>
            <a:off x="685800" y="4400640"/>
            <a:ext cx="5476680" cy="3590640"/>
          </a:xfrm>
          <a:prstGeom prst="rect">
            <a:avLst/>
          </a:prstGeom>
          <a:noFill/>
          <a:ln>
            <a:noFill/>
          </a:ln>
        </p:spPr>
        <p:txBody>
          <a:bodyPr anchorCtr="0" anchor="t" bIns="0" lIns="0" spcFirstLastPara="1" rIns="0" wrap="square" tIns="0">
            <a:noAutofit/>
          </a:bodyPr>
          <a:lstStyle/>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Dans ce Slide, C’est l’Architecture à mettre en place ou bien choisi pour utiliser SPARK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définir c’est quoi RDD ou HDFS avec les autres éléments cités dans ce slide : pouvoir connaître la définition de tous les éléments de ce slide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t/>
            </a:r>
            <a:endParaRPr b="0" sz="1200" strike="noStrike">
              <a:latin typeface="Arial"/>
              <a:ea typeface="Arial"/>
              <a:cs typeface="Arial"/>
              <a:sym typeface="Arial"/>
            </a:endParaRPr>
          </a:p>
        </p:txBody>
      </p:sp>
      <p:sp>
        <p:nvSpPr>
          <p:cNvPr id="136" name="Google Shape;136;p17:notes"/>
          <p:cNvSpPr/>
          <p:nvPr>
            <p:ph idx="2" type="sldImg"/>
          </p:nvPr>
        </p:nvSpPr>
        <p:spPr>
          <a:xfrm>
            <a:off x="685800" y="1143000"/>
            <a:ext cx="5476680" cy="307656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19:notes"/>
          <p:cNvSpPr/>
          <p:nvPr>
            <p:ph idx="2" type="sldImg"/>
          </p:nvPr>
        </p:nvSpPr>
        <p:spPr>
          <a:xfrm>
            <a:off x="685800" y="1143000"/>
            <a:ext cx="5476680" cy="3076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2" name="Google Shape;142;p19:notes"/>
          <p:cNvSpPr txBox="1"/>
          <p:nvPr>
            <p:ph idx="1" type="body"/>
          </p:nvPr>
        </p:nvSpPr>
        <p:spPr>
          <a:xfrm>
            <a:off x="685800" y="4400640"/>
            <a:ext cx="5476680" cy="3590640"/>
          </a:xfrm>
          <a:prstGeom prst="rect">
            <a:avLst/>
          </a:prstGeom>
          <a:noFill/>
          <a:ln>
            <a:noFill/>
          </a:ln>
        </p:spPr>
        <p:txBody>
          <a:bodyPr anchorCtr="0" anchor="t" bIns="0" lIns="0" spcFirstLastPara="1" rIns="0" wrap="square" tIns="0">
            <a:normAutofit/>
          </a:bodyPr>
          <a:lstStyle/>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DataFrame : groupe de Données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Spark SQL DataFrame ( source de données ) et Apache Spark ML ( Machine Learning ) sont des fonctions différentes.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C’est un ordonnancement de mes processus ( un workflow ) : c’est un slides de méthodologie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Amazon S3 : c’est une solution qui permet de faire du Cloud sur internet ( c’est très coûteux de faire du Cloud sur internet )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Parquet est une technologie ( rien de particulier )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un calcul distribué est un traitement qui est partagé entre plusieurs ordinateurs , autrement appelé unité de calcul.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mon prétraitement : ma préparation des données ( au départ, j’ai des images, et après traitement, j’ai des données qui sont utilisables ) </a:t>
            </a:r>
            <a:endParaRPr b="0" sz="1200" strike="noStrike">
              <a:latin typeface="Arial"/>
              <a:ea typeface="Arial"/>
              <a:cs typeface="Arial"/>
              <a:sym typeface="Arial"/>
            </a:endParaRPr>
          </a:p>
        </p:txBody>
      </p:sp>
      <p:sp>
        <p:nvSpPr>
          <p:cNvPr id="143" name="Google Shape;143;p19:notes"/>
          <p:cNvSpPr txBox="1"/>
          <p:nvPr>
            <p:ph idx="12" type="sldNum"/>
          </p:nvPr>
        </p:nvSpPr>
        <p:spPr>
          <a:xfrm>
            <a:off x="3884760" y="8685360"/>
            <a:ext cx="2962080" cy="448920"/>
          </a:xfrm>
          <a:prstGeom prst="rect">
            <a:avLst/>
          </a:prstGeom>
          <a:noFill/>
          <a:ln>
            <a:noFill/>
          </a:ln>
        </p:spPr>
        <p:txBody>
          <a:bodyPr anchorCtr="0" anchor="b" bIns="0" lIns="0" spcFirstLastPara="1" rIns="0" wrap="square" tIns="0">
            <a:noAutofit/>
          </a:bodyPr>
          <a:lstStyle/>
          <a:p>
            <a:pPr indent="0" lvl="0" marL="0" rtl="0" algn="r">
              <a:lnSpc>
                <a:spcPct val="100000"/>
              </a:lnSpc>
              <a:spcBef>
                <a:spcPts val="0"/>
              </a:spcBef>
              <a:spcAft>
                <a:spcPts val="0"/>
              </a:spcAft>
              <a:buNone/>
            </a:pPr>
            <a:fld id="{00000000-1234-1234-1234-123412341234}" type="slidenum">
              <a:rPr b="0" lang="fr-FR" sz="1400" strike="noStrike">
                <a:latin typeface="Times New Roman"/>
                <a:ea typeface="Times New Roman"/>
                <a:cs typeface="Times New Roman"/>
                <a:sym typeface="Times New Roman"/>
              </a:rPr>
              <a:t>‹#›</a:t>
            </a:fld>
            <a:endParaRPr b="0" sz="1400" strike="noStrike">
              <a:latin typeface="Times New Roman"/>
              <a:ea typeface="Times New Roman"/>
              <a:cs typeface="Times New Roman"/>
              <a:sym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20:notes"/>
          <p:cNvSpPr txBox="1"/>
          <p:nvPr>
            <p:ph idx="1" type="body"/>
          </p:nvPr>
        </p:nvSpPr>
        <p:spPr>
          <a:xfrm>
            <a:off x="685800" y="4400640"/>
            <a:ext cx="5476680" cy="3590640"/>
          </a:xfrm>
          <a:prstGeom prst="rect">
            <a:avLst/>
          </a:prstGeom>
          <a:noFill/>
          <a:ln>
            <a:noFill/>
          </a:ln>
        </p:spPr>
        <p:txBody>
          <a:bodyPr anchorCtr="0" anchor="t" bIns="0" lIns="0" spcFirstLastPara="1" rIns="0" wrap="square" tIns="0">
            <a:noAutofit/>
          </a:bodyPr>
          <a:lstStyle/>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C’est pour dire les données qui se cachent  derrière cette image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UDF User Define Fonction ( fonction défini par l’utilisateur )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Spark.save : sauvegarder ce que je suis en train de faire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SparkContext : Récupérer le contexte qu’il y a derrière Spark / récupérer les informations qui se cachent derrière ce contexte </a:t>
            </a:r>
            <a:endParaRPr b="0" sz="1200" strike="noStrike">
              <a:latin typeface="Arial"/>
              <a:ea typeface="Arial"/>
              <a:cs typeface="Arial"/>
              <a:sym typeface="Arial"/>
            </a:endParaRPr>
          </a:p>
        </p:txBody>
      </p:sp>
      <p:sp>
        <p:nvSpPr>
          <p:cNvPr id="159" name="Google Shape;159;p20:notes"/>
          <p:cNvSpPr/>
          <p:nvPr>
            <p:ph idx="2" type="sldImg"/>
          </p:nvPr>
        </p:nvSpPr>
        <p:spPr>
          <a:xfrm>
            <a:off x="685800" y="1143000"/>
            <a:ext cx="5476680" cy="307656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21:notes"/>
          <p:cNvSpPr txBox="1"/>
          <p:nvPr>
            <p:ph idx="1" type="body"/>
          </p:nvPr>
        </p:nvSpPr>
        <p:spPr>
          <a:xfrm>
            <a:off x="685800" y="4400640"/>
            <a:ext cx="5476680" cy="3590640"/>
          </a:xfrm>
          <a:prstGeom prst="rect">
            <a:avLst/>
          </a:prstGeom>
          <a:noFill/>
          <a:ln>
            <a:noFill/>
          </a:ln>
        </p:spPr>
        <p:txBody>
          <a:bodyPr anchorCtr="0" anchor="t" bIns="0" lIns="0" spcFirstLastPara="1" rIns="0" wrap="square" tIns="0">
            <a:noAutofit/>
          </a:bodyPr>
          <a:lstStyle/>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Avg = average et FC = forecast / max pool = le nombre d’itérations en nombres de données : le nombre de fois où le logiciel a tourné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CONV = Convolutional ,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100" strike="noStrike">
                <a:solidFill>
                  <a:srgbClr val="222222"/>
                </a:solidFill>
                <a:highlight>
                  <a:srgbClr val="FFFFFF"/>
                </a:highlight>
                <a:latin typeface="Arial"/>
                <a:ea typeface="Arial"/>
                <a:cs typeface="Arial"/>
                <a:sym typeface="Arial"/>
              </a:rPr>
              <a:t>ResNet utilise des connexions résiduelles pour permettre un apprentissage plus profond sans disparition du gradient. EfficientNet ajuste de manière adaptative la profondeur, la largeur et la résolution de l'image pour une utilisation efficace des ressources.</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100" strike="noStrike">
                <a:solidFill>
                  <a:srgbClr val="222222"/>
                </a:solidFill>
                <a:highlight>
                  <a:srgbClr val="FFFFFF"/>
                </a:highlight>
                <a:latin typeface="Arial"/>
                <a:ea typeface="Arial"/>
                <a:cs typeface="Arial"/>
                <a:sym typeface="Arial"/>
              </a:rPr>
              <a:t>1. **Batch Norm (Normalisation par lots)** : Une technique qui normalise les activations intermédiaires d'un réseau de neurones par mini-lots d'entrées, améliorant ainsi la stabilité de l'apprentissage.</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100" strike="noStrike">
                <a:solidFill>
                  <a:srgbClr val="222222"/>
                </a:solidFill>
                <a:highlight>
                  <a:srgbClr val="FFFFFF"/>
                </a:highlight>
                <a:latin typeface="Arial"/>
                <a:ea typeface="Arial"/>
                <a:cs typeface="Arial"/>
                <a:sym typeface="Arial"/>
              </a:rPr>
              <a:t>2. **ReLu (Rectified Linear Unit)** : Une fonction d'activation couramment utilisée qui retourne l'entrée si elle est positive et zéro sinon, favorisant l'apprentissage de caractéristiques importantes dans les réseaux de neurones.</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100" strike="noStrike">
                <a:solidFill>
                  <a:srgbClr val="222222"/>
                </a:solidFill>
                <a:highlight>
                  <a:srgbClr val="FFFFFF"/>
                </a:highlight>
                <a:latin typeface="Arial"/>
                <a:ea typeface="Arial"/>
                <a:cs typeface="Arial"/>
                <a:sym typeface="Arial"/>
              </a:rPr>
              <a:t>3. **Conv Block (Bloc de convolution)** : Un ensemble de couches de convolution suivies généralement de couches de normalisation et d'activation, utilisé pour extraire des caractéristiques d'une image ou d'une donnée.</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100" strike="noStrike">
                <a:solidFill>
                  <a:srgbClr val="222222"/>
                </a:solidFill>
                <a:highlight>
                  <a:srgbClr val="FFFFFF"/>
                </a:highlight>
                <a:latin typeface="Arial"/>
                <a:ea typeface="Arial"/>
                <a:cs typeface="Arial"/>
                <a:sym typeface="Arial"/>
              </a:rPr>
              <a:t>4. **ID Block (Bloc identité)** : Un bloc résiduel dans une architecture de réseau de neurones qui permet le passage d'informations directement d'une couche à l'autre, ce qui aide à prévenir la disparition des gradients pendant l'entraînement.</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100" strike="noStrike">
                <a:solidFill>
                  <a:srgbClr val="222222"/>
                </a:solidFill>
                <a:highlight>
                  <a:srgbClr val="FFFFFF"/>
                </a:highlight>
                <a:latin typeface="Arial"/>
                <a:ea typeface="Arial"/>
                <a:cs typeface="Arial"/>
                <a:sym typeface="Arial"/>
              </a:rPr>
              <a:t>5. **Flattening (Aplatissement)** : La conversion d'un tenseur multidimensionnel en un vecteur unidimensionnel, souvent utilisée pour connecter les couches de convolution à des couches entièrement connectées.</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100" strike="noStrike">
                <a:solidFill>
                  <a:srgbClr val="222222"/>
                </a:solidFill>
                <a:highlight>
                  <a:srgbClr val="FFFFFF"/>
                </a:highlight>
                <a:latin typeface="Arial"/>
                <a:ea typeface="Arial"/>
                <a:cs typeface="Arial"/>
                <a:sym typeface="Arial"/>
              </a:rPr>
              <a:t>6. **Max Pool (Agrégation maximale)** : Une opération de sous-échantillonnage qui réduit la dimension d'une image ou d'une carte de caractéristiques en ne conservant que la valeur maximale dans chaque région, ce qui aide à réduire la complexité du modèle.</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100" strike="noStrike">
                <a:solidFill>
                  <a:srgbClr val="222222"/>
                </a:solidFill>
                <a:highlight>
                  <a:srgbClr val="FFFFFF"/>
                </a:highlight>
                <a:latin typeface="Arial"/>
                <a:ea typeface="Arial"/>
                <a:cs typeface="Arial"/>
                <a:sym typeface="Arial"/>
              </a:rPr>
              <a:t>1. **Avg (average)** : La moyenne arithmétique, qui est calculée en ajoutant toutes les valeurs d'un ensemble de données et en les divisant par le nombre total de valeurs. Elle est utilisée pour résumer et caractériser la tendance centrale des données.</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100" strike="noStrike">
                <a:solidFill>
                  <a:srgbClr val="222222"/>
                </a:solidFill>
                <a:highlight>
                  <a:srgbClr val="FFFFFF"/>
                </a:highlight>
                <a:latin typeface="Arial"/>
                <a:ea typeface="Arial"/>
                <a:cs typeface="Arial"/>
                <a:sym typeface="Arial"/>
              </a:rPr>
              <a:t>2. **FC (forecast)** : La prévision, qui consiste à estimer ou prédire une valeur future en se basant sur des données passées et des modèles statistiques ou d'apprentissage automatique. Les prévisions sont couramment utilisées pour anticiper des événements futurs ou prendre des décisions éclairées.</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100" strike="noStrike">
                <a:solidFill>
                  <a:srgbClr val="222222"/>
                </a:solidFill>
                <a:highlight>
                  <a:srgbClr val="FFFFFF"/>
                </a:highlight>
                <a:latin typeface="Arial"/>
                <a:ea typeface="Arial"/>
                <a:cs typeface="Arial"/>
                <a:sym typeface="Arial"/>
              </a:rPr>
              <a:t>Ces deux termes sont fondamentaux en Data Science, car la moyenne est souvent utilisée pour résumer des données et la prévision permet de faire des projections basées sur des données historiques.</a:t>
            </a:r>
            <a:endParaRPr b="0" sz="1100" strike="noStrike">
              <a:latin typeface="Arial"/>
              <a:ea typeface="Arial"/>
              <a:cs typeface="Arial"/>
              <a:sym typeface="Arial"/>
            </a:endParaRPr>
          </a:p>
          <a:p>
            <a:pPr indent="-216000" lvl="0" marL="216000" rtl="0" algn="l">
              <a:lnSpc>
                <a:spcPct val="100000"/>
              </a:lnSpc>
              <a:spcBef>
                <a:spcPts val="0"/>
              </a:spcBef>
              <a:spcAft>
                <a:spcPts val="0"/>
              </a:spcAft>
              <a:buNone/>
            </a:pPr>
            <a:r>
              <a:t/>
            </a:r>
            <a:endParaRPr b="0" sz="1100" strike="noStrike">
              <a:latin typeface="Arial"/>
              <a:ea typeface="Arial"/>
              <a:cs typeface="Arial"/>
              <a:sym typeface="Arial"/>
            </a:endParaRPr>
          </a:p>
        </p:txBody>
      </p:sp>
      <p:sp>
        <p:nvSpPr>
          <p:cNvPr id="180" name="Google Shape;180;p21:notes"/>
          <p:cNvSpPr/>
          <p:nvPr>
            <p:ph idx="2" type="sldImg"/>
          </p:nvPr>
        </p:nvSpPr>
        <p:spPr>
          <a:xfrm>
            <a:off x="685800" y="1143000"/>
            <a:ext cx="5476680" cy="307656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23:notes"/>
          <p:cNvSpPr txBox="1"/>
          <p:nvPr>
            <p:ph idx="1" type="body"/>
          </p:nvPr>
        </p:nvSpPr>
        <p:spPr>
          <a:xfrm>
            <a:off x="685800" y="4400640"/>
            <a:ext cx="5476680" cy="3590640"/>
          </a:xfrm>
          <a:prstGeom prst="rect">
            <a:avLst/>
          </a:prstGeom>
          <a:noFill/>
          <a:ln>
            <a:noFill/>
          </a:ln>
        </p:spPr>
        <p:txBody>
          <a:bodyPr anchorCtr="0" anchor="t" bIns="0" lIns="0" spcFirstLastPara="1" rIns="0" wrap="square" tIns="0">
            <a:noAutofit/>
          </a:bodyPr>
          <a:lstStyle/>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CLI = client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S3 = le Service d’Amazon : le logiciel pour Amazon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EC2 : concerne les calculs et T2.xlarge : mon type de serveur de calcul qui veut dire assez puissant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MLLib : le nom de la librairie pour traitement ML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 SSH : protocole de communication </a:t>
            </a:r>
            <a:endParaRPr b="0" sz="1200" strike="noStrike">
              <a:latin typeface="Arial"/>
              <a:ea typeface="Arial"/>
              <a:cs typeface="Arial"/>
              <a:sym typeface="Arial"/>
            </a:endParaRPr>
          </a:p>
          <a:p>
            <a:pPr indent="-216000" lvl="0" marL="216000" rtl="0" algn="l">
              <a:lnSpc>
                <a:spcPct val="100000"/>
              </a:lnSpc>
              <a:spcBef>
                <a:spcPts val="0"/>
              </a:spcBef>
              <a:spcAft>
                <a:spcPts val="0"/>
              </a:spcAft>
              <a:buNone/>
            </a:pPr>
            <a:r>
              <a:rPr b="0" lang="fr-FR" sz="1200" strike="noStrike">
                <a:solidFill>
                  <a:srgbClr val="000000"/>
                </a:solidFill>
                <a:latin typeface="Calibri"/>
                <a:ea typeface="Calibri"/>
                <a:cs typeface="Calibri"/>
                <a:sym typeface="Calibri"/>
              </a:rPr>
              <a:t>IAM : Sécurisation de AWS : cryptage de AWS  </a:t>
            </a:r>
            <a:endParaRPr b="0" sz="1200" strike="noStrike">
              <a:latin typeface="Arial"/>
              <a:ea typeface="Arial"/>
              <a:cs typeface="Arial"/>
              <a:sym typeface="Arial"/>
            </a:endParaRPr>
          </a:p>
        </p:txBody>
      </p:sp>
      <p:sp>
        <p:nvSpPr>
          <p:cNvPr id="187" name="Google Shape;187;p23:notes"/>
          <p:cNvSpPr/>
          <p:nvPr>
            <p:ph idx="2" type="sldImg"/>
          </p:nvPr>
        </p:nvSpPr>
        <p:spPr>
          <a:xfrm>
            <a:off x="685800" y="1143000"/>
            <a:ext cx="5476680" cy="307656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9588013f93_8_8:notes"/>
          <p:cNvSpPr/>
          <p:nvPr>
            <p:ph idx="2" type="sldImg"/>
          </p:nvPr>
        </p:nvSpPr>
        <p:spPr>
          <a:xfrm>
            <a:off x="216000" y="812520"/>
            <a:ext cx="7127400" cy="40089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9588013f93_8_8:notes"/>
          <p:cNvSpPr txBox="1"/>
          <p:nvPr>
            <p:ph idx="1" type="body"/>
          </p:nvPr>
        </p:nvSpPr>
        <p:spPr>
          <a:xfrm>
            <a:off x="756000" y="5078520"/>
            <a:ext cx="6047700" cy="4811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197" name="Google Shape;197;g39588013f93_8_8:notes"/>
          <p:cNvSpPr txBox="1"/>
          <p:nvPr>
            <p:ph idx="12" type="sldNum"/>
          </p:nvPr>
        </p:nvSpPr>
        <p:spPr>
          <a:xfrm>
            <a:off x="4278960" y="10157400"/>
            <a:ext cx="3280800" cy="534300"/>
          </a:xfrm>
          <a:prstGeom prst="rect">
            <a:avLst/>
          </a:prstGeom>
        </p:spPr>
        <p:txBody>
          <a:bodyPr anchorCtr="0" anchor="b" bIns="0" lIns="0" spcFirstLastPara="1" rIns="0" wrap="square" tIns="0">
            <a:noAutofit/>
          </a:bodyPr>
          <a:lstStyle/>
          <a:p>
            <a:pPr indent="0" lvl="0" marL="0" rtl="0" algn="r">
              <a:spcBef>
                <a:spcPts val="0"/>
              </a:spcBef>
              <a:spcAft>
                <a:spcPts val="0"/>
              </a:spcAft>
              <a:buClr>
                <a:srgbClr val="000000"/>
              </a:buClr>
              <a:buFont typeface="Arial"/>
              <a:buNone/>
            </a:pPr>
            <a:fld id="{00000000-1234-1234-1234-123412341234}" type="slidenum">
              <a:rPr lang="fr-FR"/>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9588013f93_8_13:notes"/>
          <p:cNvSpPr/>
          <p:nvPr>
            <p:ph idx="2" type="sldImg"/>
          </p:nvPr>
        </p:nvSpPr>
        <p:spPr>
          <a:xfrm>
            <a:off x="216000" y="812520"/>
            <a:ext cx="7127400" cy="4008900"/>
          </a:xfrm>
          <a:custGeom>
            <a:rect b="b" l="l" r="r" t="t"/>
            <a:pathLst>
              <a:path extrusionOk="0" h="120000" w="120000">
                <a:moveTo>
                  <a:pt x="0" y="0"/>
                </a:moveTo>
                <a:lnTo>
                  <a:pt x="120000" y="0"/>
                </a:lnTo>
                <a:lnTo>
                  <a:pt x="120000" y="120000"/>
                </a:lnTo>
                <a:lnTo>
                  <a:pt x="0" y="120000"/>
                </a:lnTo>
                <a:close/>
              </a:path>
            </a:pathLst>
          </a:custGeom>
        </p:spPr>
      </p:sp>
      <p:sp>
        <p:nvSpPr>
          <p:cNvPr id="202" name="Google Shape;202;g39588013f93_8_13:notes"/>
          <p:cNvSpPr txBox="1"/>
          <p:nvPr>
            <p:ph idx="1" type="body"/>
          </p:nvPr>
        </p:nvSpPr>
        <p:spPr>
          <a:xfrm>
            <a:off x="756000" y="5078520"/>
            <a:ext cx="6047700" cy="48111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t/>
            </a:r>
            <a:endParaRPr/>
          </a:p>
        </p:txBody>
      </p:sp>
      <p:sp>
        <p:nvSpPr>
          <p:cNvPr id="203" name="Google Shape;203;g39588013f93_8_13:notes"/>
          <p:cNvSpPr txBox="1"/>
          <p:nvPr>
            <p:ph idx="12" type="sldNum"/>
          </p:nvPr>
        </p:nvSpPr>
        <p:spPr>
          <a:xfrm>
            <a:off x="4278960" y="10157400"/>
            <a:ext cx="3280800" cy="534300"/>
          </a:xfrm>
          <a:prstGeom prst="rect">
            <a:avLst/>
          </a:prstGeom>
        </p:spPr>
        <p:txBody>
          <a:bodyPr anchorCtr="0" anchor="b" bIns="0" lIns="0" spcFirstLastPara="1" rIns="0" wrap="square" tIns="0">
            <a:noAutofit/>
          </a:bodyPr>
          <a:lstStyle/>
          <a:p>
            <a:pPr indent="0" lvl="0" marL="0" rtl="0" algn="r">
              <a:spcBef>
                <a:spcPts val="0"/>
              </a:spcBef>
              <a:spcAft>
                <a:spcPts val="0"/>
              </a:spcAft>
              <a:buClr>
                <a:srgbClr val="000000"/>
              </a:buClr>
              <a:buFont typeface="Arial"/>
              <a:buNone/>
            </a:pPr>
            <a:fld id="{00000000-1234-1234-1234-123412341234}" type="slidenum">
              <a:rPr lang="fr-FR"/>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26:notes"/>
          <p:cNvSpPr/>
          <p:nvPr>
            <p:ph idx="2" type="sldImg"/>
          </p:nvPr>
        </p:nvSpPr>
        <p:spPr>
          <a:xfrm>
            <a:off x="685800" y="1143000"/>
            <a:ext cx="5476680" cy="307656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8" name="Google Shape;208;p26:notes"/>
          <p:cNvSpPr txBox="1"/>
          <p:nvPr>
            <p:ph idx="1" type="body"/>
          </p:nvPr>
        </p:nvSpPr>
        <p:spPr>
          <a:xfrm>
            <a:off x="685800" y="4400640"/>
            <a:ext cx="5476680" cy="35906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t/>
            </a:r>
            <a:endParaRPr b="0" sz="2000" strike="noStrike">
              <a:latin typeface="Arial"/>
              <a:ea typeface="Arial"/>
              <a:cs typeface="Arial"/>
              <a:sym typeface="Arial"/>
            </a:endParaRPr>
          </a:p>
        </p:txBody>
      </p:sp>
      <p:sp>
        <p:nvSpPr>
          <p:cNvPr id="209" name="Google Shape;209;p26:notes"/>
          <p:cNvSpPr txBox="1"/>
          <p:nvPr>
            <p:ph idx="12" type="sldNum"/>
          </p:nvPr>
        </p:nvSpPr>
        <p:spPr>
          <a:xfrm>
            <a:off x="3884760" y="8685360"/>
            <a:ext cx="2962080" cy="448920"/>
          </a:xfrm>
          <a:prstGeom prst="rect">
            <a:avLst/>
          </a:prstGeom>
          <a:noFill/>
          <a:ln>
            <a:noFill/>
          </a:ln>
        </p:spPr>
        <p:txBody>
          <a:bodyPr anchorCtr="0" anchor="b" bIns="0" lIns="0" spcFirstLastPara="1" rIns="0" wrap="square" tIns="0">
            <a:noAutofit/>
          </a:bodyPr>
          <a:lstStyle/>
          <a:p>
            <a:pPr indent="0" lvl="0" marL="0" rtl="0" algn="r">
              <a:lnSpc>
                <a:spcPct val="100000"/>
              </a:lnSpc>
              <a:spcBef>
                <a:spcPts val="0"/>
              </a:spcBef>
              <a:spcAft>
                <a:spcPts val="0"/>
              </a:spcAft>
              <a:buNone/>
            </a:pPr>
            <a:fld id="{00000000-1234-1234-1234-123412341234}" type="slidenum">
              <a:rPr b="0" lang="fr-FR" sz="1400" strike="noStrike">
                <a:latin typeface="Times New Roman"/>
                <a:ea typeface="Times New Roman"/>
                <a:cs typeface="Times New Roman"/>
                <a:sym typeface="Times New Roman"/>
              </a:rPr>
              <a:t>‹#›</a:t>
            </a:fld>
            <a:endParaRPr b="0" sz="1400" strike="noStrike">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2" name="Shape 12"/>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3" name="Shape 13"/>
        <p:cNvGrpSpPr/>
        <p:nvPr/>
      </p:nvGrpSpPr>
      <p:grpSpPr>
        <a:xfrm>
          <a:off x="0" y="0"/>
          <a:ext cx="0" cy="0"/>
          <a:chOff x="0" y="0"/>
          <a:chExt cx="0" cy="0"/>
        </a:xfrm>
      </p:grpSpPr>
      <p:sp>
        <p:nvSpPr>
          <p:cNvPr id="14" name="Google Shape;14;p3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31"/>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6" name="Shape 16"/>
        <p:cNvGrpSpPr/>
        <p:nvPr/>
      </p:nvGrpSpPr>
      <p:grpSpPr>
        <a:xfrm>
          <a:off x="0" y="0"/>
          <a:ext cx="0" cy="0"/>
          <a:chOff x="0" y="0"/>
          <a:chExt cx="0" cy="0"/>
        </a:xfrm>
      </p:grpSpPr>
      <p:sp>
        <p:nvSpPr>
          <p:cNvPr id="17" name="Google Shape;17;p3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 name="Google Shape;18;p32"/>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9" name="Shape 19"/>
        <p:cNvGrpSpPr/>
        <p:nvPr/>
      </p:nvGrpSpPr>
      <p:grpSpPr>
        <a:xfrm>
          <a:off x="0" y="0"/>
          <a:ext cx="0" cy="0"/>
          <a:chOff x="0" y="0"/>
          <a:chExt cx="0" cy="0"/>
        </a:xfrm>
      </p:grpSpPr>
      <p:sp>
        <p:nvSpPr>
          <p:cNvPr id="20" name="Google Shape;20;p3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33"/>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22" name="Google Shape;22;p33"/>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3" name="Shape 23"/>
        <p:cNvGrpSpPr/>
        <p:nvPr/>
      </p:nvGrpSpPr>
      <p:grpSpPr>
        <a:xfrm>
          <a:off x="0" y="0"/>
          <a:ext cx="0" cy="0"/>
          <a:chOff x="0" y="0"/>
          <a:chExt cx="0" cy="0"/>
        </a:xfrm>
      </p:grpSpPr>
      <p:sp>
        <p:nvSpPr>
          <p:cNvPr id="24" name="Google Shape;24;p3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25" name="Shape 25"/>
        <p:cNvGrpSpPr/>
        <p:nvPr/>
      </p:nvGrpSpPr>
      <p:grpSpPr>
        <a:xfrm>
          <a:off x="0" y="0"/>
          <a:ext cx="0" cy="0"/>
          <a:chOff x="0" y="0"/>
          <a:chExt cx="0" cy="0"/>
        </a:xfrm>
      </p:grpSpPr>
      <p:sp>
        <p:nvSpPr>
          <p:cNvPr id="26" name="Google Shape;26;p35"/>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27" name="Shape 27"/>
        <p:cNvGrpSpPr/>
        <p:nvPr/>
      </p:nvGrpSpPr>
      <p:grpSpPr>
        <a:xfrm>
          <a:off x="0" y="0"/>
          <a:ext cx="0" cy="0"/>
          <a:chOff x="0" y="0"/>
          <a:chExt cx="0" cy="0"/>
        </a:xfrm>
      </p:grpSpPr>
      <p:sp>
        <p:nvSpPr>
          <p:cNvPr id="28" name="Google Shape;28;p3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6"/>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30" name="Google Shape;30;p36"/>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31" name="Google Shape;31;p36"/>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32" name="Shape 32"/>
        <p:cNvGrpSpPr/>
        <p:nvPr/>
      </p:nvGrpSpPr>
      <p:grpSpPr>
        <a:xfrm>
          <a:off x="0" y="0"/>
          <a:ext cx="0" cy="0"/>
          <a:chOff x="0" y="0"/>
          <a:chExt cx="0" cy="0"/>
        </a:xfrm>
      </p:grpSpPr>
      <p:sp>
        <p:nvSpPr>
          <p:cNvPr id="33" name="Google Shape;33;p3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37"/>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35" name="Google Shape;35;p37"/>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36" name="Google Shape;36;p37"/>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37" name="Shape 37"/>
        <p:cNvGrpSpPr/>
        <p:nvPr/>
      </p:nvGrpSpPr>
      <p:grpSpPr>
        <a:xfrm>
          <a:off x="0" y="0"/>
          <a:ext cx="0" cy="0"/>
          <a:chOff x="0" y="0"/>
          <a:chExt cx="0" cy="0"/>
        </a:xfrm>
      </p:grpSpPr>
      <p:sp>
        <p:nvSpPr>
          <p:cNvPr id="38" name="Google Shape;38;p3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8"/>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40" name="Google Shape;40;p38"/>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41" name="Google Shape;41;p38"/>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42" name="Shape 42"/>
        <p:cNvGrpSpPr/>
        <p:nvPr/>
      </p:nvGrpSpPr>
      <p:grpSpPr>
        <a:xfrm>
          <a:off x="0" y="0"/>
          <a:ext cx="0" cy="0"/>
          <a:chOff x="0" y="0"/>
          <a:chExt cx="0" cy="0"/>
        </a:xfrm>
      </p:grpSpPr>
      <p:sp>
        <p:nvSpPr>
          <p:cNvPr id="43" name="Google Shape;43;p3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39"/>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45" name="Google Shape;45;p39"/>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46" name="Shape 46"/>
        <p:cNvGrpSpPr/>
        <p:nvPr/>
      </p:nvGrpSpPr>
      <p:grpSpPr>
        <a:xfrm>
          <a:off x="0" y="0"/>
          <a:ext cx="0" cy="0"/>
          <a:chOff x="0" y="0"/>
          <a:chExt cx="0" cy="0"/>
        </a:xfrm>
      </p:grpSpPr>
      <p:sp>
        <p:nvSpPr>
          <p:cNvPr id="47" name="Google Shape;47;p4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40"/>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49" name="Google Shape;49;p40"/>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50" name="Google Shape;50;p40"/>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51" name="Google Shape;51;p40"/>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52" name="Shape 52"/>
        <p:cNvGrpSpPr/>
        <p:nvPr/>
      </p:nvGrpSpPr>
      <p:grpSpPr>
        <a:xfrm>
          <a:off x="0" y="0"/>
          <a:ext cx="0" cy="0"/>
          <a:chOff x="0" y="0"/>
          <a:chExt cx="0" cy="0"/>
        </a:xfrm>
      </p:grpSpPr>
      <p:sp>
        <p:nvSpPr>
          <p:cNvPr id="53" name="Google Shape;53;p4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41"/>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55" name="Google Shape;55;p41"/>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56" name="Google Shape;56;p41"/>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57" name="Google Shape;57;p41"/>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58" name="Google Shape;58;p41"/>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
        <p:nvSpPr>
          <p:cNvPr id="59" name="Google Shape;59;p41"/>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spcBef>
                <a:spcPts val="0"/>
              </a:spcBef>
              <a:spcAft>
                <a:spcPts val="0"/>
              </a:spcAft>
              <a:buSzPts val="1400"/>
              <a:buNone/>
              <a:defRPr/>
            </a:lvl1pPr>
            <a:lvl2pPr indent="-228600" lvl="1" marL="914400" algn="l">
              <a:spcBef>
                <a:spcPts val="0"/>
              </a:spcBef>
              <a:spcAft>
                <a:spcPts val="0"/>
              </a:spcAft>
              <a:buSzPts val="1400"/>
              <a:buNone/>
              <a:defRPr/>
            </a:lvl2pPr>
            <a:lvl3pPr indent="-228600" lvl="2" marL="1371600" algn="l">
              <a:spcBef>
                <a:spcPts val="0"/>
              </a:spcBef>
              <a:spcAft>
                <a:spcPts val="0"/>
              </a:spcAft>
              <a:buSzPts val="1400"/>
              <a:buNone/>
              <a:defRPr/>
            </a:lvl3pPr>
            <a:lvl4pPr indent="-228600" lvl="3" marL="1828800" algn="l">
              <a:spcBef>
                <a:spcPts val="0"/>
              </a:spcBef>
              <a:spcAft>
                <a:spcPts val="0"/>
              </a:spcAft>
              <a:buSzPts val="1400"/>
              <a:buNone/>
              <a:defRPr/>
            </a:lvl4pPr>
            <a:lvl5pPr indent="-228600" lvl="4" marL="2286000" algn="l">
              <a:spcBef>
                <a:spcPts val="0"/>
              </a:spcBef>
              <a:spcAft>
                <a:spcPts val="0"/>
              </a:spcAft>
              <a:buSzPts val="1400"/>
              <a:buNone/>
              <a:defRPr/>
            </a:lvl5pPr>
            <a:lvl6pPr indent="-228600" lvl="5" marL="2743200" algn="l">
              <a:spcBef>
                <a:spcPts val="0"/>
              </a:spcBef>
              <a:spcAft>
                <a:spcPts val="0"/>
              </a:spcAft>
              <a:buSzPts val="1400"/>
              <a:buNone/>
              <a:defRPr/>
            </a:lvl6pPr>
            <a:lvl7pPr indent="-228600" lvl="6" marL="3200400" algn="l">
              <a:spcBef>
                <a:spcPts val="0"/>
              </a:spcBef>
              <a:spcAft>
                <a:spcPts val="0"/>
              </a:spcAft>
              <a:buSzPts val="1400"/>
              <a:buNone/>
              <a:defRPr/>
            </a:lvl7pPr>
            <a:lvl8pPr indent="-228600" lvl="7" marL="3657600" algn="l">
              <a:spcBef>
                <a:spcPts val="0"/>
              </a:spcBef>
              <a:spcAft>
                <a:spcPts val="0"/>
              </a:spcAft>
              <a:buSzPts val="1400"/>
              <a:buNone/>
              <a:defRPr/>
            </a:lvl8pPr>
            <a:lvl9pPr indent="-228600" lvl="8" marL="4114800" algn="l">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1" name="Google Shape;11;p27"/>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4.png"/><Relationship Id="rId5"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6.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pic>
        <p:nvPicPr>
          <p:cNvPr id="65" name="Google Shape;65;p1"/>
          <p:cNvPicPr preferRelativeResize="0"/>
          <p:nvPr/>
        </p:nvPicPr>
        <p:blipFill rotWithShape="1">
          <a:blip r:embed="rId3">
            <a:alphaModFix/>
          </a:blip>
          <a:srcRect b="0" l="0" r="0" t="0"/>
          <a:stretch/>
        </p:blipFill>
        <p:spPr>
          <a:xfrm>
            <a:off x="0" y="360"/>
            <a:ext cx="12182400" cy="6848280"/>
          </a:xfrm>
          <a:prstGeom prst="rect">
            <a:avLst/>
          </a:prstGeom>
          <a:noFill/>
          <a:ln>
            <a:noFill/>
          </a:ln>
        </p:spPr>
      </p:pic>
      <p:sp>
        <p:nvSpPr>
          <p:cNvPr id="66" name="Google Shape;66;p1"/>
          <p:cNvSpPr/>
          <p:nvPr/>
        </p:nvSpPr>
        <p:spPr>
          <a:xfrm>
            <a:off x="360000" y="1279080"/>
            <a:ext cx="8582400" cy="2680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fr-FR" sz="4400" u="none" cap="none" strike="noStrike">
                <a:solidFill>
                  <a:srgbClr val="FFFFFF"/>
                </a:solidFill>
                <a:latin typeface="Yeseva One"/>
                <a:ea typeface="Yeseva One"/>
                <a:cs typeface="Yeseva One"/>
                <a:sym typeface="Yeseva One"/>
              </a:rPr>
              <a:t>Name: Kevin Moihie KOUAKOU</a:t>
            </a:r>
            <a:endParaRPr b="1" i="0" sz="4400" u="none" cap="none" strike="noStrike">
              <a:solidFill>
                <a:srgbClr val="FFFFFF"/>
              </a:solidFill>
              <a:latin typeface="Yeseva One"/>
              <a:ea typeface="Yeseva One"/>
              <a:cs typeface="Yeseva One"/>
              <a:sym typeface="Yeseva One"/>
            </a:endParaRPr>
          </a:p>
          <a:p>
            <a:pPr indent="0" lvl="0" marL="0" marR="0" rtl="0" algn="l">
              <a:lnSpc>
                <a:spcPct val="100000"/>
              </a:lnSpc>
              <a:spcBef>
                <a:spcPts val="0"/>
              </a:spcBef>
              <a:spcAft>
                <a:spcPts val="0"/>
              </a:spcAft>
              <a:buNone/>
            </a:pPr>
            <a:r>
              <a:t/>
            </a:r>
            <a:endParaRPr b="1" sz="4400">
              <a:solidFill>
                <a:srgbClr val="FFFFFF"/>
              </a:solidFill>
              <a:latin typeface="Yeseva One"/>
              <a:ea typeface="Yeseva One"/>
              <a:cs typeface="Yeseva One"/>
              <a:sym typeface="Yeseva One"/>
            </a:endParaRPr>
          </a:p>
          <a:p>
            <a:pPr indent="0" lvl="0" marL="0" marR="0" rtl="0" algn="l">
              <a:lnSpc>
                <a:spcPct val="100000"/>
              </a:lnSpc>
              <a:spcBef>
                <a:spcPts val="0"/>
              </a:spcBef>
              <a:spcAft>
                <a:spcPts val="0"/>
              </a:spcAft>
              <a:buNone/>
            </a:pPr>
            <a:r>
              <a:t/>
            </a:r>
            <a:endParaRPr b="1" sz="4400">
              <a:solidFill>
                <a:srgbClr val="FFFFFF"/>
              </a:solidFill>
              <a:latin typeface="Yeseva One"/>
              <a:ea typeface="Yeseva One"/>
              <a:cs typeface="Yeseva One"/>
              <a:sym typeface="Yeseva One"/>
            </a:endParaRPr>
          </a:p>
          <a:p>
            <a:pPr indent="0" lvl="0" marL="0" marR="0" rtl="0" algn="l">
              <a:lnSpc>
                <a:spcPct val="100000"/>
              </a:lnSpc>
              <a:spcBef>
                <a:spcPts val="0"/>
              </a:spcBef>
              <a:spcAft>
                <a:spcPts val="0"/>
              </a:spcAft>
              <a:buNone/>
            </a:pPr>
            <a:r>
              <a:rPr b="1" i="0" lang="fr-FR" sz="4400" u="none" cap="none" strike="noStrike">
                <a:solidFill>
                  <a:srgbClr val="FFFFFF"/>
                </a:solidFill>
                <a:latin typeface="Yeseva One"/>
                <a:ea typeface="Yeseva One"/>
                <a:cs typeface="Yeseva One"/>
                <a:sym typeface="Yeseva One"/>
              </a:rPr>
              <a:t>School : OPENCLASSROOMS</a:t>
            </a:r>
            <a:endParaRPr b="0" i="0" sz="4400" u="none" cap="none" strike="noStrike">
              <a:latin typeface="Arial"/>
              <a:ea typeface="Arial"/>
              <a:cs typeface="Arial"/>
              <a:sym typeface="Arial"/>
            </a:endParaRPr>
          </a:p>
        </p:txBody>
      </p:sp>
      <p:sp>
        <p:nvSpPr>
          <p:cNvPr id="67" name="Google Shape;67;p1"/>
          <p:cNvSpPr/>
          <p:nvPr/>
        </p:nvSpPr>
        <p:spPr>
          <a:xfrm>
            <a:off x="516240" y="3658320"/>
            <a:ext cx="3927240" cy="360"/>
          </a:xfrm>
          <a:custGeom>
            <a:rect b="b" l="l" r="r" t="t"/>
            <a:pathLst>
              <a:path extrusionOk="0" h="21600" w="21600">
                <a:moveTo>
                  <a:pt x="0" y="0"/>
                </a:moveTo>
                <a:lnTo>
                  <a:pt x="21600" y="21600"/>
                </a:lnTo>
              </a:path>
            </a:pathLst>
          </a:custGeom>
          <a:noFill/>
          <a:ln cap="flat" cmpd="sng" w="9525">
            <a:solidFill>
              <a:srgbClr val="FFFFFF"/>
            </a:solidFill>
            <a:prstDash val="solid"/>
            <a:round/>
            <a:headEnd len="sm" w="sm" type="none"/>
            <a:tailEnd len="sm" w="sm" type="none"/>
          </a:ln>
        </p:spPr>
      </p:sp>
      <p:sp>
        <p:nvSpPr>
          <p:cNvPr id="68" name="Google Shape;68;p1"/>
          <p:cNvSpPr/>
          <p:nvPr/>
        </p:nvSpPr>
        <p:spPr>
          <a:xfrm>
            <a:off x="303120" y="360000"/>
            <a:ext cx="9407520" cy="759960"/>
          </a:xfrm>
          <a:prstGeom prst="rect">
            <a:avLst/>
          </a:prstGeom>
          <a:noFill/>
          <a:ln>
            <a:noFill/>
          </a:ln>
        </p:spPr>
        <p:txBody>
          <a:bodyPr anchorCtr="0" anchor="t" bIns="45000" lIns="90000" spcFirstLastPara="1" rIns="90000" wrap="square" tIns="45000">
            <a:spAutoFit/>
          </a:bodyPr>
          <a:lstStyle/>
          <a:p>
            <a:pPr indent="0" lvl="0" marL="0" marR="0" rtl="0" algn="l">
              <a:lnSpc>
                <a:spcPct val="100000"/>
              </a:lnSpc>
              <a:spcBef>
                <a:spcPts val="0"/>
              </a:spcBef>
              <a:spcAft>
                <a:spcPts val="0"/>
              </a:spcAft>
              <a:buNone/>
            </a:pPr>
            <a:r>
              <a:rPr b="1" i="0" lang="fr-FR" sz="4400" u="none" cap="none" strike="noStrike">
                <a:solidFill>
                  <a:srgbClr val="FFFFFF"/>
                </a:solidFill>
                <a:latin typeface="Calibri"/>
                <a:ea typeface="Calibri"/>
                <a:cs typeface="Calibri"/>
                <a:sym typeface="Calibri"/>
              </a:rPr>
              <a:t>DÉPLOYEZ UN MODÈLE DANS LE CLOUD</a:t>
            </a:r>
            <a:endParaRPr b="0" i="0" sz="4400" u="none" cap="none" strike="noStrike">
              <a:latin typeface="Arial"/>
              <a:ea typeface="Arial"/>
              <a:cs typeface="Arial"/>
              <a:sym typeface="Arial"/>
            </a:endParaRPr>
          </a:p>
        </p:txBody>
      </p:sp>
      <p:sp>
        <p:nvSpPr>
          <p:cNvPr id="69" name="Google Shape;69;p1"/>
          <p:cNvSpPr/>
          <p:nvPr/>
        </p:nvSpPr>
        <p:spPr>
          <a:xfrm>
            <a:off x="247320" y="4320000"/>
            <a:ext cx="9283680" cy="120024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1" i="0" lang="fr-FR" sz="4400" u="none" cap="none" strike="noStrike">
                <a:solidFill>
                  <a:srgbClr val="FFFFFF"/>
                </a:solidFill>
                <a:latin typeface="Calibri"/>
                <a:ea typeface="Calibri"/>
                <a:cs typeface="Calibri"/>
                <a:sym typeface="Calibri"/>
              </a:rPr>
              <a:t>Sous-titre : Pipeline de Feature Extraction distribué pour la classification d'images de fruits  </a:t>
            </a:r>
            <a:endParaRPr b="0" i="0" sz="4400" u="none" cap="none" strike="noStrike">
              <a:latin typeface="Arial"/>
              <a:ea typeface="Arial"/>
              <a:cs typeface="Arial"/>
              <a:sym typeface="Arial"/>
            </a:endParaRPr>
          </a:p>
        </p:txBody>
      </p:sp>
    </p:spTree>
  </p:cSld>
  <p:clrMapOvr>
    <a:masterClrMapping/>
  </p:clrMapOvr>
  <p:transition spd="slow" p14:dur="1500">
    <p:random/>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65"/>
                                        </p:tgtEl>
                                        <p:attrNameLst>
                                          <p:attrName>style.visibility</p:attrName>
                                        </p:attrNameLst>
                                      </p:cBhvr>
                                      <p:to>
                                        <p:strVal val="visible"/>
                                      </p:to>
                                    </p:set>
                                    <p:anim calcmode="lin" valueType="num">
                                      <p:cBhvr additive="base">
                                        <p:cTn dur="500"/>
                                        <p:tgtEl>
                                          <p:spTgt spid="65"/>
                                        </p:tgtEl>
                                        <p:attrNameLst>
                                          <p:attrName>ppt_w</p:attrName>
                                        </p:attrNameLst>
                                      </p:cBhvr>
                                      <p:tavLst>
                                        <p:tav fmla="" tm="0">
                                          <p:val>
                                            <p:strVal val="0"/>
                                          </p:val>
                                        </p:tav>
                                        <p:tav fmla="" tm="100000">
                                          <p:val>
                                            <p:strVal val="#ppt_w"/>
                                          </p:val>
                                        </p:tav>
                                      </p:tavLst>
                                    </p:anim>
                                    <p:anim calcmode="lin" valueType="num">
                                      <p:cBhvr additive="base">
                                        <p:cTn dur="500"/>
                                        <p:tgtEl>
                                          <p:spTgt spid="65"/>
                                        </p:tgtEl>
                                        <p:attrNameLst>
                                          <p:attrName>ppt_h</p:attrName>
                                        </p:attrNameLst>
                                      </p:cBhvr>
                                      <p:tavLst>
                                        <p:tav fmla="" tm="0">
                                          <p:val>
                                            <p:strVal val="0"/>
                                          </p:val>
                                        </p:tav>
                                        <p:tav fmla="" tm="100000">
                                          <p:val>
                                            <p:strVal val="#ppt_h"/>
                                          </p:val>
                                        </p:tav>
                                      </p:tavLst>
                                    </p:anim>
                                  </p:childTnLst>
                                </p:cTn>
                              </p:par>
                              <p:par>
                                <p:cTn fill="hold" nodeType="withEffect" presetClass="entr" presetID="10" presetSubtype="0">
                                  <p:stCondLst>
                                    <p:cond delay="1400"/>
                                  </p:stCondLst>
                                  <p:childTnLst>
                                    <p:set>
                                      <p:cBhvr>
                                        <p:cTn dur="1" fill="hold">
                                          <p:stCondLst>
                                            <p:cond delay="0"/>
                                          </p:stCondLst>
                                        </p:cTn>
                                        <p:tgtEl>
                                          <p:spTgt spid="66"/>
                                        </p:tgtEl>
                                        <p:attrNameLst>
                                          <p:attrName>style.visibility</p:attrName>
                                        </p:attrNameLst>
                                      </p:cBhvr>
                                      <p:to>
                                        <p:strVal val="visible"/>
                                      </p:to>
                                    </p:set>
                                    <p:animEffect filter="fade" transition="in">
                                      <p:cBhvr>
                                        <p:cTn dur="750"/>
                                        <p:tgtEl>
                                          <p:spTgt spid="66"/>
                                        </p:tgtEl>
                                      </p:cBhvr>
                                    </p:animEffect>
                                  </p:childTnLst>
                                </p:cTn>
                              </p:par>
                              <p:par>
                                <p:cTn fill="hold" nodeType="withEffect" presetClass="entr" presetID="10" presetSubtype="0">
                                  <p:stCondLst>
                                    <p:cond delay="3000"/>
                                  </p:stCondLst>
                                  <p:childTnLst>
                                    <p:set>
                                      <p:cBhvr>
                                        <p:cTn dur="1" fill="hold">
                                          <p:stCondLst>
                                            <p:cond delay="0"/>
                                          </p:stCondLst>
                                        </p:cTn>
                                        <p:tgtEl>
                                          <p:spTgt spid="67"/>
                                        </p:tgtEl>
                                        <p:attrNameLst>
                                          <p:attrName>style.visibility</p:attrName>
                                        </p:attrNameLst>
                                      </p:cBhvr>
                                      <p:to>
                                        <p:strVal val="visible"/>
                                      </p:to>
                                    </p:set>
                                    <p:animEffect filter="fade" transition="in">
                                      <p:cBhvr>
                                        <p:cTn dur="500"/>
                                        <p:tgtEl>
                                          <p:spTgt spid="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2"/>
          <p:cNvSpPr/>
          <p:nvPr/>
        </p:nvSpPr>
        <p:spPr>
          <a:xfrm>
            <a:off x="0" y="0"/>
            <a:ext cx="12279960" cy="6309720"/>
          </a:xfrm>
          <a:prstGeom prst="rect">
            <a:avLst/>
          </a:prstGeom>
          <a:noFill/>
          <a:ln>
            <a:noFill/>
          </a:ln>
        </p:spPr>
        <p:txBody>
          <a:bodyPr anchorCtr="0" anchor="t" bIns="91425" lIns="90000" spcFirstLastPara="1" rIns="90000" wrap="square" tIns="91425">
            <a:spAutoFit/>
          </a:bodyPr>
          <a:lstStyle/>
          <a:p>
            <a:pPr indent="0" lvl="0" marL="0" marR="0" rtl="0" algn="l">
              <a:lnSpc>
                <a:spcPct val="100000"/>
              </a:lnSpc>
              <a:spcBef>
                <a:spcPts val="0"/>
              </a:spcBef>
              <a:spcAft>
                <a:spcPts val="0"/>
              </a:spcAft>
              <a:buNone/>
            </a:pPr>
            <a:r>
              <a:rPr b="1" i="0" lang="fr-FR" sz="5200" u="none" cap="none" strike="noStrike">
                <a:solidFill>
                  <a:srgbClr val="0000FF"/>
                </a:solidFill>
                <a:latin typeface="Arial"/>
                <a:ea typeface="Arial"/>
                <a:cs typeface="Arial"/>
                <a:sym typeface="Arial"/>
              </a:rPr>
              <a:t>Présentation </a:t>
            </a:r>
            <a:endParaRPr b="0" i="0" sz="52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1" lang="fr-FR" sz="3500" u="none" cap="none" strike="noStrike">
                <a:solidFill>
                  <a:srgbClr val="FF00FF"/>
                </a:solidFill>
                <a:highlight>
                  <a:srgbClr val="FFFFFF"/>
                </a:highlight>
                <a:latin typeface="Arial"/>
                <a:ea typeface="Arial"/>
                <a:cs typeface="Arial"/>
                <a:sym typeface="Arial"/>
              </a:rPr>
              <a:t>Introduction : </a:t>
            </a:r>
            <a:r>
              <a:rPr b="0" i="1" lang="fr-FR" sz="3500" u="none" cap="none" strike="noStrike">
                <a:solidFill>
                  <a:srgbClr val="FF00FF"/>
                </a:solidFill>
                <a:highlight>
                  <a:srgbClr val="FFFFFF"/>
                </a:highlight>
                <a:latin typeface="Arial"/>
                <a:ea typeface="Arial"/>
                <a:cs typeface="Arial"/>
                <a:sym typeface="Arial"/>
              </a:rPr>
              <a:t>Objectif et Spécifications du Projet</a:t>
            </a:r>
            <a:r>
              <a:rPr b="1" i="1" lang="fr-FR" sz="3500" u="none" cap="none" strike="noStrike">
                <a:solidFill>
                  <a:srgbClr val="FF00FF"/>
                </a:solidFill>
                <a:highlight>
                  <a:srgbClr val="FFFFFF"/>
                </a:highlight>
                <a:latin typeface="Arial"/>
                <a:ea typeface="Arial"/>
                <a:cs typeface="Arial"/>
                <a:sym typeface="Arial"/>
              </a:rPr>
              <a:t>  </a:t>
            </a:r>
            <a:endParaRPr b="0" i="0" sz="35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1" lang="fr-FR" sz="3500" u="none" cap="none" strike="noStrike">
                <a:solidFill>
                  <a:srgbClr val="FF00FF"/>
                </a:solidFill>
                <a:latin typeface="Arial"/>
                <a:ea typeface="Arial"/>
                <a:cs typeface="Arial"/>
                <a:sym typeface="Arial"/>
              </a:rPr>
              <a:t>Description du Jeu de Données</a:t>
            </a:r>
            <a:r>
              <a:rPr b="0" i="1" lang="fr-FR" sz="3500" u="none" cap="none" strike="noStrike">
                <a:solidFill>
                  <a:srgbClr val="FF00FF"/>
                </a:solidFill>
                <a:latin typeface="Arial"/>
                <a:ea typeface="Arial"/>
                <a:cs typeface="Arial"/>
                <a:sym typeface="Arial"/>
              </a:rPr>
              <a:t> : Fruits-360  </a:t>
            </a:r>
            <a:endParaRPr b="0" i="0" sz="35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1" lang="fr-FR" sz="3500" u="none" cap="none" strike="noStrike">
                <a:solidFill>
                  <a:srgbClr val="FF00FF"/>
                </a:solidFill>
                <a:latin typeface="Arial"/>
                <a:ea typeface="Arial"/>
                <a:cs typeface="Arial"/>
                <a:sym typeface="Arial"/>
              </a:rPr>
              <a:t>Préparation de l'Environnement</a:t>
            </a:r>
            <a:r>
              <a:rPr b="0" i="1" lang="fr-FR" sz="3500" u="none" cap="none" strike="noStrike">
                <a:solidFill>
                  <a:srgbClr val="FF00FF"/>
                </a:solidFill>
                <a:latin typeface="Arial"/>
                <a:ea typeface="Arial"/>
                <a:cs typeface="Arial"/>
                <a:sym typeface="Arial"/>
              </a:rPr>
              <a:t> : Local vs. Cloud (AWS) </a:t>
            </a:r>
            <a:endParaRPr b="0" i="0" sz="35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1" lang="fr-FR" sz="3500" u="none" cap="none" strike="noStrike">
                <a:solidFill>
                  <a:srgbClr val="FF00FF"/>
                </a:solidFill>
                <a:latin typeface="Arial"/>
                <a:ea typeface="Arial"/>
                <a:cs typeface="Arial"/>
                <a:sym typeface="Arial"/>
              </a:rPr>
              <a:t>Architecture de la Solution :</a:t>
            </a:r>
            <a:r>
              <a:rPr b="0" i="1" lang="fr-FR" sz="3500" u="none" cap="none" strike="noStrike">
                <a:solidFill>
                  <a:srgbClr val="FF00FF"/>
                </a:solidFill>
                <a:latin typeface="Arial"/>
                <a:ea typeface="Arial"/>
                <a:cs typeface="Arial"/>
                <a:sym typeface="Arial"/>
              </a:rPr>
              <a:t> </a:t>
            </a:r>
            <a:endParaRPr b="0" i="0" sz="3500" u="none" cap="none" strike="noStrike">
              <a:latin typeface="Arial"/>
              <a:ea typeface="Arial"/>
              <a:cs typeface="Arial"/>
              <a:sym typeface="Arial"/>
            </a:endParaRPr>
          </a:p>
          <a:p>
            <a:pPr indent="0" lvl="0" marL="0" marR="0" rtl="0" algn="l">
              <a:lnSpc>
                <a:spcPct val="100000"/>
              </a:lnSpc>
              <a:spcBef>
                <a:spcPts val="0"/>
              </a:spcBef>
              <a:spcAft>
                <a:spcPts val="0"/>
              </a:spcAft>
              <a:buNone/>
            </a:pPr>
            <a:r>
              <a:rPr b="0" i="1" lang="fr-FR" sz="3500" u="none" cap="none" strike="noStrike">
                <a:solidFill>
                  <a:srgbClr val="FF00FF"/>
                </a:solidFill>
                <a:latin typeface="Arial"/>
                <a:ea typeface="Arial"/>
                <a:cs typeface="Arial"/>
                <a:sym typeface="Arial"/>
              </a:rPr>
              <a:t>Traitement distribué avec PySpark   </a:t>
            </a:r>
            <a:endParaRPr b="0" i="0" sz="35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1" lang="fr-FR" sz="3500" u="none" cap="none" strike="noStrike">
                <a:solidFill>
                  <a:srgbClr val="FF00FF"/>
                </a:solidFill>
                <a:latin typeface="Arial"/>
                <a:ea typeface="Arial"/>
                <a:cs typeface="Arial"/>
                <a:sym typeface="Arial"/>
              </a:rPr>
              <a:t>Méthodologie :</a:t>
            </a:r>
            <a:r>
              <a:rPr b="0" i="1" lang="fr-FR" sz="3500" u="none" cap="none" strike="noStrike">
                <a:solidFill>
                  <a:srgbClr val="FF00FF"/>
                </a:solidFill>
                <a:latin typeface="Arial"/>
                <a:ea typeface="Arial"/>
                <a:cs typeface="Arial"/>
                <a:sym typeface="Arial"/>
              </a:rPr>
              <a:t> Pipeline d'Extraction de Features </a:t>
            </a:r>
            <a:endParaRPr b="0" i="0" sz="35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1" lang="fr-FR" sz="3500" u="none" cap="none" strike="noStrike">
                <a:solidFill>
                  <a:srgbClr val="FF00FF"/>
                </a:solidFill>
                <a:latin typeface="Arial"/>
                <a:ea typeface="Arial"/>
                <a:cs typeface="Arial"/>
                <a:sym typeface="Arial"/>
              </a:rPr>
              <a:t>Déploiement sur AWS :</a:t>
            </a:r>
            <a:r>
              <a:rPr b="0" i="1" lang="fr-FR" sz="3500" u="none" cap="none" strike="noStrike">
                <a:solidFill>
                  <a:srgbClr val="FF00FF"/>
                </a:solidFill>
                <a:latin typeface="Arial"/>
                <a:ea typeface="Arial"/>
                <a:cs typeface="Arial"/>
                <a:sym typeface="Arial"/>
              </a:rPr>
              <a:t> Configuration et Mise en Œuvre </a:t>
            </a:r>
            <a:endParaRPr b="0" i="0" sz="35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1" lang="fr-FR" sz="3500" u="none" cap="none" strike="noStrike">
                <a:solidFill>
                  <a:srgbClr val="FF00FF"/>
                </a:solidFill>
                <a:latin typeface="Arial"/>
                <a:ea typeface="Arial"/>
                <a:cs typeface="Arial"/>
                <a:sym typeface="Arial"/>
              </a:rPr>
              <a:t>Analyse des Résultats &amp; Conclusion</a:t>
            </a:r>
            <a:r>
              <a:rPr b="0" i="1" lang="fr-FR" sz="3500" u="none" cap="none" strike="noStrike">
                <a:solidFill>
                  <a:srgbClr val="FF00FF"/>
                </a:solidFill>
                <a:latin typeface="Arial"/>
                <a:ea typeface="Arial"/>
                <a:cs typeface="Arial"/>
                <a:sym typeface="Arial"/>
              </a:rPr>
              <a:t> </a:t>
            </a:r>
            <a:endParaRPr b="0" i="0" sz="35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1" lang="fr-FR" sz="3500" u="none" cap="none" strike="noStrike">
                <a:solidFill>
                  <a:srgbClr val="FF00FF"/>
                </a:solidFill>
                <a:latin typeface="Arial"/>
                <a:ea typeface="Arial"/>
                <a:cs typeface="Arial"/>
                <a:sym typeface="Arial"/>
              </a:rPr>
              <a:t>Apprentissages Clés &amp; Perspectives</a:t>
            </a:r>
            <a:r>
              <a:rPr b="0" i="1" lang="fr-FR" sz="3500" u="none" cap="none" strike="noStrike">
                <a:solidFill>
                  <a:srgbClr val="FF00FF"/>
                </a:solidFill>
                <a:latin typeface="Arial"/>
                <a:ea typeface="Arial"/>
                <a:cs typeface="Arial"/>
                <a:sym typeface="Arial"/>
              </a:rPr>
              <a:t> </a:t>
            </a:r>
            <a:endParaRPr b="0" i="0" sz="35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3500" u="none" cap="none" strike="noStrike">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3"/>
          <p:cNvSpPr/>
          <p:nvPr/>
        </p:nvSpPr>
        <p:spPr>
          <a:xfrm>
            <a:off x="43200" y="61200"/>
            <a:ext cx="12143520" cy="674352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1" i="1" lang="fr-FR" sz="2200" u="none" cap="none" strike="noStrike">
                <a:solidFill>
                  <a:srgbClr val="FF0000"/>
                </a:solidFill>
                <a:latin typeface="Arial"/>
                <a:ea typeface="Arial"/>
                <a:cs typeface="Arial"/>
                <a:sym typeface="Arial"/>
              </a:rPr>
              <a:t>Introduction - Objectif et Spécifications</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0" lang="fr-FR" sz="2200" u="none" cap="none" strike="noStrike">
                <a:solidFill>
                  <a:srgbClr val="000000"/>
                </a:solidFill>
                <a:latin typeface="Arial"/>
                <a:ea typeface="Arial"/>
                <a:cs typeface="Arial"/>
                <a:sym typeface="Arial"/>
              </a:rPr>
              <a:t>Objectif du Projet : </a:t>
            </a:r>
            <a:endParaRPr b="1" i="0" sz="22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1" sz="2200"/>
          </a:p>
          <a:p>
            <a:pPr indent="0" lvl="0" marL="0" marR="0" rtl="0" algn="l">
              <a:lnSpc>
                <a:spcPct val="100000"/>
              </a:lnSpc>
              <a:spcBef>
                <a:spcPts val="0"/>
              </a:spcBef>
              <a:spcAft>
                <a:spcPts val="0"/>
              </a:spcAft>
              <a:buNone/>
            </a:pPr>
            <a:r>
              <a:rPr b="0" i="0" lang="fr-FR" sz="2200" u="none" cap="none" strike="noStrike">
                <a:solidFill>
                  <a:srgbClr val="000000"/>
                </a:solidFill>
                <a:latin typeface="Arial"/>
                <a:ea typeface="Arial"/>
                <a:cs typeface="Arial"/>
                <a:sym typeface="Arial"/>
              </a:rPr>
              <a:t>Développer un pipeline de traitement d'images capable de s'adapter à de très grands volumes de données, en utilisant le calcul distribué.</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rPr b="0" i="0" lang="fr-FR" sz="2200" u="none" cap="none" strike="noStrike">
                <a:solidFill>
                  <a:srgbClr val="000000"/>
                </a:solidFill>
                <a:latin typeface="Arial"/>
                <a:ea typeface="Arial"/>
                <a:cs typeface="Arial"/>
                <a:sym typeface="Arial"/>
              </a:rPr>
              <a:t>Extraire des caractéristiques (features) d'images de fruits et légumes de manière distribuée.</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rPr b="0" i="0" lang="fr-FR" sz="2200" u="none" cap="none" strike="noStrike">
                <a:solidFill>
                  <a:srgbClr val="000000"/>
                </a:solidFill>
                <a:latin typeface="Arial"/>
                <a:ea typeface="Arial"/>
                <a:cs typeface="Arial"/>
                <a:sym typeface="Arial"/>
              </a:rPr>
              <a:t>Préparer les données pour une future phase de classification/apprentissage automatique.</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rPr b="0" i="0" lang="fr-FR" sz="2200" u="none" cap="none" strike="noStrike">
                <a:solidFill>
                  <a:srgbClr val="000000"/>
                </a:solidFill>
                <a:latin typeface="Arial"/>
                <a:ea typeface="Arial"/>
                <a:cs typeface="Arial"/>
                <a:sym typeface="Arial"/>
              </a:rPr>
              <a:t>Mettre en œuvre une architecture scalable sur le cloud (AWS) pour industrialiser le processus.</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rPr b="0" i="0" lang="fr-FR" sz="2200" u="none" cap="none" strike="noStrike">
                <a:solidFill>
                  <a:srgbClr val="000000"/>
                </a:solidFill>
                <a:latin typeface="Arial"/>
                <a:ea typeface="Arial"/>
                <a:cs typeface="Arial"/>
                <a:sym typeface="Arial"/>
              </a:rPr>
              <a:t>Déployer la solution sur une infrastructure cloud scalable (AWS).</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0" lang="fr-FR" sz="2200" u="none" cap="none" strike="noStrike">
                <a:solidFill>
                  <a:srgbClr val="000000"/>
                </a:solidFill>
                <a:latin typeface="Arial"/>
                <a:ea typeface="Arial"/>
                <a:cs typeface="Arial"/>
                <a:sym typeface="Arial"/>
              </a:rPr>
              <a:t>Spécifications Techniques du Prototype : </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0" lang="fr-FR" sz="2200" u="none" cap="none" strike="noStrike">
                <a:solidFill>
                  <a:srgbClr val="000000"/>
                </a:solidFill>
                <a:latin typeface="Arial"/>
                <a:ea typeface="Arial"/>
                <a:cs typeface="Arial"/>
                <a:sym typeface="Arial"/>
              </a:rPr>
              <a:t>Framework Big Data</a:t>
            </a:r>
            <a:r>
              <a:rPr b="0" i="0" lang="fr-FR" sz="2200" u="none" cap="none" strike="noStrike">
                <a:solidFill>
                  <a:srgbClr val="000000"/>
                </a:solidFill>
                <a:latin typeface="Arial"/>
                <a:ea typeface="Arial"/>
                <a:cs typeface="Arial"/>
                <a:sym typeface="Arial"/>
              </a:rPr>
              <a:t> : Apache Spark (via PySpark) pour le traitement distribué.</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0" lang="fr-FR" sz="2200" u="none" cap="none" strike="noStrike">
                <a:solidFill>
                  <a:srgbClr val="000000"/>
                </a:solidFill>
                <a:latin typeface="Arial"/>
                <a:ea typeface="Arial"/>
                <a:cs typeface="Arial"/>
                <a:sym typeface="Arial"/>
              </a:rPr>
              <a:t>Deep Learning :</a:t>
            </a:r>
            <a:r>
              <a:rPr b="0" i="0" lang="fr-FR" sz="2200" u="none" cap="none" strike="noStrike">
                <a:solidFill>
                  <a:srgbClr val="000000"/>
                </a:solidFill>
                <a:latin typeface="Arial"/>
                <a:ea typeface="Arial"/>
                <a:cs typeface="Arial"/>
                <a:sym typeface="Arial"/>
              </a:rPr>
              <a:t> TensorFlow / Keras pour l'extraction de features.</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0" lang="fr-FR" sz="2200" u="none" cap="none" strike="noStrike">
                <a:solidFill>
                  <a:srgbClr val="000000"/>
                </a:solidFill>
                <a:latin typeface="Arial"/>
                <a:ea typeface="Arial"/>
                <a:cs typeface="Arial"/>
                <a:sym typeface="Arial"/>
              </a:rPr>
              <a:t>Modèle de Feature Extraction :</a:t>
            </a:r>
            <a:r>
              <a:rPr b="0" i="0" lang="fr-FR" sz="2200" u="none" cap="none" strike="noStrike">
                <a:solidFill>
                  <a:srgbClr val="000000"/>
                </a:solidFill>
                <a:latin typeface="Arial"/>
                <a:ea typeface="Arial"/>
                <a:cs typeface="Arial"/>
                <a:sym typeface="Arial"/>
              </a:rPr>
              <a:t> MobileNetV2, pré-entraîné sur ImageNet, choisi pour sa légèreté, sa rapidité et la faible dimension de son vecteur de sortie (1280).</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0" lang="fr-FR" sz="2200" u="none" cap="none" strike="noStrike">
                <a:solidFill>
                  <a:srgbClr val="000000"/>
                </a:solidFill>
                <a:latin typeface="Arial"/>
                <a:ea typeface="Arial"/>
                <a:cs typeface="Arial"/>
                <a:sym typeface="Arial"/>
              </a:rPr>
              <a:t>Infrastructure Cible :</a:t>
            </a:r>
            <a:r>
              <a:rPr b="0" i="0" lang="fr-FR" sz="2200" u="none" cap="none" strike="noStrike">
                <a:solidFill>
                  <a:srgbClr val="000000"/>
                </a:solidFill>
                <a:latin typeface="Arial"/>
                <a:ea typeface="Arial"/>
                <a:cs typeface="Arial"/>
                <a:sym typeface="Arial"/>
              </a:rPr>
              <a:t> Cluster AWS EMR (Elastic MapReduce) pour le calcul à la demande.</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rPr b="1" i="0" lang="fr-FR" sz="2200" u="none" cap="none" strike="noStrike">
                <a:solidFill>
                  <a:srgbClr val="000000"/>
                </a:solidFill>
                <a:latin typeface="Arial"/>
                <a:ea typeface="Arial"/>
                <a:cs typeface="Arial"/>
                <a:sym typeface="Arial"/>
              </a:rPr>
              <a:t>Stockage :</a:t>
            </a:r>
            <a:r>
              <a:rPr b="0" i="0" lang="fr-FR" sz="2200" u="none" cap="none" strike="noStrike">
                <a:solidFill>
                  <a:srgbClr val="000000"/>
                </a:solidFill>
                <a:latin typeface="Arial"/>
                <a:ea typeface="Arial"/>
                <a:cs typeface="Arial"/>
                <a:sym typeface="Arial"/>
              </a:rPr>
              <a:t> AWS S3 (Simple Storage Service) pour un stockage durable, scalable des données et indépendant du cluster de calcul.</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2200" u="none" cap="none" strike="noStrike">
              <a:latin typeface="Arial"/>
              <a:ea typeface="Arial"/>
              <a:cs typeface="Arial"/>
              <a:sym typeface="Arial"/>
            </a:endParaRPr>
          </a:p>
          <a:p>
            <a:pPr indent="0" lvl="0" marL="0" marR="0" rtl="0" algn="l">
              <a:lnSpc>
                <a:spcPct val="100000"/>
              </a:lnSpc>
              <a:spcBef>
                <a:spcPts val="0"/>
              </a:spcBef>
              <a:spcAft>
                <a:spcPts val="0"/>
              </a:spcAft>
              <a:buNone/>
            </a:pPr>
            <a:r>
              <a:t/>
            </a:r>
            <a:endParaRPr b="0" i="0" sz="2200" u="none" cap="none" strike="noStrike">
              <a:latin typeface="Arial"/>
              <a:ea typeface="Arial"/>
              <a:cs typeface="Arial"/>
              <a:sym typeface="Arial"/>
            </a:endParaRPr>
          </a:p>
        </p:txBody>
      </p:sp>
    </p:spTree>
  </p:cSld>
  <p:clrMapOvr>
    <a:masterClrMapping/>
  </p:clrMapOvr>
  <p:transition spd="slow" p14:dur="1500">
    <p:random/>
  </p:transition>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g395896f6180_0_0"/>
          <p:cNvSpPr txBox="1"/>
          <p:nvPr>
            <p:ph type="title"/>
          </p:nvPr>
        </p:nvSpPr>
        <p:spPr>
          <a:xfrm>
            <a:off x="609480" y="273600"/>
            <a:ext cx="10972500" cy="1144800"/>
          </a:xfrm>
          <a:prstGeom prst="rect">
            <a:avLst/>
          </a:prstGeom>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7" name="Google Shape;87;g395896f6180_0_0"/>
          <p:cNvSpPr txBox="1"/>
          <p:nvPr>
            <p:ph idx="1" type="body"/>
          </p:nvPr>
        </p:nvSpPr>
        <p:spPr>
          <a:xfrm>
            <a:off x="66375" y="-230900"/>
            <a:ext cx="5897400" cy="6985800"/>
          </a:xfrm>
          <a:prstGeom prst="rect">
            <a:avLst/>
          </a:prstGeom>
        </p:spPr>
        <p:txBody>
          <a:bodyPr anchorCtr="0" anchor="t" bIns="0" lIns="0" spcFirstLastPara="1" rIns="0" wrap="square" tIns="0">
            <a:normAutofit fontScale="85000" lnSpcReduction="20000"/>
          </a:bodyPr>
          <a:lstStyle/>
          <a:p>
            <a:pPr indent="0" lvl="0" marL="0" rtl="0" algn="l">
              <a:spcBef>
                <a:spcPts val="0"/>
              </a:spcBef>
              <a:spcAft>
                <a:spcPts val="0"/>
              </a:spcAft>
              <a:buClr>
                <a:schemeClr val="dk1"/>
              </a:buClr>
              <a:buFont typeface="Arial"/>
              <a:buNone/>
            </a:pPr>
            <a:r>
              <a:t/>
            </a:r>
            <a:endParaRPr sz="1900">
              <a:solidFill>
                <a:schemeClr val="dk1"/>
              </a:solidFill>
            </a:endParaRPr>
          </a:p>
          <a:p>
            <a:pPr indent="0" lvl="0" marL="0" rtl="0" algn="l">
              <a:spcBef>
                <a:spcPts val="0"/>
              </a:spcBef>
              <a:spcAft>
                <a:spcPts val="0"/>
              </a:spcAft>
              <a:buNone/>
            </a:pPr>
            <a:r>
              <a:t/>
            </a:r>
            <a:endParaRPr sz="1900">
              <a:solidFill>
                <a:schemeClr val="dk1"/>
              </a:solidFill>
            </a:endParaRPr>
          </a:p>
          <a:p>
            <a:pPr indent="0" lvl="0" marL="0" rtl="0" algn="l">
              <a:spcBef>
                <a:spcPts val="0"/>
              </a:spcBef>
              <a:spcAft>
                <a:spcPts val="0"/>
              </a:spcAft>
              <a:buNone/>
            </a:pPr>
            <a:r>
              <a:t/>
            </a:r>
            <a:endParaRPr sz="1900">
              <a:solidFill>
                <a:schemeClr val="dk1"/>
              </a:solidFill>
            </a:endParaRPr>
          </a:p>
          <a:p>
            <a:pPr indent="0" lvl="0" marL="0" rtl="0" algn="l">
              <a:spcBef>
                <a:spcPts val="0"/>
              </a:spcBef>
              <a:spcAft>
                <a:spcPts val="0"/>
              </a:spcAft>
              <a:buNone/>
            </a:pPr>
            <a:r>
              <a:t/>
            </a:r>
            <a:endParaRPr sz="1900">
              <a:solidFill>
                <a:schemeClr val="dk1"/>
              </a:solidFill>
            </a:endParaRPr>
          </a:p>
          <a:p>
            <a:pPr indent="0" lvl="0" marL="0" rtl="0" algn="l">
              <a:spcBef>
                <a:spcPts val="0"/>
              </a:spcBef>
              <a:spcAft>
                <a:spcPts val="0"/>
              </a:spcAft>
              <a:buNone/>
            </a:pPr>
            <a:r>
              <a:t/>
            </a:r>
            <a:endParaRPr b="1" i="1" sz="2864">
              <a:solidFill>
                <a:srgbClr val="FF0000"/>
              </a:solidFill>
            </a:endParaRPr>
          </a:p>
          <a:p>
            <a:pPr indent="0" lvl="0" marL="0" rtl="0" algn="l">
              <a:spcBef>
                <a:spcPts val="0"/>
              </a:spcBef>
              <a:spcAft>
                <a:spcPts val="0"/>
              </a:spcAft>
              <a:buNone/>
            </a:pPr>
            <a:r>
              <a:t/>
            </a:r>
            <a:endParaRPr b="1" i="1" sz="2864">
              <a:solidFill>
                <a:srgbClr val="FF0000"/>
              </a:solidFill>
            </a:endParaRPr>
          </a:p>
          <a:p>
            <a:pPr indent="0" lvl="0" marL="0" rtl="0" algn="l">
              <a:spcBef>
                <a:spcPts val="0"/>
              </a:spcBef>
              <a:spcAft>
                <a:spcPts val="0"/>
              </a:spcAft>
              <a:buClr>
                <a:schemeClr val="dk1"/>
              </a:buClr>
              <a:buFont typeface="Arial"/>
              <a:buNone/>
            </a:pPr>
            <a:r>
              <a:rPr b="1" i="1" lang="fr-FR" sz="2864">
                <a:solidFill>
                  <a:srgbClr val="FF0000"/>
                </a:solidFill>
              </a:rPr>
              <a:t>Le Jeu de Données - Fruits 360</a:t>
            </a:r>
            <a:endParaRPr sz="2864">
              <a:solidFill>
                <a:schemeClr val="dk1"/>
              </a:solidFill>
            </a:endParaRPr>
          </a:p>
          <a:p>
            <a:pPr indent="0" lvl="0" marL="0" rtl="0" algn="l">
              <a:spcBef>
                <a:spcPts val="0"/>
              </a:spcBef>
              <a:spcAft>
                <a:spcPts val="0"/>
              </a:spcAft>
              <a:buNone/>
            </a:pPr>
            <a:r>
              <a:t/>
            </a:r>
            <a:endParaRPr b="1" i="1" sz="1900">
              <a:solidFill>
                <a:schemeClr val="dk1"/>
              </a:solidFill>
            </a:endParaRPr>
          </a:p>
          <a:p>
            <a:pPr indent="0" lvl="0" marL="0" rtl="0" algn="l">
              <a:spcBef>
                <a:spcPts val="0"/>
              </a:spcBef>
              <a:spcAft>
                <a:spcPts val="0"/>
              </a:spcAft>
              <a:buNone/>
            </a:pPr>
            <a:r>
              <a:t/>
            </a:r>
            <a:endParaRPr b="1" i="1" sz="1900">
              <a:solidFill>
                <a:schemeClr val="dk1"/>
              </a:solidFill>
            </a:endParaRPr>
          </a:p>
          <a:p>
            <a:pPr indent="0" lvl="0" marL="0" rtl="0" algn="l">
              <a:spcBef>
                <a:spcPts val="0"/>
              </a:spcBef>
              <a:spcAft>
                <a:spcPts val="0"/>
              </a:spcAft>
              <a:buNone/>
            </a:pPr>
            <a:r>
              <a:rPr b="1" i="1" lang="fr-FR" sz="1900">
                <a:solidFill>
                  <a:schemeClr val="dk1"/>
                </a:solidFill>
              </a:rPr>
              <a:t>Source :</a:t>
            </a:r>
            <a:r>
              <a:rPr lang="fr-FR" sz="1900">
                <a:solidFill>
                  <a:schemeClr val="dk1"/>
                </a:solidFill>
              </a:rPr>
              <a:t> Dataset public "Fruits 360".</a:t>
            </a:r>
            <a:endParaRPr b="1" i="1" sz="1900">
              <a:solidFill>
                <a:schemeClr val="dk1"/>
              </a:solidFill>
            </a:endParaRPr>
          </a:p>
          <a:p>
            <a:pPr indent="0" lvl="0" marL="0" rtl="0" algn="l">
              <a:spcBef>
                <a:spcPts val="0"/>
              </a:spcBef>
              <a:spcAft>
                <a:spcPts val="0"/>
              </a:spcAft>
              <a:buNone/>
            </a:pPr>
            <a:r>
              <a:t/>
            </a:r>
            <a:endParaRPr b="1" i="1" sz="1900">
              <a:solidFill>
                <a:schemeClr val="dk1"/>
              </a:solidFill>
            </a:endParaRPr>
          </a:p>
          <a:p>
            <a:pPr indent="0" lvl="0" marL="0" rtl="0" algn="l">
              <a:spcBef>
                <a:spcPts val="0"/>
              </a:spcBef>
              <a:spcAft>
                <a:spcPts val="0"/>
              </a:spcAft>
              <a:buClr>
                <a:schemeClr val="dk1"/>
              </a:buClr>
              <a:buFont typeface="Arial"/>
              <a:buNone/>
            </a:pPr>
            <a:r>
              <a:rPr b="1" i="1" lang="fr-FR" sz="1900">
                <a:solidFill>
                  <a:schemeClr val="dk1"/>
                </a:solidFill>
              </a:rPr>
              <a:t>Description générale :</a:t>
            </a:r>
            <a:r>
              <a:rPr lang="fr-FR" sz="1900">
                <a:solidFill>
                  <a:schemeClr val="dk1"/>
                </a:solidFill>
              </a:rPr>
              <a:t> Contient 90,380 images de 131 fruits et légumes différents.</a:t>
            </a:r>
            <a:endParaRPr sz="1900">
              <a:solidFill>
                <a:schemeClr val="dk1"/>
              </a:solidFill>
            </a:endParaRPr>
          </a:p>
          <a:p>
            <a:pPr indent="0" lvl="0" marL="0" rtl="0" algn="l">
              <a:spcBef>
                <a:spcPts val="0"/>
              </a:spcBef>
              <a:spcAft>
                <a:spcPts val="0"/>
              </a:spcAft>
              <a:buClr>
                <a:schemeClr val="dk1"/>
              </a:buClr>
              <a:buFont typeface="Arial"/>
              <a:buNone/>
            </a:pPr>
            <a:r>
              <a:t/>
            </a:r>
            <a:endParaRPr sz="1900">
              <a:solidFill>
                <a:schemeClr val="dk1"/>
              </a:solidFill>
            </a:endParaRPr>
          </a:p>
          <a:p>
            <a:pPr indent="0" lvl="0" marL="0" rtl="0" algn="l">
              <a:spcBef>
                <a:spcPts val="0"/>
              </a:spcBef>
              <a:spcAft>
                <a:spcPts val="0"/>
              </a:spcAft>
              <a:buClr>
                <a:schemeClr val="dk1"/>
              </a:buClr>
              <a:buFont typeface="Arial"/>
              <a:buNone/>
            </a:pPr>
            <a:r>
              <a:rPr b="1" i="1" lang="fr-FR" sz="1900">
                <a:solidFill>
                  <a:schemeClr val="dk1"/>
                </a:solidFill>
              </a:rPr>
              <a:t>Sous-ensemble utilisé pour le prototype :</a:t>
            </a:r>
            <a:r>
              <a:rPr lang="fr-FR" sz="1900">
                <a:solidFill>
                  <a:schemeClr val="dk1"/>
                </a:solidFill>
              </a:rPr>
              <a:t> 10 catégories (ex: Fraise, Pomme Red Delicious, Poivron Vert, Maïs, Banane, Tomate, Pomme de terre, Ananas, Orange, Pêche).</a:t>
            </a:r>
            <a:endParaRPr sz="1900">
              <a:solidFill>
                <a:schemeClr val="dk1"/>
              </a:solidFill>
            </a:endParaRPr>
          </a:p>
          <a:p>
            <a:pPr indent="0" lvl="0" marL="0" rtl="0" algn="l">
              <a:spcBef>
                <a:spcPts val="0"/>
              </a:spcBef>
              <a:spcAft>
                <a:spcPts val="0"/>
              </a:spcAft>
              <a:buClr>
                <a:schemeClr val="dk1"/>
              </a:buClr>
              <a:buFont typeface="Arial"/>
              <a:buNone/>
            </a:pPr>
            <a:r>
              <a:t/>
            </a:r>
            <a:endParaRPr sz="1900">
              <a:solidFill>
                <a:schemeClr val="dk1"/>
              </a:solidFill>
            </a:endParaRPr>
          </a:p>
          <a:p>
            <a:pPr indent="0" lvl="0" marL="0" rtl="0" algn="l">
              <a:spcBef>
                <a:spcPts val="0"/>
              </a:spcBef>
              <a:spcAft>
                <a:spcPts val="0"/>
              </a:spcAft>
              <a:buClr>
                <a:schemeClr val="dk1"/>
              </a:buClr>
              <a:buFont typeface="Arial"/>
              <a:buNone/>
            </a:pPr>
            <a:r>
              <a:rPr b="1" i="1" lang="fr-FR" sz="1900">
                <a:solidFill>
                  <a:schemeClr val="dk1"/>
                </a:solidFill>
              </a:rPr>
              <a:t>Caractéristiques des images :</a:t>
            </a:r>
            <a:endParaRPr sz="1900">
              <a:solidFill>
                <a:schemeClr val="dk1"/>
              </a:solidFill>
            </a:endParaRPr>
          </a:p>
          <a:p>
            <a:pPr indent="0" lvl="0" marL="0" rtl="0" algn="l">
              <a:spcBef>
                <a:spcPts val="0"/>
              </a:spcBef>
              <a:spcAft>
                <a:spcPts val="0"/>
              </a:spcAft>
              <a:buClr>
                <a:schemeClr val="dk1"/>
              </a:buClr>
              <a:buFont typeface="Arial"/>
              <a:buNone/>
            </a:pPr>
            <a:r>
              <a:t/>
            </a:r>
            <a:endParaRPr sz="1900">
              <a:solidFill>
                <a:schemeClr val="dk1"/>
              </a:solidFill>
            </a:endParaRPr>
          </a:p>
          <a:p>
            <a:pPr indent="0" lvl="0" marL="0" rtl="0" algn="l">
              <a:spcBef>
                <a:spcPts val="0"/>
              </a:spcBef>
              <a:spcAft>
                <a:spcPts val="0"/>
              </a:spcAft>
              <a:buClr>
                <a:schemeClr val="dk1"/>
              </a:buClr>
              <a:buFont typeface="Arial"/>
              <a:buNone/>
            </a:pPr>
            <a:r>
              <a:rPr i="1" lang="fr-FR" sz="1900">
                <a:solidFill>
                  <a:schemeClr val="dk1"/>
                </a:solidFill>
              </a:rPr>
              <a:t>Dimensions :</a:t>
            </a:r>
            <a:r>
              <a:rPr lang="fr-FR" sz="1900">
                <a:solidFill>
                  <a:schemeClr val="dk1"/>
                </a:solidFill>
              </a:rPr>
              <a:t> 100 x 100 pixels.</a:t>
            </a:r>
            <a:endParaRPr sz="1900">
              <a:solidFill>
                <a:schemeClr val="dk1"/>
              </a:solidFill>
            </a:endParaRPr>
          </a:p>
          <a:p>
            <a:pPr indent="0" lvl="0" marL="0" rtl="0" algn="l">
              <a:spcBef>
                <a:spcPts val="0"/>
              </a:spcBef>
              <a:spcAft>
                <a:spcPts val="0"/>
              </a:spcAft>
              <a:buClr>
                <a:schemeClr val="dk1"/>
              </a:buClr>
              <a:buFont typeface="Arial"/>
              <a:buNone/>
            </a:pPr>
            <a:r>
              <a:t/>
            </a:r>
            <a:endParaRPr sz="1900">
              <a:solidFill>
                <a:schemeClr val="dk1"/>
              </a:solidFill>
            </a:endParaRPr>
          </a:p>
          <a:p>
            <a:pPr indent="0" lvl="0" marL="0" rtl="0" algn="l">
              <a:spcBef>
                <a:spcPts val="0"/>
              </a:spcBef>
              <a:spcAft>
                <a:spcPts val="0"/>
              </a:spcAft>
              <a:buClr>
                <a:schemeClr val="dk1"/>
              </a:buClr>
              <a:buFont typeface="Arial"/>
              <a:buNone/>
            </a:pPr>
            <a:r>
              <a:rPr i="1" lang="fr-FR" sz="1900">
                <a:solidFill>
                  <a:schemeClr val="dk1"/>
                </a:solidFill>
              </a:rPr>
              <a:t>Type :</a:t>
            </a:r>
            <a:r>
              <a:rPr lang="fr-FR" sz="1900">
                <a:solidFill>
                  <a:schemeClr val="dk1"/>
                </a:solidFill>
              </a:rPr>
              <a:t> Couleur (RVB - 3 canaux).</a:t>
            </a:r>
            <a:endParaRPr sz="1900">
              <a:solidFill>
                <a:schemeClr val="dk1"/>
              </a:solidFill>
            </a:endParaRPr>
          </a:p>
          <a:p>
            <a:pPr indent="0" lvl="0" marL="0" rtl="0" algn="l">
              <a:spcBef>
                <a:spcPts val="0"/>
              </a:spcBef>
              <a:spcAft>
                <a:spcPts val="0"/>
              </a:spcAft>
              <a:buClr>
                <a:schemeClr val="dk1"/>
              </a:buClr>
              <a:buFont typeface="Arial"/>
              <a:buNone/>
            </a:pPr>
            <a:r>
              <a:t/>
            </a:r>
            <a:endParaRPr sz="1900">
              <a:solidFill>
                <a:schemeClr val="dk1"/>
              </a:solidFill>
            </a:endParaRPr>
          </a:p>
          <a:p>
            <a:pPr indent="0" lvl="0" marL="0" rtl="0" algn="l">
              <a:spcBef>
                <a:spcPts val="0"/>
              </a:spcBef>
              <a:spcAft>
                <a:spcPts val="0"/>
              </a:spcAft>
              <a:buClr>
                <a:schemeClr val="dk1"/>
              </a:buClr>
              <a:buFont typeface="Arial"/>
              <a:buNone/>
            </a:pPr>
            <a:r>
              <a:rPr b="1" i="1" lang="fr-FR" sz="1900">
                <a:solidFill>
                  <a:schemeClr val="dk1"/>
                </a:solidFill>
              </a:rPr>
              <a:t>Volume des données :</a:t>
            </a:r>
            <a:endParaRPr sz="1900">
              <a:solidFill>
                <a:schemeClr val="dk1"/>
              </a:solidFill>
            </a:endParaRPr>
          </a:p>
          <a:p>
            <a:pPr indent="0" lvl="0" marL="0" rtl="0" algn="l">
              <a:spcBef>
                <a:spcPts val="0"/>
              </a:spcBef>
              <a:spcAft>
                <a:spcPts val="0"/>
              </a:spcAft>
              <a:buClr>
                <a:schemeClr val="dk1"/>
              </a:buClr>
              <a:buFont typeface="Arial"/>
              <a:buNone/>
            </a:pPr>
            <a:r>
              <a:t/>
            </a:r>
            <a:endParaRPr sz="1900">
              <a:solidFill>
                <a:schemeClr val="dk1"/>
              </a:solidFill>
            </a:endParaRPr>
          </a:p>
          <a:p>
            <a:pPr indent="0" lvl="0" marL="0" rtl="0" algn="l">
              <a:spcBef>
                <a:spcPts val="0"/>
              </a:spcBef>
              <a:spcAft>
                <a:spcPts val="0"/>
              </a:spcAft>
              <a:buClr>
                <a:schemeClr val="dk1"/>
              </a:buClr>
              <a:buFont typeface="Arial"/>
              <a:buNone/>
            </a:pPr>
            <a:r>
              <a:rPr lang="fr-FR" sz="1900">
                <a:solidFill>
                  <a:schemeClr val="dk1"/>
                </a:solidFill>
              </a:rPr>
              <a:t>67,692 images pour l'entraînement.</a:t>
            </a:r>
            <a:endParaRPr sz="1900">
              <a:solidFill>
                <a:schemeClr val="dk1"/>
              </a:solidFill>
            </a:endParaRPr>
          </a:p>
          <a:p>
            <a:pPr indent="0" lvl="0" marL="0" rtl="0" algn="l">
              <a:spcBef>
                <a:spcPts val="0"/>
              </a:spcBef>
              <a:spcAft>
                <a:spcPts val="0"/>
              </a:spcAft>
              <a:buClr>
                <a:schemeClr val="dk1"/>
              </a:buClr>
              <a:buFont typeface="Arial"/>
              <a:buNone/>
            </a:pPr>
            <a:r>
              <a:t/>
            </a:r>
            <a:endParaRPr sz="1900">
              <a:solidFill>
                <a:schemeClr val="dk1"/>
              </a:solidFill>
            </a:endParaRPr>
          </a:p>
          <a:p>
            <a:pPr indent="0" lvl="0" marL="0" rtl="0" algn="l">
              <a:spcBef>
                <a:spcPts val="0"/>
              </a:spcBef>
              <a:spcAft>
                <a:spcPts val="0"/>
              </a:spcAft>
              <a:buClr>
                <a:schemeClr val="dk1"/>
              </a:buClr>
              <a:buFont typeface="Arial"/>
              <a:buNone/>
            </a:pPr>
            <a:r>
              <a:rPr lang="fr-FR" sz="1900">
                <a:solidFill>
                  <a:schemeClr val="dk1"/>
                </a:solidFill>
              </a:rPr>
              <a:t>22,688 images pour le test.</a:t>
            </a:r>
            <a:endParaRPr sz="1900">
              <a:solidFill>
                <a:schemeClr val="dk1"/>
              </a:solidFill>
            </a:endParaRPr>
          </a:p>
          <a:p>
            <a:pPr indent="0" lvl="0" marL="0" rtl="0" algn="l">
              <a:spcBef>
                <a:spcPts val="0"/>
              </a:spcBef>
              <a:spcAft>
                <a:spcPts val="0"/>
              </a:spcAft>
              <a:buClr>
                <a:schemeClr val="dk1"/>
              </a:buClr>
              <a:buFont typeface="Arial"/>
              <a:buNone/>
            </a:pPr>
            <a:r>
              <a:t/>
            </a:r>
            <a:endParaRPr sz="1900">
              <a:solidFill>
                <a:schemeClr val="dk1"/>
              </a:solidFill>
            </a:endParaRPr>
          </a:p>
          <a:p>
            <a:pPr indent="0" lvl="0" marL="0" rtl="0" algn="l">
              <a:spcBef>
                <a:spcPts val="0"/>
              </a:spcBef>
              <a:spcAft>
                <a:spcPts val="0"/>
              </a:spcAft>
              <a:buClr>
                <a:schemeClr val="dk1"/>
              </a:buClr>
              <a:buFont typeface="Arial"/>
              <a:buNone/>
            </a:pPr>
            <a:r>
              <a:rPr b="1" i="1" lang="fr-FR" sz="1900">
                <a:solidFill>
                  <a:schemeClr val="dk1"/>
                </a:solidFill>
              </a:rPr>
              <a:t>Objectif :</a:t>
            </a:r>
            <a:r>
              <a:rPr lang="fr-FR" sz="1900">
                <a:solidFill>
                  <a:schemeClr val="dk1"/>
                </a:solidFill>
              </a:rPr>
              <a:t> Utiliser ce dataset comme base pour valider un pipeline d'extraction de features à grande échelle.</a:t>
            </a:r>
            <a:endParaRPr sz="1900">
              <a:solidFill>
                <a:schemeClr val="dk1"/>
              </a:solidFill>
            </a:endParaRPr>
          </a:p>
          <a:p>
            <a:pPr indent="0" lvl="0" marL="0" rtl="0" algn="l">
              <a:spcBef>
                <a:spcPts val="0"/>
              </a:spcBef>
              <a:spcAft>
                <a:spcPts val="0"/>
              </a:spcAft>
              <a:buNone/>
            </a:pPr>
            <a:r>
              <a:t/>
            </a:r>
            <a:endParaRPr/>
          </a:p>
        </p:txBody>
      </p:sp>
      <p:sp>
        <p:nvSpPr>
          <p:cNvPr id="88" name="Google Shape;88;g395896f6180_0_0"/>
          <p:cNvSpPr txBox="1"/>
          <p:nvPr>
            <p:ph idx="2" type="body"/>
          </p:nvPr>
        </p:nvSpPr>
        <p:spPr>
          <a:xfrm>
            <a:off x="6227575" y="-230900"/>
            <a:ext cx="5354400" cy="7089000"/>
          </a:xfrm>
          <a:prstGeom prst="rect">
            <a:avLst/>
          </a:prstGeom>
        </p:spPr>
        <p:txBody>
          <a:bodyPr anchorCtr="0" anchor="t" bIns="0" lIns="0" spcFirstLastPara="1" rIns="0" wrap="square" tIns="0">
            <a:normAutofit/>
          </a:bodyPr>
          <a:lstStyle/>
          <a:p>
            <a:pPr indent="-171450" lvl="0" marL="0" rtl="0" algn="ctr">
              <a:lnSpc>
                <a:spcPct val="80000"/>
              </a:lnSpc>
              <a:spcBef>
                <a:spcPts val="0"/>
              </a:spcBef>
              <a:spcAft>
                <a:spcPts val="0"/>
              </a:spcAft>
              <a:buClr>
                <a:schemeClr val="dk1"/>
              </a:buClr>
              <a:buSzPts val="2700"/>
              <a:buChar char="•"/>
            </a:pPr>
            <a:r>
              <a:t/>
            </a:r>
            <a:endParaRPr sz="4300">
              <a:solidFill>
                <a:schemeClr val="dk1"/>
              </a:solidFill>
              <a:latin typeface="Calibri"/>
              <a:ea typeface="Calibri"/>
              <a:cs typeface="Calibri"/>
              <a:sym typeface="Calibri"/>
            </a:endParaRPr>
          </a:p>
          <a:p>
            <a:pPr indent="-171450" lvl="0" marL="0" rtl="0" algn="ctr">
              <a:lnSpc>
                <a:spcPct val="80000"/>
              </a:lnSpc>
              <a:spcBef>
                <a:spcPts val="0"/>
              </a:spcBef>
              <a:spcAft>
                <a:spcPts val="0"/>
              </a:spcAft>
              <a:buClr>
                <a:schemeClr val="dk1"/>
              </a:buClr>
              <a:buSzPts val="2700"/>
              <a:buChar char="•"/>
            </a:pPr>
            <a:r>
              <a:rPr lang="fr-FR" sz="4300">
                <a:solidFill>
                  <a:schemeClr val="dk1"/>
                </a:solidFill>
                <a:latin typeface="Calibri"/>
                <a:ea typeface="Calibri"/>
                <a:cs typeface="Calibri"/>
                <a:sym typeface="Calibri"/>
              </a:rPr>
              <a:t>Dataset Description</a:t>
            </a:r>
            <a:endParaRPr sz="2700">
              <a:solidFill>
                <a:schemeClr val="dk1"/>
              </a:solidFill>
              <a:latin typeface="Calibri"/>
              <a:ea typeface="Calibri"/>
              <a:cs typeface="Calibri"/>
              <a:sym typeface="Calibri"/>
            </a:endParaRPr>
          </a:p>
          <a:p>
            <a:pPr indent="-222250" lvl="0" marL="228600" rtl="0" algn="l">
              <a:lnSpc>
                <a:spcPct val="80000"/>
              </a:lnSpc>
              <a:spcBef>
                <a:spcPts val="0"/>
              </a:spcBef>
              <a:spcAft>
                <a:spcPts val="0"/>
              </a:spcAft>
              <a:buClr>
                <a:schemeClr val="dk1"/>
              </a:buClr>
              <a:buSzPts val="2700"/>
              <a:buChar char="•"/>
            </a:pPr>
            <a:r>
              <a:rPr lang="fr-FR" sz="2700">
                <a:solidFill>
                  <a:schemeClr val="dk1"/>
                </a:solidFill>
                <a:latin typeface="Calibri"/>
                <a:ea typeface="Calibri"/>
                <a:cs typeface="Calibri"/>
                <a:sym typeface="Calibri"/>
              </a:rPr>
              <a:t>Fruit 360 is a dataset with 90380 images of 131 fruits and vegetables, containing only 10 fruits/vegetables (Strawberry, Apple_Red_Delicious, Pepper_Green, Corn, Banana, Tomato_1, Potato_White, Pineapple, Orange, and Peach)</a:t>
            </a:r>
            <a:endParaRPr sz="2700">
              <a:solidFill>
                <a:schemeClr val="dk1"/>
              </a:solidFill>
            </a:endParaRPr>
          </a:p>
          <a:p>
            <a:pPr indent="-222250" lvl="0" marL="228600" rtl="0" algn="l">
              <a:lnSpc>
                <a:spcPct val="80000"/>
              </a:lnSpc>
              <a:spcBef>
                <a:spcPts val="1001"/>
              </a:spcBef>
              <a:spcAft>
                <a:spcPts val="0"/>
              </a:spcAft>
              <a:buClr>
                <a:schemeClr val="dk1"/>
              </a:buClr>
              <a:buSzPts val="2700"/>
              <a:buChar char="•"/>
            </a:pPr>
            <a:r>
              <a:rPr lang="fr-FR" sz="2700">
                <a:solidFill>
                  <a:schemeClr val="dk1"/>
                </a:solidFill>
                <a:latin typeface="Calibri"/>
                <a:ea typeface="Calibri"/>
                <a:cs typeface="Calibri"/>
                <a:sym typeface="Calibri"/>
              </a:rPr>
              <a:t>Images are 100 pixel by 100 pixel and are color (RGB) images (Hence, 3 values for each pixel). </a:t>
            </a:r>
            <a:endParaRPr sz="2700">
              <a:solidFill>
                <a:schemeClr val="dk1"/>
              </a:solidFill>
            </a:endParaRPr>
          </a:p>
          <a:p>
            <a:pPr indent="-222250" lvl="0" marL="228600" rtl="0" algn="l">
              <a:lnSpc>
                <a:spcPct val="80000"/>
              </a:lnSpc>
              <a:spcBef>
                <a:spcPts val="1001"/>
              </a:spcBef>
              <a:spcAft>
                <a:spcPts val="0"/>
              </a:spcAft>
              <a:buClr>
                <a:schemeClr val="dk1"/>
              </a:buClr>
              <a:buSzPts val="2700"/>
              <a:buChar char="•"/>
            </a:pPr>
            <a:r>
              <a:rPr lang="fr-FR" sz="2700">
                <a:solidFill>
                  <a:schemeClr val="dk1"/>
                </a:solidFill>
                <a:latin typeface="Calibri"/>
                <a:ea typeface="Calibri"/>
                <a:cs typeface="Calibri"/>
                <a:sym typeface="Calibri"/>
              </a:rPr>
              <a:t>67,692 images in the training dataset.</a:t>
            </a:r>
            <a:endParaRPr sz="2700">
              <a:solidFill>
                <a:schemeClr val="dk1"/>
              </a:solidFill>
            </a:endParaRPr>
          </a:p>
          <a:p>
            <a:pPr indent="-222250" lvl="0" marL="228600" rtl="0" algn="l">
              <a:lnSpc>
                <a:spcPct val="80000"/>
              </a:lnSpc>
              <a:spcBef>
                <a:spcPts val="1001"/>
              </a:spcBef>
              <a:spcAft>
                <a:spcPts val="0"/>
              </a:spcAft>
              <a:buClr>
                <a:schemeClr val="dk1"/>
              </a:buClr>
              <a:buSzPts val="2700"/>
              <a:buChar char="•"/>
            </a:pPr>
            <a:r>
              <a:rPr lang="fr-FR" sz="2700">
                <a:solidFill>
                  <a:schemeClr val="dk1"/>
                </a:solidFill>
                <a:latin typeface="Calibri"/>
                <a:ea typeface="Calibri"/>
                <a:cs typeface="Calibri"/>
                <a:sym typeface="Calibri"/>
              </a:rPr>
              <a:t>22,688 images in the test dataset.</a:t>
            </a:r>
            <a:endParaRPr sz="2700">
              <a:solidFill>
                <a:schemeClr val="dk1"/>
              </a:solidFill>
            </a:endParaRPr>
          </a:p>
          <a:p>
            <a:pPr indent="0" lvl="0" marL="0" rtl="0" algn="l">
              <a:lnSpc>
                <a:spcPct val="80000"/>
              </a:lnSpc>
              <a:spcBef>
                <a:spcPts val="1001"/>
              </a:spcBef>
              <a:spcAft>
                <a:spcPts val="0"/>
              </a:spcAft>
              <a:buClr>
                <a:schemeClr val="dk1"/>
              </a:buClr>
              <a:buFont typeface="Arial"/>
              <a:buNone/>
            </a:pPr>
            <a:r>
              <a:t/>
            </a:r>
            <a:endParaRPr sz="2700">
              <a:solidFill>
                <a:schemeClr val="dk1"/>
              </a:solidFill>
            </a:endParaRPr>
          </a:p>
          <a:p>
            <a:pPr indent="0" lvl="0" marL="0" rtl="0" algn="l">
              <a:lnSpc>
                <a:spcPct val="90000"/>
              </a:lnSpc>
              <a:spcBef>
                <a:spcPts val="0"/>
              </a:spcBef>
              <a:spcAft>
                <a:spcPts val="0"/>
              </a:spcAft>
              <a:buNone/>
            </a:pPr>
            <a:r>
              <a:t/>
            </a:r>
            <a:endParaRPr sz="1700"/>
          </a:p>
        </p:txBody>
      </p:sp>
      <p:pic>
        <p:nvPicPr>
          <p:cNvPr id="89" name="Google Shape;89;g395896f6180_0_0"/>
          <p:cNvPicPr preferRelativeResize="0"/>
          <p:nvPr/>
        </p:nvPicPr>
        <p:blipFill rotWithShape="1">
          <a:blip r:embed="rId3">
            <a:alphaModFix/>
          </a:blip>
          <a:srcRect b="0" l="0" r="0" t="34533"/>
          <a:stretch/>
        </p:blipFill>
        <p:spPr>
          <a:xfrm>
            <a:off x="5963765" y="5642650"/>
            <a:ext cx="6001199" cy="121536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6"/>
          <p:cNvSpPr/>
          <p:nvPr/>
        </p:nvSpPr>
        <p:spPr>
          <a:xfrm>
            <a:off x="0" y="0"/>
            <a:ext cx="12192000" cy="6858000"/>
          </a:xfrm>
          <a:prstGeom prst="rect">
            <a:avLst/>
          </a:prstGeom>
          <a:noFill/>
          <a:ln>
            <a:noFill/>
          </a:ln>
        </p:spPr>
        <p:txBody>
          <a:bodyPr anchorCtr="0" anchor="t" bIns="45000" lIns="90000" spcFirstLastPara="1" rIns="90000" wrap="square" tIns="45000">
            <a:noAutofit/>
          </a:bodyPr>
          <a:lstStyle/>
          <a:p>
            <a:pPr indent="0" lvl="0" marL="0" rtl="0" algn="l">
              <a:lnSpc>
                <a:spcPct val="150000"/>
              </a:lnSpc>
              <a:spcBef>
                <a:spcPts val="2400"/>
              </a:spcBef>
              <a:spcAft>
                <a:spcPts val="0"/>
              </a:spcAft>
              <a:buClr>
                <a:schemeClr val="dk1"/>
              </a:buClr>
              <a:buSzPts val="1100"/>
              <a:buFont typeface="Arial"/>
              <a:buNone/>
            </a:pPr>
            <a:r>
              <a:rPr b="1" lang="fr-FR" sz="2100">
                <a:solidFill>
                  <a:srgbClr val="0F1115"/>
                </a:solidFill>
                <a:highlight>
                  <a:srgbClr val="FFFFFF"/>
                </a:highlight>
                <a:latin typeface="Roboto"/>
                <a:ea typeface="Roboto"/>
                <a:cs typeface="Roboto"/>
                <a:sym typeface="Roboto"/>
              </a:rPr>
              <a:t>Préparation de l'Environnement - Défis et Solutions</a:t>
            </a:r>
            <a:endParaRPr b="1" sz="2100">
              <a:solidFill>
                <a:srgbClr val="0F1115"/>
              </a:solidFill>
              <a:highlight>
                <a:srgbClr val="FFFFFF"/>
              </a:highlight>
              <a:latin typeface="Roboto"/>
              <a:ea typeface="Roboto"/>
              <a:cs typeface="Roboto"/>
              <a:sym typeface="Roboto"/>
            </a:endParaRPr>
          </a:p>
          <a:p>
            <a:pPr indent="-342900" lvl="0" marL="457200" rtl="0" algn="l">
              <a:lnSpc>
                <a:spcPct val="115000"/>
              </a:lnSpc>
              <a:spcBef>
                <a:spcPts val="1200"/>
              </a:spcBef>
              <a:spcAft>
                <a:spcPts val="0"/>
              </a:spcAft>
              <a:buClr>
                <a:srgbClr val="0F1115"/>
              </a:buClr>
              <a:buSzPts val="1800"/>
              <a:buFont typeface="Roboto"/>
              <a:buChar char="●"/>
            </a:pPr>
            <a:r>
              <a:rPr b="1" lang="fr-FR" sz="1800">
                <a:solidFill>
                  <a:srgbClr val="0F1115"/>
                </a:solidFill>
                <a:highlight>
                  <a:srgbClr val="FFFFFF"/>
                </a:highlight>
                <a:latin typeface="Roboto"/>
                <a:ea typeface="Roboto"/>
                <a:cs typeface="Roboto"/>
                <a:sym typeface="Roboto"/>
              </a:rPr>
              <a:t>Développement en local (Simulation sur Windows) :</a:t>
            </a:r>
            <a:endParaRPr b="1" sz="18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b="1" lang="fr-FR" sz="1800">
                <a:solidFill>
                  <a:srgbClr val="0F1115"/>
                </a:solidFill>
                <a:highlight>
                  <a:srgbClr val="FFFFFF"/>
                </a:highlight>
                <a:latin typeface="Roboto"/>
                <a:ea typeface="Roboto"/>
                <a:cs typeface="Roboto"/>
                <a:sym typeface="Roboto"/>
              </a:rPr>
              <a:t>Configuration :</a:t>
            </a:r>
            <a:r>
              <a:rPr lang="fr-FR" sz="1800">
                <a:solidFill>
                  <a:srgbClr val="0F1115"/>
                </a:solidFill>
                <a:highlight>
                  <a:srgbClr val="FFFFFF"/>
                </a:highlight>
                <a:latin typeface="Roboto"/>
                <a:ea typeface="Roboto"/>
                <a:cs typeface="Roboto"/>
                <a:sym typeface="Roboto"/>
              </a:rPr>
              <a:t> Spark en mode </a:t>
            </a:r>
            <a:r>
              <a:rPr lang="fr-FR" sz="1650">
                <a:solidFill>
                  <a:srgbClr val="0F1115"/>
                </a:solidFill>
                <a:highlight>
                  <a:srgbClr val="EBEEF2"/>
                </a:highlight>
                <a:latin typeface="Roboto Mono"/>
                <a:ea typeface="Roboto Mono"/>
                <a:cs typeface="Roboto Mono"/>
                <a:sym typeface="Roboto Mono"/>
              </a:rPr>
              <a:t>local[*]</a:t>
            </a:r>
            <a:r>
              <a:rPr lang="fr-FR" sz="1800">
                <a:solidFill>
                  <a:srgbClr val="0F1115"/>
                </a:solidFill>
                <a:highlight>
                  <a:srgbClr val="FFFFFF"/>
                </a:highlight>
                <a:latin typeface="Roboto"/>
                <a:ea typeface="Roboto"/>
                <a:cs typeface="Roboto"/>
                <a:sym typeface="Roboto"/>
              </a:rPr>
              <a:t>, simulant un cluster en utilisant tous les cœurs du processeur.</a:t>
            </a:r>
            <a:endParaRPr sz="1800">
              <a:solidFill>
                <a:srgbClr val="0F1115"/>
              </a:solidFill>
              <a:highlight>
                <a:srgbClr val="FFFFFF"/>
              </a:highlight>
              <a:latin typeface="Roboto"/>
              <a:ea typeface="Roboto"/>
              <a:cs typeface="Roboto"/>
              <a:sym typeface="Roboto"/>
            </a:endParaRPr>
          </a:p>
          <a:p>
            <a:pPr indent="-342900" lvl="1" marL="914400" rtl="0" algn="l">
              <a:lnSpc>
                <a:spcPct val="115000"/>
              </a:lnSpc>
              <a:spcBef>
                <a:spcPts val="0"/>
              </a:spcBef>
              <a:spcAft>
                <a:spcPts val="0"/>
              </a:spcAft>
              <a:buClr>
                <a:srgbClr val="0F1115"/>
              </a:buClr>
              <a:buSzPts val="1800"/>
              <a:buFont typeface="Roboto"/>
              <a:buChar char="○"/>
            </a:pPr>
            <a:r>
              <a:rPr b="1" lang="fr-FR" sz="1800">
                <a:solidFill>
                  <a:srgbClr val="0F1115"/>
                </a:solidFill>
                <a:highlight>
                  <a:srgbClr val="FFFFFF"/>
                </a:highlight>
                <a:latin typeface="Roboto"/>
                <a:ea typeface="Roboto"/>
                <a:cs typeface="Roboto"/>
                <a:sym typeface="Roboto"/>
              </a:rPr>
              <a:t>Objectif :</a:t>
            </a:r>
            <a:r>
              <a:rPr lang="fr-FR" sz="1800">
                <a:solidFill>
                  <a:srgbClr val="0F1115"/>
                </a:solidFill>
                <a:highlight>
                  <a:srgbClr val="FFFFFF"/>
                </a:highlight>
                <a:latin typeface="Roboto"/>
                <a:ea typeface="Roboto"/>
                <a:cs typeface="Roboto"/>
                <a:sym typeface="Roboto"/>
              </a:rPr>
              <a:t> Valider la logique du code et la chaîne de traitement (prétraitement, UDF) avant le déploiement cloud.</a:t>
            </a:r>
            <a:endParaRPr sz="1800">
              <a:solidFill>
                <a:srgbClr val="0F1115"/>
              </a:solidFill>
              <a:highlight>
                <a:srgbClr val="FFFFFF"/>
              </a:highlight>
              <a:latin typeface="Roboto"/>
              <a:ea typeface="Roboto"/>
              <a:cs typeface="Roboto"/>
              <a:sym typeface="Roboto"/>
            </a:endParaRPr>
          </a:p>
          <a:p>
            <a:pPr indent="-342900" lvl="1" marL="914400" rtl="0" algn="l">
              <a:lnSpc>
                <a:spcPct val="115000"/>
              </a:lnSpc>
              <a:spcBef>
                <a:spcPts val="0"/>
              </a:spcBef>
              <a:spcAft>
                <a:spcPts val="0"/>
              </a:spcAft>
              <a:buClr>
                <a:srgbClr val="0F1115"/>
              </a:buClr>
              <a:buSzPts val="1800"/>
              <a:buFont typeface="Roboto"/>
              <a:buChar char="○"/>
            </a:pPr>
            <a:r>
              <a:rPr b="1" lang="fr-FR" sz="1800">
                <a:solidFill>
                  <a:srgbClr val="0F1115"/>
                </a:solidFill>
                <a:highlight>
                  <a:srgbClr val="FFFFFF"/>
                </a:highlight>
                <a:latin typeface="Roboto"/>
                <a:ea typeface="Roboto"/>
                <a:cs typeface="Roboto"/>
                <a:sym typeface="Roboto"/>
              </a:rPr>
              <a:t>Défis rencontrés (spécifiques à Windows) :</a:t>
            </a:r>
            <a:endParaRPr b="1" sz="1800">
              <a:solidFill>
                <a:srgbClr val="0F1115"/>
              </a:solidFill>
              <a:highlight>
                <a:srgbClr val="FFFFFF"/>
              </a:highlight>
              <a:latin typeface="Roboto"/>
              <a:ea typeface="Roboto"/>
              <a:cs typeface="Roboto"/>
              <a:sym typeface="Roboto"/>
            </a:endParaRPr>
          </a:p>
          <a:p>
            <a:pPr indent="-342900" lvl="2" marL="1371600" rtl="0" algn="l">
              <a:lnSpc>
                <a:spcPct val="115000"/>
              </a:lnSpc>
              <a:spcBef>
                <a:spcPts val="0"/>
              </a:spcBef>
              <a:spcAft>
                <a:spcPts val="0"/>
              </a:spcAft>
              <a:buClr>
                <a:srgbClr val="0F1115"/>
              </a:buClr>
              <a:buSzPts val="1800"/>
              <a:buFont typeface="Roboto"/>
              <a:buChar char="■"/>
            </a:pPr>
            <a:r>
              <a:rPr lang="fr-FR" sz="1800">
                <a:solidFill>
                  <a:srgbClr val="0F1115"/>
                </a:solidFill>
                <a:highlight>
                  <a:srgbClr val="FFFFFF"/>
                </a:highlight>
                <a:latin typeface="Roboto"/>
                <a:ea typeface="Roboto"/>
                <a:cs typeface="Roboto"/>
                <a:sym typeface="Roboto"/>
              </a:rPr>
              <a:t>Problèmes de compatibilité </a:t>
            </a:r>
            <a:r>
              <a:rPr b="1" lang="fr-FR" sz="1800">
                <a:solidFill>
                  <a:srgbClr val="0F1115"/>
                </a:solidFill>
                <a:highlight>
                  <a:srgbClr val="FFFFFF"/>
                </a:highlight>
                <a:latin typeface="Roboto"/>
                <a:ea typeface="Roboto"/>
                <a:cs typeface="Roboto"/>
                <a:sym typeface="Roboto"/>
              </a:rPr>
              <a:t>Hadoop/Windows</a:t>
            </a:r>
            <a:r>
              <a:rPr lang="fr-FR" sz="1800">
                <a:solidFill>
                  <a:srgbClr val="0F1115"/>
                </a:solidFill>
                <a:highlight>
                  <a:srgbClr val="FFFFFF"/>
                </a:highlight>
                <a:latin typeface="Roboto"/>
                <a:ea typeface="Roboto"/>
                <a:cs typeface="Roboto"/>
                <a:sym typeface="Roboto"/>
              </a:rPr>
              <a:t> (nécessité de winutils) lors de la lecture de fichiers.</a:t>
            </a:r>
            <a:endParaRPr sz="18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fr-FR" sz="1800">
                <a:solidFill>
                  <a:srgbClr val="0F1115"/>
                </a:solidFill>
                <a:highlight>
                  <a:srgbClr val="FFFFFF"/>
                </a:highlight>
                <a:latin typeface="Roboto"/>
                <a:ea typeface="Roboto"/>
                <a:cs typeface="Roboto"/>
                <a:sym typeface="Roboto"/>
              </a:rPr>
              <a:t>Instabilité des UDF complexes (</a:t>
            </a:r>
            <a:r>
              <a:rPr lang="fr-FR" sz="1650">
                <a:solidFill>
                  <a:srgbClr val="0F1115"/>
                </a:solidFill>
                <a:highlight>
                  <a:srgbClr val="EBEEF2"/>
                </a:highlight>
                <a:latin typeface="Roboto Mono"/>
                <a:ea typeface="Roboto Mono"/>
                <a:cs typeface="Roboto Mono"/>
                <a:sym typeface="Roboto Mono"/>
              </a:rPr>
              <a:t>SCALAR_ITER</a:t>
            </a:r>
            <a:r>
              <a:rPr lang="fr-FR" sz="1800">
                <a:solidFill>
                  <a:srgbClr val="0F1115"/>
                </a:solidFill>
                <a:highlight>
                  <a:srgbClr val="FFFFFF"/>
                </a:highlight>
                <a:latin typeface="Roboto"/>
                <a:ea typeface="Roboto"/>
                <a:cs typeface="Roboto"/>
                <a:sym typeface="Roboto"/>
              </a:rPr>
              <a:t>) et erreurs de mémoire.</a:t>
            </a:r>
            <a:endParaRPr sz="18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fr-FR" sz="1800">
                <a:solidFill>
                  <a:srgbClr val="0F1115"/>
                </a:solidFill>
                <a:highlight>
                  <a:srgbClr val="FFFFFF"/>
                </a:highlight>
                <a:latin typeface="Roboto"/>
                <a:ea typeface="Roboto"/>
                <a:cs typeface="Roboto"/>
                <a:sym typeface="Roboto"/>
              </a:rPr>
              <a:t>Limitations de la configuration </a:t>
            </a:r>
            <a:r>
              <a:rPr lang="fr-FR" sz="1650">
                <a:solidFill>
                  <a:srgbClr val="0F1115"/>
                </a:solidFill>
                <a:highlight>
                  <a:srgbClr val="EBEEF2"/>
                </a:highlight>
                <a:latin typeface="Roboto Mono"/>
                <a:ea typeface="Roboto Mono"/>
                <a:cs typeface="Roboto Mono"/>
                <a:sym typeface="Roboto Mono"/>
              </a:rPr>
              <a:t>local[*]</a:t>
            </a:r>
            <a:r>
              <a:rPr lang="fr-FR" sz="1800">
                <a:solidFill>
                  <a:srgbClr val="0F1115"/>
                </a:solidFill>
                <a:highlight>
                  <a:srgbClr val="FFFFFF"/>
                </a:highlight>
                <a:latin typeface="Roboto"/>
                <a:ea typeface="Roboto"/>
                <a:cs typeface="Roboto"/>
                <a:sym typeface="Roboto"/>
              </a:rPr>
              <a:t> pour le test à grande échelle.</a:t>
            </a:r>
            <a:endParaRPr sz="18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b="1" lang="fr-FR" sz="1800">
                <a:solidFill>
                  <a:srgbClr val="0F1115"/>
                </a:solidFill>
                <a:highlight>
                  <a:srgbClr val="FFFFFF"/>
                </a:highlight>
                <a:latin typeface="Roboto"/>
                <a:ea typeface="Roboto"/>
                <a:cs typeface="Roboto"/>
                <a:sym typeface="Roboto"/>
              </a:rPr>
              <a:t>Solution :</a:t>
            </a:r>
            <a:r>
              <a:rPr lang="fr-FR" sz="1800">
                <a:solidFill>
                  <a:srgbClr val="0F1115"/>
                </a:solidFill>
                <a:highlight>
                  <a:srgbClr val="FFFFFF"/>
                </a:highlight>
                <a:latin typeface="Roboto"/>
                <a:ea typeface="Roboto"/>
                <a:cs typeface="Roboto"/>
                <a:sym typeface="Roboto"/>
              </a:rPr>
              <a:t> Adaptation du code avec une UDF </a:t>
            </a:r>
            <a:r>
              <a:rPr lang="fr-FR" sz="1650">
                <a:solidFill>
                  <a:srgbClr val="0F1115"/>
                </a:solidFill>
                <a:highlight>
                  <a:srgbClr val="EBEEF2"/>
                </a:highlight>
                <a:latin typeface="Roboto Mono"/>
                <a:ea typeface="Roboto Mono"/>
                <a:cs typeface="Roboto Mono"/>
                <a:sym typeface="Roboto Mono"/>
              </a:rPr>
              <a:t>SCALAR</a:t>
            </a:r>
            <a:r>
              <a:rPr lang="fr-FR" sz="1800">
                <a:solidFill>
                  <a:srgbClr val="0F1115"/>
                </a:solidFill>
                <a:highlight>
                  <a:srgbClr val="FFFFFF"/>
                </a:highlight>
                <a:latin typeface="Roboto"/>
                <a:ea typeface="Roboto"/>
                <a:cs typeface="Roboto"/>
                <a:sym typeface="Roboto"/>
              </a:rPr>
              <a:t> simplifiée et plus stable pour assurer la stabilité et prouver le concept.</a:t>
            </a:r>
            <a:endParaRPr sz="1800">
              <a:solidFill>
                <a:srgbClr val="0F1115"/>
              </a:solidFill>
              <a:highlight>
                <a:srgbClr val="FFFFFF"/>
              </a:highlight>
              <a:latin typeface="Roboto"/>
              <a:ea typeface="Roboto"/>
              <a:cs typeface="Roboto"/>
              <a:sym typeface="Roboto"/>
            </a:endParaRPr>
          </a:p>
          <a:p>
            <a:pPr indent="-342900" lvl="0" marL="457200" rtl="0" algn="l">
              <a:lnSpc>
                <a:spcPct val="115000"/>
              </a:lnSpc>
              <a:spcBef>
                <a:spcPts val="0"/>
              </a:spcBef>
              <a:spcAft>
                <a:spcPts val="0"/>
              </a:spcAft>
              <a:buClr>
                <a:srgbClr val="0F1115"/>
              </a:buClr>
              <a:buSzPts val="1800"/>
              <a:buFont typeface="Roboto"/>
              <a:buChar char="●"/>
            </a:pPr>
            <a:r>
              <a:rPr b="1" lang="fr-FR" sz="1800">
                <a:solidFill>
                  <a:srgbClr val="0F1115"/>
                </a:solidFill>
                <a:highlight>
                  <a:srgbClr val="FFFFFF"/>
                </a:highlight>
                <a:latin typeface="Roboto"/>
                <a:ea typeface="Roboto"/>
                <a:cs typeface="Roboto"/>
                <a:sym typeface="Roboto"/>
              </a:rPr>
              <a:t>Déploiement sur le Cloud (AWS) :</a:t>
            </a:r>
            <a:endParaRPr b="1" sz="1800">
              <a:solidFill>
                <a:srgbClr val="0F1115"/>
              </a:solidFill>
              <a:highlight>
                <a:srgbClr val="FFFFFF"/>
              </a:highlight>
              <a:latin typeface="Roboto"/>
              <a:ea typeface="Roboto"/>
              <a:cs typeface="Roboto"/>
              <a:sym typeface="Roboto"/>
            </a:endParaRPr>
          </a:p>
          <a:p>
            <a:pPr indent="-342900" lvl="1" marL="914400" rtl="0" algn="l">
              <a:lnSpc>
                <a:spcPct val="115000"/>
              </a:lnSpc>
              <a:spcBef>
                <a:spcPts val="0"/>
              </a:spcBef>
              <a:spcAft>
                <a:spcPts val="0"/>
              </a:spcAft>
              <a:buClr>
                <a:srgbClr val="0F1115"/>
              </a:buClr>
              <a:buSzPts val="1800"/>
              <a:buFont typeface="Roboto"/>
              <a:buChar char="○"/>
            </a:pPr>
            <a:r>
              <a:rPr b="1" lang="fr-FR" sz="1800">
                <a:solidFill>
                  <a:srgbClr val="0F1115"/>
                </a:solidFill>
                <a:highlight>
                  <a:srgbClr val="FFFFFF"/>
                </a:highlight>
                <a:latin typeface="Roboto"/>
                <a:ea typeface="Roboto"/>
                <a:cs typeface="Roboto"/>
                <a:sym typeface="Roboto"/>
              </a:rPr>
              <a:t>Pourquoi le cloud ?</a:t>
            </a:r>
            <a:r>
              <a:rPr lang="fr-FR" sz="1800">
                <a:solidFill>
                  <a:srgbClr val="0F1115"/>
                </a:solidFill>
                <a:highlight>
                  <a:srgbClr val="FFFFFF"/>
                </a:highlight>
                <a:latin typeface="Roboto"/>
                <a:ea typeface="Roboto"/>
                <a:cs typeface="Roboto"/>
                <a:sym typeface="Roboto"/>
              </a:rPr>
              <a:t> Scalabilité, résilience, gestion simplifiée de l'infrastructure.</a:t>
            </a:r>
            <a:endParaRPr sz="1800">
              <a:solidFill>
                <a:srgbClr val="0F1115"/>
              </a:solidFill>
              <a:highlight>
                <a:srgbClr val="FFFFFF"/>
              </a:highlight>
              <a:latin typeface="Roboto"/>
              <a:ea typeface="Roboto"/>
              <a:cs typeface="Roboto"/>
              <a:sym typeface="Roboto"/>
            </a:endParaRPr>
          </a:p>
          <a:p>
            <a:pPr indent="-342900" lvl="1" marL="914400" rtl="0" algn="l">
              <a:lnSpc>
                <a:spcPct val="115000"/>
              </a:lnSpc>
              <a:spcBef>
                <a:spcPts val="0"/>
              </a:spcBef>
              <a:spcAft>
                <a:spcPts val="0"/>
              </a:spcAft>
              <a:buClr>
                <a:srgbClr val="0F1115"/>
              </a:buClr>
              <a:buSzPts val="1800"/>
              <a:buFont typeface="Roboto"/>
              <a:buChar char="○"/>
            </a:pPr>
            <a:r>
              <a:rPr b="1" lang="fr-FR" sz="1800">
                <a:solidFill>
                  <a:srgbClr val="0F1115"/>
                </a:solidFill>
                <a:highlight>
                  <a:srgbClr val="FFFFFF"/>
                </a:highlight>
                <a:latin typeface="Roboto"/>
                <a:ea typeface="Roboto"/>
                <a:cs typeface="Roboto"/>
                <a:sym typeface="Roboto"/>
              </a:rPr>
              <a:t>Services choisis :</a:t>
            </a:r>
            <a:endParaRPr b="1" sz="1800">
              <a:solidFill>
                <a:srgbClr val="0F1115"/>
              </a:solidFill>
              <a:highlight>
                <a:srgbClr val="FFFFFF"/>
              </a:highlight>
              <a:latin typeface="Roboto"/>
              <a:ea typeface="Roboto"/>
              <a:cs typeface="Roboto"/>
              <a:sym typeface="Roboto"/>
            </a:endParaRPr>
          </a:p>
          <a:p>
            <a:pPr indent="-342900" lvl="2" marL="1371600" rtl="0" algn="l">
              <a:lnSpc>
                <a:spcPct val="115000"/>
              </a:lnSpc>
              <a:spcBef>
                <a:spcPts val="0"/>
              </a:spcBef>
              <a:spcAft>
                <a:spcPts val="0"/>
              </a:spcAft>
              <a:buClr>
                <a:srgbClr val="0F1115"/>
              </a:buClr>
              <a:buSzPts val="1800"/>
              <a:buFont typeface="Roboto"/>
              <a:buChar char="■"/>
            </a:pPr>
            <a:r>
              <a:rPr b="1" lang="fr-FR" sz="1800">
                <a:solidFill>
                  <a:srgbClr val="0F1115"/>
                </a:solidFill>
                <a:highlight>
                  <a:srgbClr val="FFFFFF"/>
                </a:highlight>
                <a:latin typeface="Roboto"/>
                <a:ea typeface="Roboto"/>
                <a:cs typeface="Roboto"/>
                <a:sym typeface="Roboto"/>
              </a:rPr>
              <a:t>AWS EMR (Elastic MapReduce) :</a:t>
            </a:r>
            <a:r>
              <a:rPr lang="fr-FR" sz="1800">
                <a:solidFill>
                  <a:srgbClr val="0F1115"/>
                </a:solidFill>
                <a:highlight>
                  <a:srgbClr val="FFFFFF"/>
                </a:highlight>
                <a:latin typeface="Roboto"/>
                <a:ea typeface="Roboto"/>
                <a:cs typeface="Roboto"/>
                <a:sym typeface="Roboto"/>
              </a:rPr>
              <a:t> Pour louer un cluster Spark/Hadoop pré-configuré.</a:t>
            </a:r>
            <a:endParaRPr sz="1800">
              <a:solidFill>
                <a:srgbClr val="0F1115"/>
              </a:solidFill>
              <a:highlight>
                <a:srgbClr val="FFFFFF"/>
              </a:highlight>
              <a:latin typeface="Roboto"/>
              <a:ea typeface="Roboto"/>
              <a:cs typeface="Roboto"/>
              <a:sym typeface="Roboto"/>
            </a:endParaRPr>
          </a:p>
          <a:p>
            <a:pPr indent="-304800" lvl="3" marL="1828800" rtl="0" algn="l">
              <a:lnSpc>
                <a:spcPct val="115000"/>
              </a:lnSpc>
              <a:spcBef>
                <a:spcPts val="0"/>
              </a:spcBef>
              <a:spcAft>
                <a:spcPts val="0"/>
              </a:spcAft>
              <a:buClr>
                <a:srgbClr val="0F1115"/>
              </a:buClr>
              <a:buSzPts val="1200"/>
              <a:buFont typeface="Roboto"/>
              <a:buChar char="■"/>
            </a:pPr>
            <a:r>
              <a:rPr lang="fr-FR" sz="1800">
                <a:solidFill>
                  <a:srgbClr val="0F1115"/>
                </a:solidFill>
                <a:highlight>
                  <a:srgbClr val="FFFFFF"/>
                </a:highlight>
                <a:latin typeface="Roboto"/>
                <a:ea typeface="Roboto"/>
                <a:cs typeface="Roboto"/>
                <a:sym typeface="Roboto"/>
              </a:rPr>
              <a:t>Architecture du cluster : </a:t>
            </a:r>
            <a:r>
              <a:rPr b="1" lang="fr-FR" sz="1800">
                <a:solidFill>
                  <a:srgbClr val="0F1115"/>
                </a:solidFill>
                <a:highlight>
                  <a:srgbClr val="FFFFFF"/>
                </a:highlight>
                <a:latin typeface="Roboto"/>
                <a:ea typeface="Roboto"/>
                <a:cs typeface="Roboto"/>
                <a:sym typeface="Roboto"/>
              </a:rPr>
              <a:t>1 instance Master (Driver), 2 instances Core (Workers)</a:t>
            </a:r>
            <a:r>
              <a:rPr lang="fr-FR" sz="1800">
                <a:solidFill>
                  <a:srgbClr val="0F1115"/>
                </a:solidFill>
                <a:highlight>
                  <a:srgbClr val="FFFFFF"/>
                </a:highlight>
                <a:latin typeface="Roboto"/>
                <a:ea typeface="Roboto"/>
                <a:cs typeface="Roboto"/>
                <a:sym typeface="Roboto"/>
              </a:rPr>
              <a:t> de type </a:t>
            </a:r>
            <a:r>
              <a:rPr lang="fr-FR" sz="1650">
                <a:solidFill>
                  <a:srgbClr val="0F1115"/>
                </a:solidFill>
                <a:highlight>
                  <a:srgbClr val="EBEEF2"/>
                </a:highlight>
                <a:latin typeface="Roboto Mono"/>
                <a:ea typeface="Roboto Mono"/>
                <a:cs typeface="Roboto Mono"/>
                <a:sym typeface="Roboto Mono"/>
              </a:rPr>
              <a:t>m5.xlarge</a:t>
            </a:r>
            <a:r>
              <a:rPr lang="fr-FR" sz="1800">
                <a:solidFill>
                  <a:srgbClr val="0F1115"/>
                </a:solidFill>
                <a:highlight>
                  <a:srgbClr val="FFFFFF"/>
                </a:highlight>
                <a:latin typeface="Roboto"/>
                <a:ea typeface="Roboto"/>
                <a:cs typeface="Roboto"/>
                <a:sym typeface="Roboto"/>
              </a:rPr>
              <a:t>.</a:t>
            </a:r>
            <a:endParaRPr sz="1800">
              <a:solidFill>
                <a:srgbClr val="0F1115"/>
              </a:solidFill>
              <a:highlight>
                <a:srgbClr val="FFFFFF"/>
              </a:highlight>
              <a:latin typeface="Roboto"/>
              <a:ea typeface="Roboto"/>
              <a:cs typeface="Roboto"/>
              <a:sym typeface="Roboto"/>
            </a:endParaRPr>
          </a:p>
          <a:p>
            <a:pPr indent="-342900" lvl="2" marL="1371600" rtl="0" algn="l">
              <a:lnSpc>
                <a:spcPct val="115000"/>
              </a:lnSpc>
              <a:spcBef>
                <a:spcPts val="0"/>
              </a:spcBef>
              <a:spcAft>
                <a:spcPts val="0"/>
              </a:spcAft>
              <a:buClr>
                <a:srgbClr val="0F1115"/>
              </a:buClr>
              <a:buSzPts val="1800"/>
              <a:buFont typeface="Roboto"/>
              <a:buChar char="■"/>
            </a:pPr>
            <a:r>
              <a:rPr b="1" lang="fr-FR" sz="1800">
                <a:solidFill>
                  <a:srgbClr val="0F1115"/>
                </a:solidFill>
                <a:highlight>
                  <a:srgbClr val="FFFFFF"/>
                </a:highlight>
                <a:latin typeface="Roboto"/>
                <a:ea typeface="Roboto"/>
                <a:cs typeface="Roboto"/>
                <a:sym typeface="Roboto"/>
              </a:rPr>
              <a:t>AWS S3 (Simple Storage Service) :</a:t>
            </a:r>
            <a:r>
              <a:rPr lang="fr-FR" sz="1800">
                <a:solidFill>
                  <a:srgbClr val="0F1115"/>
                </a:solidFill>
                <a:highlight>
                  <a:srgbClr val="FFFFFF"/>
                </a:highlight>
                <a:latin typeface="Roboto"/>
                <a:ea typeface="Roboto"/>
                <a:cs typeface="Roboto"/>
                <a:sym typeface="Roboto"/>
              </a:rPr>
              <a:t> Pour le stockage des données d'entrée (images) et de sortie (features).</a:t>
            </a:r>
            <a:endParaRPr sz="1800">
              <a:solidFill>
                <a:srgbClr val="0F1115"/>
              </a:solidFill>
              <a:highlight>
                <a:srgbClr val="FFFFFF"/>
              </a:highlight>
              <a:latin typeface="Roboto"/>
              <a:ea typeface="Roboto"/>
              <a:cs typeface="Roboto"/>
              <a:sym typeface="Roboto"/>
            </a:endParaRPr>
          </a:p>
          <a:p>
            <a:pPr indent="-342900" lvl="3" marL="1828800" rtl="0" algn="l">
              <a:lnSpc>
                <a:spcPct val="115000"/>
              </a:lnSpc>
              <a:spcBef>
                <a:spcPts val="0"/>
              </a:spcBef>
              <a:spcAft>
                <a:spcPts val="0"/>
              </a:spcAft>
              <a:buClr>
                <a:srgbClr val="0F1115"/>
              </a:buClr>
              <a:buSzPts val="1800"/>
              <a:buFont typeface="Roboto"/>
              <a:buChar char="■"/>
            </a:pPr>
            <a:r>
              <a:rPr b="1" lang="fr-FR" sz="1800">
                <a:solidFill>
                  <a:srgbClr val="0F1115"/>
                </a:solidFill>
                <a:highlight>
                  <a:srgbClr val="FFFFFF"/>
                </a:highlight>
                <a:latin typeface="Roboto"/>
                <a:ea typeface="Roboto"/>
                <a:cs typeface="Roboto"/>
                <a:sym typeface="Roboto"/>
              </a:rPr>
              <a:t>Avantage clé :</a:t>
            </a:r>
            <a:r>
              <a:rPr lang="fr-FR" sz="1800">
                <a:solidFill>
                  <a:srgbClr val="0F1115"/>
                </a:solidFill>
                <a:highlight>
                  <a:srgbClr val="FFFFFF"/>
                </a:highlight>
                <a:latin typeface="Roboto"/>
                <a:ea typeface="Roboto"/>
                <a:cs typeface="Roboto"/>
                <a:sym typeface="Roboto"/>
              </a:rPr>
              <a:t> Séparation du stockage et du calcul. Les données persistent même après l'arrêt du cluster, et sont accessibles par tous les nœuds.</a:t>
            </a:r>
            <a:endParaRPr sz="1800">
              <a:solidFill>
                <a:srgbClr val="0F1115"/>
              </a:solidFill>
              <a:highlight>
                <a:srgbClr val="FFFFFF"/>
              </a:highlight>
              <a:latin typeface="Roboto"/>
              <a:ea typeface="Roboto"/>
              <a:cs typeface="Roboto"/>
              <a:sym typeface="Roboto"/>
            </a:endParaRPr>
          </a:p>
          <a:p>
            <a:pPr indent="0" lvl="0" marL="0" marR="0" rtl="0" algn="l">
              <a:lnSpc>
                <a:spcPct val="100000"/>
              </a:lnSpc>
              <a:spcBef>
                <a:spcPts val="1200"/>
              </a:spcBef>
              <a:spcAft>
                <a:spcPts val="0"/>
              </a:spcAft>
              <a:buNone/>
            </a:pPr>
            <a:r>
              <a:t/>
            </a:r>
            <a:endParaRPr sz="2400"/>
          </a:p>
        </p:txBody>
      </p:sp>
    </p:spTree>
  </p:cSld>
  <p:clrMapOvr>
    <a:masterClrMapping/>
  </p:clrMapOvr>
  <p:transition spd="slow" p14:dur="1500">
    <p:random/>
  </p:transition>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g3958445f59d_3_0"/>
          <p:cNvSpPr txBox="1"/>
          <p:nvPr/>
        </p:nvSpPr>
        <p:spPr>
          <a:xfrm>
            <a:off x="0" y="0"/>
            <a:ext cx="12192000" cy="64377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fr-FR" sz="2400">
                <a:solidFill>
                  <a:srgbClr val="0F1115"/>
                </a:solidFill>
                <a:highlight>
                  <a:srgbClr val="FFFFFF"/>
                </a:highlight>
                <a:latin typeface="Roboto"/>
                <a:ea typeface="Roboto"/>
                <a:cs typeface="Roboto"/>
                <a:sym typeface="Roboto"/>
              </a:rPr>
              <a:t> Architecture de la Solution - Traitement Distribué</a:t>
            </a:r>
            <a:endParaRPr b="1" sz="2400">
              <a:solidFill>
                <a:srgbClr val="0F1115"/>
              </a:solidFill>
              <a:highlight>
                <a:srgbClr val="FFFFFF"/>
              </a:highlight>
              <a:latin typeface="Roboto"/>
              <a:ea typeface="Roboto"/>
              <a:cs typeface="Roboto"/>
              <a:sym typeface="Roboto"/>
            </a:endParaRPr>
          </a:p>
          <a:p>
            <a:pPr indent="-361950" lvl="0" marL="457200" rtl="0" algn="l">
              <a:lnSpc>
                <a:spcPct val="115000"/>
              </a:lnSpc>
              <a:spcBef>
                <a:spcPts val="1200"/>
              </a:spcBef>
              <a:spcAft>
                <a:spcPts val="0"/>
              </a:spcAft>
              <a:buClr>
                <a:srgbClr val="0F1115"/>
              </a:buClr>
              <a:buSzPts val="2100"/>
              <a:buFont typeface="Roboto"/>
              <a:buAutoNum type="arabicPeriod"/>
            </a:pPr>
            <a:r>
              <a:rPr b="1" lang="fr-FR" sz="2100">
                <a:solidFill>
                  <a:srgbClr val="0F1115"/>
                </a:solidFill>
                <a:highlight>
                  <a:srgbClr val="FFFFFF"/>
                </a:highlight>
                <a:latin typeface="Roboto"/>
                <a:ea typeface="Roboto"/>
                <a:cs typeface="Roboto"/>
                <a:sym typeface="Roboto"/>
              </a:rPr>
              <a:t>Stockage des données :</a:t>
            </a:r>
            <a:r>
              <a:rPr lang="fr-FR" sz="2100">
                <a:solidFill>
                  <a:srgbClr val="0F1115"/>
                </a:solidFill>
                <a:highlight>
                  <a:srgbClr val="FFFFFF"/>
                </a:highlight>
                <a:latin typeface="Roboto"/>
                <a:ea typeface="Roboto"/>
                <a:cs typeface="Roboto"/>
                <a:sym typeface="Roboto"/>
              </a:rPr>
              <a:t> Les images sont stockées dans un bucket </a:t>
            </a:r>
            <a:r>
              <a:rPr b="1" lang="fr-FR" sz="2100">
                <a:solidFill>
                  <a:srgbClr val="0F1115"/>
                </a:solidFill>
                <a:highlight>
                  <a:srgbClr val="FFFFFF"/>
                </a:highlight>
                <a:latin typeface="Roboto"/>
                <a:ea typeface="Roboto"/>
                <a:cs typeface="Roboto"/>
                <a:sym typeface="Roboto"/>
              </a:rPr>
              <a:t>Amazon S3</a:t>
            </a:r>
            <a:r>
              <a:rPr lang="fr-FR" sz="2100">
                <a:solidFill>
                  <a:srgbClr val="0F1115"/>
                </a:solidFill>
                <a:highlight>
                  <a:srgbClr val="FFFFFF"/>
                </a:highlight>
                <a:latin typeface="Roboto"/>
                <a:ea typeface="Roboto"/>
                <a:cs typeface="Roboto"/>
                <a:sym typeface="Roboto"/>
              </a:rPr>
              <a:t>, garantissant une haute disponibilité et une scalabilité infinie.</a:t>
            </a:r>
            <a:endParaRPr sz="2100">
              <a:solidFill>
                <a:srgbClr val="0F1115"/>
              </a:solidFill>
              <a:highlight>
                <a:srgbClr val="FFFFFF"/>
              </a:highlight>
              <a:latin typeface="Roboto"/>
              <a:ea typeface="Roboto"/>
              <a:cs typeface="Roboto"/>
              <a:sym typeface="Roboto"/>
            </a:endParaRPr>
          </a:p>
          <a:p>
            <a:pPr indent="-361950" lvl="0" marL="457200" rtl="0" algn="l">
              <a:lnSpc>
                <a:spcPct val="115000"/>
              </a:lnSpc>
              <a:spcBef>
                <a:spcPts val="0"/>
              </a:spcBef>
              <a:spcAft>
                <a:spcPts val="0"/>
              </a:spcAft>
              <a:buClr>
                <a:srgbClr val="0F1115"/>
              </a:buClr>
              <a:buSzPts val="2100"/>
              <a:buFont typeface="Roboto"/>
              <a:buAutoNum type="arabicPeriod"/>
            </a:pPr>
            <a:r>
              <a:rPr b="1" lang="fr-FR" sz="2100">
                <a:solidFill>
                  <a:srgbClr val="0F1115"/>
                </a:solidFill>
                <a:highlight>
                  <a:srgbClr val="FFFFFF"/>
                </a:highlight>
                <a:latin typeface="Roboto"/>
                <a:ea typeface="Roboto"/>
                <a:cs typeface="Roboto"/>
                <a:sym typeface="Roboto"/>
              </a:rPr>
              <a:t>Chargement distribué (Spark) :</a:t>
            </a:r>
            <a:r>
              <a:rPr lang="fr-FR" sz="2100">
                <a:solidFill>
                  <a:srgbClr val="0F1115"/>
                </a:solidFill>
                <a:highlight>
                  <a:srgbClr val="FFFFFF"/>
                </a:highlight>
                <a:latin typeface="Roboto"/>
                <a:ea typeface="Roboto"/>
                <a:cs typeface="Roboto"/>
                <a:sym typeface="Roboto"/>
              </a:rPr>
              <a:t> Le cluster </a:t>
            </a:r>
            <a:r>
              <a:rPr b="1" lang="fr-FR" sz="2200">
                <a:solidFill>
                  <a:srgbClr val="0F1115"/>
                </a:solidFill>
                <a:highlight>
                  <a:srgbClr val="FFFFFF"/>
                </a:highlight>
                <a:latin typeface="Roboto"/>
                <a:ea typeface="Roboto"/>
                <a:cs typeface="Roboto"/>
                <a:sym typeface="Roboto"/>
              </a:rPr>
              <a:t>EMR</a:t>
            </a:r>
            <a:r>
              <a:rPr lang="fr-FR" sz="2100">
                <a:solidFill>
                  <a:srgbClr val="0F1115"/>
                </a:solidFill>
                <a:highlight>
                  <a:srgbClr val="FFFFFF"/>
                </a:highlight>
                <a:latin typeface="Roboto"/>
                <a:ea typeface="Roboto"/>
                <a:cs typeface="Roboto"/>
                <a:sym typeface="Roboto"/>
              </a:rPr>
              <a:t> lit les données depuis S3. Spark partitionne les fichiers image et les distribue automatiquement sur les différents nœuds workers.</a:t>
            </a:r>
            <a:endParaRPr sz="2100">
              <a:solidFill>
                <a:srgbClr val="0F1115"/>
              </a:solidFill>
              <a:highlight>
                <a:srgbClr val="FFFFFF"/>
              </a:highlight>
              <a:latin typeface="Roboto"/>
              <a:ea typeface="Roboto"/>
              <a:cs typeface="Roboto"/>
              <a:sym typeface="Roboto"/>
            </a:endParaRPr>
          </a:p>
          <a:p>
            <a:pPr indent="-361950" lvl="0" marL="457200" rtl="0" algn="l">
              <a:lnSpc>
                <a:spcPct val="115000"/>
              </a:lnSpc>
              <a:spcBef>
                <a:spcPts val="0"/>
              </a:spcBef>
              <a:spcAft>
                <a:spcPts val="0"/>
              </a:spcAft>
              <a:buClr>
                <a:srgbClr val="0F1115"/>
              </a:buClr>
              <a:buSzPts val="2100"/>
              <a:buFont typeface="Roboto"/>
              <a:buAutoNum type="arabicPeriod"/>
            </a:pPr>
            <a:r>
              <a:rPr b="1" lang="fr-FR" sz="2100">
                <a:solidFill>
                  <a:srgbClr val="0F1115"/>
                </a:solidFill>
                <a:highlight>
                  <a:srgbClr val="FFFFFF"/>
                </a:highlight>
                <a:latin typeface="Roboto"/>
                <a:ea typeface="Roboto"/>
                <a:cs typeface="Roboto"/>
                <a:sym typeface="Roboto"/>
              </a:rPr>
              <a:t>Tolérance aux pannes :</a:t>
            </a:r>
            <a:r>
              <a:rPr lang="fr-FR" sz="2100">
                <a:solidFill>
                  <a:srgbClr val="0F1115"/>
                </a:solidFill>
                <a:highlight>
                  <a:srgbClr val="FFFFFF"/>
                </a:highlight>
                <a:latin typeface="Roboto"/>
                <a:ea typeface="Roboto"/>
                <a:cs typeface="Roboto"/>
                <a:sym typeface="Roboto"/>
              </a:rPr>
              <a:t> Grâce aux </a:t>
            </a:r>
            <a:r>
              <a:rPr b="1" lang="fr-FR" sz="2100">
                <a:solidFill>
                  <a:srgbClr val="0F1115"/>
                </a:solidFill>
                <a:highlight>
                  <a:srgbClr val="FFFFFF"/>
                </a:highlight>
                <a:latin typeface="Roboto"/>
                <a:ea typeface="Roboto"/>
                <a:cs typeface="Roboto"/>
                <a:sym typeface="Roboto"/>
              </a:rPr>
              <a:t>RDDs (Resilient Distributed Datasets)</a:t>
            </a:r>
            <a:r>
              <a:rPr lang="fr-FR" sz="2100">
                <a:solidFill>
                  <a:srgbClr val="0F1115"/>
                </a:solidFill>
                <a:highlight>
                  <a:srgbClr val="FFFFFF"/>
                </a:highlight>
                <a:latin typeface="Roboto"/>
                <a:ea typeface="Roboto"/>
                <a:cs typeface="Roboto"/>
                <a:sym typeface="Roboto"/>
              </a:rPr>
              <a:t> et à la duplication des données (sur les 3 machines par défaut), le cluster peut se remettre d'une panne d'un nœud sans perdre de données.</a:t>
            </a:r>
            <a:endParaRPr sz="2100">
              <a:solidFill>
                <a:srgbClr val="0F1115"/>
              </a:solidFill>
              <a:highlight>
                <a:srgbClr val="FFFFFF"/>
              </a:highlight>
              <a:latin typeface="Roboto"/>
              <a:ea typeface="Roboto"/>
              <a:cs typeface="Roboto"/>
              <a:sym typeface="Roboto"/>
            </a:endParaRPr>
          </a:p>
          <a:p>
            <a:pPr indent="-361950" lvl="0" marL="457200" rtl="0" algn="l">
              <a:lnSpc>
                <a:spcPct val="115000"/>
              </a:lnSpc>
              <a:spcBef>
                <a:spcPts val="0"/>
              </a:spcBef>
              <a:spcAft>
                <a:spcPts val="0"/>
              </a:spcAft>
              <a:buClr>
                <a:srgbClr val="0F1115"/>
              </a:buClr>
              <a:buSzPts val="2100"/>
              <a:buFont typeface="Roboto"/>
              <a:buAutoNum type="arabicPeriod"/>
            </a:pPr>
            <a:r>
              <a:rPr b="1" lang="fr-FR" sz="2100">
                <a:solidFill>
                  <a:srgbClr val="0F1115"/>
                </a:solidFill>
                <a:highlight>
                  <a:srgbClr val="FFFFFF"/>
                </a:highlight>
                <a:latin typeface="Roboto"/>
                <a:ea typeface="Roboto"/>
                <a:cs typeface="Roboto"/>
                <a:sym typeface="Roboto"/>
              </a:rPr>
              <a:t>Traitement parallèle (Workers) :</a:t>
            </a:r>
            <a:endParaRPr b="1" sz="2100">
              <a:solidFill>
                <a:srgbClr val="0F1115"/>
              </a:solidFill>
              <a:highlight>
                <a:srgbClr val="FFFFFF"/>
              </a:highlight>
              <a:latin typeface="Roboto"/>
              <a:ea typeface="Roboto"/>
              <a:cs typeface="Roboto"/>
              <a:sym typeface="Roboto"/>
            </a:endParaRPr>
          </a:p>
          <a:p>
            <a:pPr indent="-361950" lvl="1" marL="914400" rtl="0" algn="l">
              <a:lnSpc>
                <a:spcPct val="115000"/>
              </a:lnSpc>
              <a:spcBef>
                <a:spcPts val="0"/>
              </a:spcBef>
              <a:spcAft>
                <a:spcPts val="0"/>
              </a:spcAft>
              <a:buClr>
                <a:srgbClr val="0F1115"/>
              </a:buClr>
              <a:buSzPts val="2100"/>
              <a:buFont typeface="Roboto"/>
              <a:buChar char="○"/>
            </a:pPr>
            <a:r>
              <a:rPr lang="fr-FR" sz="2100">
                <a:solidFill>
                  <a:srgbClr val="0F1115"/>
                </a:solidFill>
                <a:highlight>
                  <a:srgbClr val="FFFFFF"/>
                </a:highlight>
                <a:latin typeface="Roboto"/>
                <a:ea typeface="Roboto"/>
                <a:cs typeface="Roboto"/>
                <a:sym typeface="Roboto"/>
              </a:rPr>
              <a:t>Chaque worker reçoit un lot d'images.</a:t>
            </a:r>
            <a:endParaRPr sz="21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2100">
                <a:solidFill>
                  <a:srgbClr val="0F1115"/>
                </a:solidFill>
                <a:highlight>
                  <a:srgbClr val="FFFFFF"/>
                </a:highlight>
                <a:latin typeface="Roboto"/>
                <a:ea typeface="Roboto"/>
                <a:cs typeface="Roboto"/>
                <a:sym typeface="Roboto"/>
              </a:rPr>
              <a:t>Il utilise le modèle </a:t>
            </a:r>
            <a:r>
              <a:rPr lang="fr-FR" sz="1950">
                <a:solidFill>
                  <a:srgbClr val="0F1115"/>
                </a:solidFill>
                <a:highlight>
                  <a:srgbClr val="EBEEF2"/>
                </a:highlight>
                <a:latin typeface="Roboto Mono"/>
                <a:ea typeface="Roboto Mono"/>
                <a:cs typeface="Roboto Mono"/>
                <a:sym typeface="Roboto Mono"/>
              </a:rPr>
              <a:t>MobileNetV2</a:t>
            </a:r>
            <a:r>
              <a:rPr lang="fr-FR" sz="2100">
                <a:solidFill>
                  <a:srgbClr val="0F1115"/>
                </a:solidFill>
                <a:highlight>
                  <a:srgbClr val="FFFFFF"/>
                </a:highlight>
                <a:latin typeface="Roboto"/>
                <a:ea typeface="Roboto"/>
                <a:cs typeface="Roboto"/>
                <a:sym typeface="Roboto"/>
              </a:rPr>
              <a:t> pour extraire les features de chaque image.</a:t>
            </a:r>
            <a:endParaRPr sz="2100">
              <a:solidFill>
                <a:srgbClr val="0F1115"/>
              </a:solidFill>
              <a:highlight>
                <a:srgbClr val="FFFFFF"/>
              </a:highlight>
              <a:latin typeface="Roboto"/>
              <a:ea typeface="Roboto"/>
              <a:cs typeface="Roboto"/>
              <a:sym typeface="Roboto"/>
            </a:endParaRPr>
          </a:p>
          <a:p>
            <a:pPr indent="-361950" lvl="1" marL="914400" rtl="0" algn="l">
              <a:lnSpc>
                <a:spcPct val="115000"/>
              </a:lnSpc>
              <a:spcBef>
                <a:spcPts val="0"/>
              </a:spcBef>
              <a:spcAft>
                <a:spcPts val="0"/>
              </a:spcAft>
              <a:buClr>
                <a:srgbClr val="0F1115"/>
              </a:buClr>
              <a:buSzPts val="2100"/>
              <a:buFont typeface="Roboto"/>
              <a:buChar char="○"/>
            </a:pPr>
            <a:r>
              <a:rPr lang="fr-FR" sz="2100">
                <a:solidFill>
                  <a:srgbClr val="0F1115"/>
                </a:solidFill>
                <a:highlight>
                  <a:srgbClr val="FFFFFF"/>
                </a:highlight>
                <a:latin typeface="Roboto"/>
                <a:ea typeface="Roboto"/>
                <a:cs typeface="Roboto"/>
                <a:sym typeface="Roboto"/>
              </a:rPr>
              <a:t>Les calculs sont effectués en parallèle sur tous les workers.</a:t>
            </a:r>
            <a:endParaRPr sz="2100">
              <a:solidFill>
                <a:srgbClr val="0F1115"/>
              </a:solidFill>
              <a:highlight>
                <a:srgbClr val="FFFFFF"/>
              </a:highlight>
              <a:latin typeface="Roboto"/>
              <a:ea typeface="Roboto"/>
              <a:cs typeface="Roboto"/>
              <a:sym typeface="Roboto"/>
            </a:endParaRPr>
          </a:p>
          <a:p>
            <a:pPr indent="-361950" lvl="0" marL="457200" rtl="0" algn="l">
              <a:lnSpc>
                <a:spcPct val="115000"/>
              </a:lnSpc>
              <a:spcBef>
                <a:spcPts val="0"/>
              </a:spcBef>
              <a:spcAft>
                <a:spcPts val="0"/>
              </a:spcAft>
              <a:buClr>
                <a:srgbClr val="0F1115"/>
              </a:buClr>
              <a:buSzPts val="2100"/>
              <a:buFont typeface="Roboto"/>
              <a:buAutoNum type="arabicPeriod"/>
            </a:pPr>
            <a:r>
              <a:rPr b="1" lang="fr-FR" sz="2100">
                <a:solidFill>
                  <a:srgbClr val="0F1115"/>
                </a:solidFill>
                <a:highlight>
                  <a:srgbClr val="FFFFFF"/>
                </a:highlight>
                <a:latin typeface="Roboto"/>
                <a:ea typeface="Roboto"/>
                <a:cs typeface="Roboto"/>
                <a:sym typeface="Roboto"/>
              </a:rPr>
              <a:t>Agrégation des résultats : </a:t>
            </a:r>
            <a:r>
              <a:rPr lang="fr-FR" sz="2100">
                <a:solidFill>
                  <a:srgbClr val="0F1115"/>
                </a:solidFill>
                <a:highlight>
                  <a:srgbClr val="FFFFFF"/>
                </a:highlight>
                <a:latin typeface="Roboto"/>
                <a:ea typeface="Roboto"/>
                <a:cs typeface="Roboto"/>
                <a:sym typeface="Roboto"/>
              </a:rPr>
              <a:t>Les vecteurs de features sont collectés et agrégés sur le nœud master pour former un DataFrame Spark final.</a:t>
            </a:r>
            <a:endParaRPr sz="2100">
              <a:solidFill>
                <a:srgbClr val="0F1115"/>
              </a:solidFill>
              <a:highlight>
                <a:srgbClr val="FFFFFF"/>
              </a:highlight>
              <a:latin typeface="Roboto"/>
              <a:ea typeface="Roboto"/>
              <a:cs typeface="Roboto"/>
              <a:sym typeface="Roboto"/>
            </a:endParaRPr>
          </a:p>
          <a:p>
            <a:pPr indent="-361950" lvl="0" marL="457200" rtl="0" algn="l">
              <a:lnSpc>
                <a:spcPct val="115000"/>
              </a:lnSpc>
              <a:spcBef>
                <a:spcPts val="0"/>
              </a:spcBef>
              <a:spcAft>
                <a:spcPts val="0"/>
              </a:spcAft>
              <a:buClr>
                <a:srgbClr val="0F1115"/>
              </a:buClr>
              <a:buSzPts val="2100"/>
              <a:buFont typeface="Roboto"/>
              <a:buAutoNum type="arabicPeriod"/>
            </a:pPr>
            <a:r>
              <a:rPr b="1" lang="fr-FR" sz="2100">
                <a:solidFill>
                  <a:srgbClr val="0F1115"/>
                </a:solidFill>
                <a:highlight>
                  <a:srgbClr val="FFFFFF"/>
                </a:highlight>
                <a:latin typeface="Roboto"/>
                <a:ea typeface="Roboto"/>
                <a:cs typeface="Roboto"/>
                <a:sym typeface="Roboto"/>
              </a:rPr>
              <a:t>Stockage des résultats :</a:t>
            </a:r>
            <a:r>
              <a:rPr lang="fr-FR" sz="2100">
                <a:solidFill>
                  <a:srgbClr val="0F1115"/>
                </a:solidFill>
                <a:highlight>
                  <a:srgbClr val="FFFFFF"/>
                </a:highlight>
                <a:latin typeface="Roboto"/>
                <a:ea typeface="Roboto"/>
                <a:cs typeface="Roboto"/>
                <a:sym typeface="Roboto"/>
              </a:rPr>
              <a:t> Le DataFrame final est sauvegardé au format </a:t>
            </a:r>
            <a:r>
              <a:rPr b="1" lang="fr-FR" sz="2100">
                <a:solidFill>
                  <a:srgbClr val="0F1115"/>
                </a:solidFill>
                <a:highlight>
                  <a:srgbClr val="FFFFFF"/>
                </a:highlight>
                <a:latin typeface="Roboto"/>
                <a:ea typeface="Roboto"/>
                <a:cs typeface="Roboto"/>
                <a:sym typeface="Roboto"/>
              </a:rPr>
              <a:t>Parquet</a:t>
            </a:r>
            <a:r>
              <a:rPr lang="fr-FR" sz="2100">
                <a:solidFill>
                  <a:srgbClr val="0F1115"/>
                </a:solidFill>
                <a:highlight>
                  <a:srgbClr val="FFFFFF"/>
                </a:highlight>
                <a:latin typeface="Roboto"/>
                <a:ea typeface="Roboto"/>
                <a:cs typeface="Roboto"/>
                <a:sym typeface="Roboto"/>
              </a:rPr>
              <a:t> sur </a:t>
            </a:r>
            <a:r>
              <a:rPr b="1" lang="fr-FR" sz="2100">
                <a:solidFill>
                  <a:srgbClr val="0F1115"/>
                </a:solidFill>
                <a:highlight>
                  <a:srgbClr val="FFFFFF"/>
                </a:highlight>
                <a:latin typeface="Roboto"/>
                <a:ea typeface="Roboto"/>
                <a:cs typeface="Roboto"/>
                <a:sym typeface="Roboto"/>
              </a:rPr>
              <a:t>S3</a:t>
            </a:r>
            <a:r>
              <a:rPr lang="fr-FR" sz="2100">
                <a:solidFill>
                  <a:srgbClr val="0F1115"/>
                </a:solidFill>
                <a:highlight>
                  <a:srgbClr val="FFFFFF"/>
                </a:highlight>
                <a:latin typeface="Roboto"/>
                <a:ea typeface="Roboto"/>
                <a:cs typeface="Roboto"/>
                <a:sym typeface="Roboto"/>
              </a:rPr>
              <a:t>, prêt pour de futures analyses.</a:t>
            </a:r>
            <a:endParaRPr sz="2100">
              <a:solidFill>
                <a:srgbClr val="0F1115"/>
              </a:solidFill>
              <a:highlight>
                <a:srgbClr val="FFFFFF"/>
              </a:highlight>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g3958445f59d_7_0"/>
          <p:cNvSpPr txBox="1"/>
          <p:nvPr/>
        </p:nvSpPr>
        <p:spPr>
          <a:xfrm>
            <a:off x="32100" y="-126975"/>
            <a:ext cx="12127800" cy="66879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fr-FR" sz="1900">
                <a:solidFill>
                  <a:srgbClr val="0F1115"/>
                </a:solidFill>
                <a:highlight>
                  <a:srgbClr val="FFFFFF"/>
                </a:highlight>
                <a:latin typeface="Roboto"/>
                <a:ea typeface="Roboto"/>
                <a:cs typeface="Roboto"/>
                <a:sym typeface="Roboto"/>
              </a:rPr>
              <a:t>Méthodologie - Pipeline d'Extraction de Features (Étapes 1-3)  </a:t>
            </a:r>
            <a:r>
              <a:rPr b="1" lang="fr-FR" sz="1900">
                <a:solidFill>
                  <a:srgbClr val="0F1115"/>
                </a:solidFill>
                <a:highlight>
                  <a:srgbClr val="FFFFFF"/>
                </a:highlight>
                <a:latin typeface="Roboto"/>
                <a:ea typeface="Roboto"/>
                <a:cs typeface="Roboto"/>
                <a:sym typeface="Roboto"/>
              </a:rPr>
              <a:t> </a:t>
            </a:r>
            <a:endParaRPr b="1" sz="2000">
              <a:solidFill>
                <a:srgbClr val="0F1115"/>
              </a:solidFill>
              <a:highlight>
                <a:srgbClr val="FFFFFF"/>
              </a:highlight>
              <a:latin typeface="Roboto"/>
              <a:ea typeface="Roboto"/>
              <a:cs typeface="Roboto"/>
              <a:sym typeface="Roboto"/>
            </a:endParaRPr>
          </a:p>
          <a:p>
            <a:pPr indent="-330200" lvl="0" marL="457200" rtl="0" algn="l">
              <a:lnSpc>
                <a:spcPct val="115000"/>
              </a:lnSpc>
              <a:spcBef>
                <a:spcPts val="1200"/>
              </a:spcBef>
              <a:spcAft>
                <a:spcPts val="0"/>
              </a:spcAft>
              <a:buClr>
                <a:srgbClr val="0F1115"/>
              </a:buClr>
              <a:buSzPts val="1600"/>
              <a:buFont typeface="Roboto"/>
              <a:buAutoNum type="arabicPeriod"/>
            </a:pPr>
            <a:r>
              <a:rPr b="1" lang="fr-FR" sz="1600">
                <a:solidFill>
                  <a:srgbClr val="0F1115"/>
                </a:solidFill>
                <a:highlight>
                  <a:srgbClr val="FFFFFF"/>
                </a:highlight>
                <a:latin typeface="Roboto"/>
                <a:ea typeface="Roboto"/>
                <a:cs typeface="Roboto"/>
                <a:sym typeface="Roboto"/>
              </a:rPr>
              <a:t>Initialisation de Spark :</a:t>
            </a:r>
            <a:endParaRPr b="1" sz="16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1600">
                <a:solidFill>
                  <a:srgbClr val="0F1115"/>
                </a:solidFill>
                <a:highlight>
                  <a:srgbClr val="FFFFFF"/>
                </a:highlight>
                <a:latin typeface="Roboto"/>
                <a:ea typeface="Roboto"/>
                <a:cs typeface="Roboto"/>
                <a:sym typeface="Roboto"/>
              </a:rPr>
              <a:t>Création de la </a:t>
            </a:r>
            <a:r>
              <a:rPr lang="fr-FR" sz="1450">
                <a:solidFill>
                  <a:srgbClr val="0F1115"/>
                </a:solidFill>
                <a:highlight>
                  <a:srgbClr val="EBEEF2"/>
                </a:highlight>
                <a:latin typeface="Roboto Mono"/>
                <a:ea typeface="Roboto Mono"/>
                <a:cs typeface="Roboto Mono"/>
                <a:sym typeface="Roboto Mono"/>
              </a:rPr>
              <a:t>SparkSession</a:t>
            </a:r>
            <a:r>
              <a:rPr lang="fr-FR" sz="1600">
                <a:solidFill>
                  <a:srgbClr val="0F1115"/>
                </a:solidFill>
                <a:highlight>
                  <a:srgbClr val="FFFFFF"/>
                </a:highlight>
                <a:latin typeface="Roboto"/>
                <a:ea typeface="Roboto"/>
                <a:cs typeface="Roboto"/>
                <a:sym typeface="Roboto"/>
              </a:rPr>
              <a:t> avec des configurations spécifiques :</a:t>
            </a:r>
            <a:endParaRPr sz="16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AutoNum type="arabicPeriod"/>
            </a:pPr>
            <a:r>
              <a:rPr lang="fr-FR" sz="1600">
                <a:solidFill>
                  <a:srgbClr val="0F1115"/>
                </a:solidFill>
                <a:highlight>
                  <a:srgbClr val="FFFFFF"/>
                </a:highlight>
                <a:latin typeface="Roboto"/>
                <a:ea typeface="Roboto"/>
                <a:cs typeface="Roboto"/>
                <a:sym typeface="Roboto"/>
              </a:rPr>
              <a:t>Nom de l'application : </a:t>
            </a:r>
            <a:r>
              <a:rPr lang="fr-FR" sz="1450">
                <a:solidFill>
                  <a:srgbClr val="0F1115"/>
                </a:solidFill>
                <a:highlight>
                  <a:srgbClr val="EBEEF2"/>
                </a:highlight>
                <a:latin typeface="Roboto Mono"/>
                <a:ea typeface="Roboto Mono"/>
                <a:cs typeface="Roboto Mono"/>
                <a:sym typeface="Roboto Mono"/>
              </a:rPr>
              <a:t>"PROJET_8_Feature_Extraction"</a:t>
            </a:r>
            <a:r>
              <a:rPr lang="fr-FR" sz="1600">
                <a:solidFill>
                  <a:srgbClr val="0F1115"/>
                </a:solidFill>
                <a:highlight>
                  <a:srgbClr val="FFFFFF"/>
                </a:highlight>
                <a:latin typeface="Roboto"/>
                <a:ea typeface="Roboto"/>
                <a:cs typeface="Roboto"/>
                <a:sym typeface="Roboto"/>
              </a:rPr>
              <a:t>.</a:t>
            </a:r>
            <a:endParaRPr sz="16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AutoNum type="arabicPeriod"/>
            </a:pPr>
            <a:r>
              <a:rPr lang="fr-FR" sz="1600">
                <a:solidFill>
                  <a:srgbClr val="0F1115"/>
                </a:solidFill>
                <a:highlight>
                  <a:srgbClr val="FFFFFF"/>
                </a:highlight>
                <a:latin typeface="Roboto"/>
                <a:ea typeface="Roboto"/>
                <a:cs typeface="Roboto"/>
                <a:sym typeface="Roboto"/>
              </a:rPr>
              <a:t>Master : </a:t>
            </a:r>
            <a:r>
              <a:rPr lang="fr-FR" sz="1450">
                <a:solidFill>
                  <a:srgbClr val="0F1115"/>
                </a:solidFill>
                <a:highlight>
                  <a:srgbClr val="EBEEF2"/>
                </a:highlight>
                <a:latin typeface="Roboto Mono"/>
                <a:ea typeface="Roboto Mono"/>
                <a:cs typeface="Roboto Mono"/>
                <a:sym typeface="Roboto Mono"/>
              </a:rPr>
              <a:t>local[*]</a:t>
            </a:r>
            <a:r>
              <a:rPr lang="fr-FR" sz="1600">
                <a:solidFill>
                  <a:srgbClr val="0F1115"/>
                </a:solidFill>
                <a:highlight>
                  <a:srgbClr val="FFFFFF"/>
                </a:highlight>
                <a:latin typeface="Roboto"/>
                <a:ea typeface="Roboto"/>
                <a:cs typeface="Roboto"/>
                <a:sym typeface="Roboto"/>
              </a:rPr>
              <a:t> (en local) ou paramètres du cluster sur EMR.</a:t>
            </a:r>
            <a:endParaRPr sz="16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AutoNum type="arabicPeriod"/>
            </a:pPr>
            <a:r>
              <a:rPr lang="fr-FR" sz="1600">
                <a:solidFill>
                  <a:srgbClr val="0F1115"/>
                </a:solidFill>
                <a:highlight>
                  <a:srgbClr val="FFFFFF"/>
                </a:highlight>
                <a:latin typeface="Roboto"/>
                <a:ea typeface="Roboto"/>
                <a:cs typeface="Roboto"/>
                <a:sym typeface="Roboto"/>
              </a:rPr>
              <a:t>Configuration mémoire (</a:t>
            </a:r>
            <a:r>
              <a:rPr lang="fr-FR" sz="1450">
                <a:solidFill>
                  <a:srgbClr val="0F1115"/>
                </a:solidFill>
                <a:highlight>
                  <a:srgbClr val="EBEEF2"/>
                </a:highlight>
                <a:latin typeface="Roboto Mono"/>
                <a:ea typeface="Roboto Mono"/>
                <a:cs typeface="Roboto Mono"/>
                <a:sym typeface="Roboto Mono"/>
              </a:rPr>
              <a:t>spark.driver.memory</a:t>
            </a:r>
            <a:r>
              <a:rPr lang="fr-FR" sz="1600">
                <a:solidFill>
                  <a:srgbClr val="0F1115"/>
                </a:solidFill>
                <a:highlight>
                  <a:srgbClr val="FFFFFF"/>
                </a:highlight>
                <a:latin typeface="Roboto"/>
                <a:ea typeface="Roboto"/>
                <a:cs typeface="Roboto"/>
                <a:sym typeface="Roboto"/>
              </a:rPr>
              <a:t>, </a:t>
            </a:r>
            <a:r>
              <a:rPr lang="fr-FR" sz="1450">
                <a:solidFill>
                  <a:srgbClr val="0F1115"/>
                </a:solidFill>
                <a:highlight>
                  <a:srgbClr val="EBEEF2"/>
                </a:highlight>
                <a:latin typeface="Roboto Mono"/>
                <a:ea typeface="Roboto Mono"/>
                <a:cs typeface="Roboto Mono"/>
                <a:sym typeface="Roboto Mono"/>
              </a:rPr>
              <a:t>spark.executor.memory</a:t>
            </a:r>
            <a:r>
              <a:rPr lang="fr-FR" sz="1600">
                <a:solidFill>
                  <a:srgbClr val="0F1115"/>
                </a:solidFill>
                <a:highlight>
                  <a:srgbClr val="FFFFFF"/>
                </a:highlight>
                <a:latin typeface="Roboto"/>
                <a:ea typeface="Roboto"/>
                <a:cs typeface="Roboto"/>
                <a:sym typeface="Roboto"/>
              </a:rPr>
              <a:t> réglées sur </a:t>
            </a:r>
            <a:r>
              <a:rPr lang="fr-FR" sz="1450">
                <a:solidFill>
                  <a:srgbClr val="0F1115"/>
                </a:solidFill>
                <a:highlight>
                  <a:srgbClr val="EBEEF2"/>
                </a:highlight>
                <a:latin typeface="Roboto Mono"/>
                <a:ea typeface="Roboto Mono"/>
                <a:cs typeface="Roboto Mono"/>
                <a:sym typeface="Roboto Mono"/>
              </a:rPr>
              <a:t>4g</a:t>
            </a:r>
            <a:r>
              <a:rPr lang="fr-FR" sz="1600">
                <a:solidFill>
                  <a:srgbClr val="0F1115"/>
                </a:solidFill>
                <a:highlight>
                  <a:srgbClr val="FFFFFF"/>
                </a:highlight>
                <a:latin typeface="Roboto"/>
                <a:ea typeface="Roboto"/>
                <a:cs typeface="Roboto"/>
                <a:sym typeface="Roboto"/>
              </a:rPr>
              <a:t>).</a:t>
            </a:r>
            <a:endParaRPr sz="16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AutoNum type="arabicPeriod"/>
            </a:pPr>
            <a:r>
              <a:rPr lang="fr-FR" sz="1600">
                <a:solidFill>
                  <a:srgbClr val="0F1115"/>
                </a:solidFill>
                <a:highlight>
                  <a:srgbClr val="FFFFFF"/>
                </a:highlight>
                <a:latin typeface="Roboto"/>
                <a:ea typeface="Roboto"/>
                <a:cs typeface="Roboto"/>
                <a:sym typeface="Roboto"/>
              </a:rPr>
              <a:t>Optimisations : </a:t>
            </a:r>
            <a:r>
              <a:rPr lang="fr-FR" sz="1450">
                <a:solidFill>
                  <a:srgbClr val="0F1115"/>
                </a:solidFill>
                <a:highlight>
                  <a:srgbClr val="EBEEF2"/>
                </a:highlight>
                <a:latin typeface="Roboto Mono"/>
                <a:ea typeface="Roboto Mono"/>
                <a:cs typeface="Roboto Mono"/>
                <a:sym typeface="Roboto Mono"/>
              </a:rPr>
              <a:t>spark.sql.execution.arrow.pyspark.enabled</a:t>
            </a:r>
            <a:r>
              <a:rPr lang="fr-FR" sz="1600">
                <a:solidFill>
                  <a:srgbClr val="0F1115"/>
                </a:solidFill>
                <a:highlight>
                  <a:srgbClr val="FFFFFF"/>
                </a:highlight>
                <a:latin typeface="Roboto"/>
                <a:ea typeface="Roboto"/>
                <a:cs typeface="Roboto"/>
                <a:sym typeface="Roboto"/>
              </a:rPr>
              <a:t> à </a:t>
            </a:r>
            <a:r>
              <a:rPr lang="fr-FR" sz="1450">
                <a:solidFill>
                  <a:srgbClr val="0F1115"/>
                </a:solidFill>
                <a:highlight>
                  <a:srgbClr val="EBEEF2"/>
                </a:highlight>
                <a:latin typeface="Roboto Mono"/>
                <a:ea typeface="Roboto Mono"/>
                <a:cs typeface="Roboto Mono"/>
                <a:sym typeface="Roboto Mono"/>
              </a:rPr>
              <a:t>true</a:t>
            </a:r>
            <a:r>
              <a:rPr lang="fr-FR" sz="1600">
                <a:solidFill>
                  <a:srgbClr val="0F1115"/>
                </a:solidFill>
                <a:highlight>
                  <a:srgbClr val="FFFFFF"/>
                </a:highlight>
                <a:latin typeface="Roboto"/>
                <a:ea typeface="Roboto"/>
                <a:cs typeface="Roboto"/>
                <a:sym typeface="Roboto"/>
              </a:rPr>
              <a:t> pour de meilleures performances, </a:t>
            </a:r>
            <a:r>
              <a:rPr lang="fr-FR" sz="1450">
                <a:solidFill>
                  <a:srgbClr val="0F1115"/>
                </a:solidFill>
                <a:highlight>
                  <a:srgbClr val="EBEEF2"/>
                </a:highlight>
                <a:latin typeface="Roboto Mono"/>
                <a:ea typeface="Roboto Mono"/>
                <a:cs typeface="Roboto Mono"/>
                <a:sym typeface="Roboto Mono"/>
              </a:rPr>
              <a:t>spark.sql.parquet.compression.codec</a:t>
            </a:r>
            <a:r>
              <a:rPr lang="fr-FR" sz="1600">
                <a:solidFill>
                  <a:srgbClr val="0F1115"/>
                </a:solidFill>
                <a:highlight>
                  <a:srgbClr val="FFFFFF"/>
                </a:highlight>
                <a:latin typeface="Roboto"/>
                <a:ea typeface="Roboto"/>
                <a:cs typeface="Roboto"/>
                <a:sym typeface="Roboto"/>
              </a:rPr>
              <a:t> à </a:t>
            </a:r>
            <a:r>
              <a:rPr lang="fr-FR" sz="1450">
                <a:solidFill>
                  <a:srgbClr val="0F1115"/>
                </a:solidFill>
                <a:highlight>
                  <a:srgbClr val="EBEEF2"/>
                </a:highlight>
                <a:latin typeface="Roboto Mono"/>
                <a:ea typeface="Roboto Mono"/>
                <a:cs typeface="Roboto Mono"/>
                <a:sym typeface="Roboto Mono"/>
              </a:rPr>
              <a:t>snappy</a:t>
            </a:r>
            <a:r>
              <a:rPr lang="fr-FR" sz="1600">
                <a:solidFill>
                  <a:srgbClr val="0F1115"/>
                </a:solidFill>
                <a:highlight>
                  <a:srgbClr val="FFFFFF"/>
                </a:highlight>
                <a:latin typeface="Roboto"/>
                <a:ea typeface="Roboto"/>
                <a:cs typeface="Roboto"/>
                <a:sym typeface="Roboto"/>
              </a:rPr>
              <a:t>.</a:t>
            </a:r>
            <a:endParaRPr sz="1600">
              <a:solidFill>
                <a:srgbClr val="0F1115"/>
              </a:solidFill>
              <a:highlight>
                <a:srgbClr val="FFFFFF"/>
              </a:highlight>
              <a:latin typeface="Roboto"/>
              <a:ea typeface="Roboto"/>
              <a:cs typeface="Roboto"/>
              <a:sym typeface="Roboto"/>
            </a:endParaRPr>
          </a:p>
          <a:p>
            <a:pPr indent="-330200" lvl="0" marL="457200" rtl="0" algn="l">
              <a:lnSpc>
                <a:spcPct val="115000"/>
              </a:lnSpc>
              <a:spcBef>
                <a:spcPts val="0"/>
              </a:spcBef>
              <a:spcAft>
                <a:spcPts val="0"/>
              </a:spcAft>
              <a:buClr>
                <a:srgbClr val="0F1115"/>
              </a:buClr>
              <a:buSzPts val="1600"/>
              <a:buFont typeface="Roboto"/>
              <a:buAutoNum type="arabicPeriod"/>
            </a:pPr>
            <a:r>
              <a:rPr b="1" lang="fr-FR" sz="1600">
                <a:solidFill>
                  <a:srgbClr val="0F1115"/>
                </a:solidFill>
                <a:highlight>
                  <a:srgbClr val="FFFFFF"/>
                </a:highlight>
                <a:latin typeface="Roboto"/>
                <a:ea typeface="Roboto"/>
                <a:cs typeface="Roboto"/>
                <a:sym typeface="Roboto"/>
              </a:rPr>
              <a:t>Chargement des Images avec Spark :</a:t>
            </a:r>
            <a:endParaRPr b="1" sz="16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1600">
                <a:solidFill>
                  <a:srgbClr val="0F1115"/>
                </a:solidFill>
                <a:highlight>
                  <a:srgbClr val="FFFFFF"/>
                </a:highlight>
                <a:latin typeface="Roboto"/>
                <a:ea typeface="Roboto"/>
                <a:cs typeface="Roboto"/>
                <a:sym typeface="Roboto"/>
              </a:rPr>
              <a:t>Utilisation de </a:t>
            </a:r>
            <a:r>
              <a:rPr lang="fr-FR" sz="1450">
                <a:solidFill>
                  <a:srgbClr val="0F1115"/>
                </a:solidFill>
                <a:highlight>
                  <a:srgbClr val="EBEEF2"/>
                </a:highlight>
                <a:latin typeface="Roboto Mono"/>
                <a:ea typeface="Roboto Mono"/>
                <a:cs typeface="Roboto Mono"/>
                <a:sym typeface="Roboto Mono"/>
              </a:rPr>
              <a:t>spark.read.format("binaryFile")</a:t>
            </a:r>
            <a:r>
              <a:rPr lang="fr-FR" sz="1600">
                <a:solidFill>
                  <a:srgbClr val="0F1115"/>
                </a:solidFill>
                <a:highlight>
                  <a:srgbClr val="FFFFFF"/>
                </a:highlight>
                <a:latin typeface="Roboto"/>
                <a:ea typeface="Roboto"/>
                <a:cs typeface="Roboto"/>
                <a:sym typeface="Roboto"/>
              </a:rPr>
              <a:t> pour lire les images depuis le dossier de test (en local </a:t>
            </a:r>
            <a:r>
              <a:rPr lang="fr-FR" sz="1450">
                <a:solidFill>
                  <a:srgbClr val="0F1115"/>
                </a:solidFill>
                <a:highlight>
                  <a:srgbClr val="EBEEF2"/>
                </a:highlight>
                <a:latin typeface="Roboto Mono"/>
                <a:ea typeface="Roboto Mono"/>
                <a:cs typeface="Roboto Mono"/>
                <a:sym typeface="Roboto Mono"/>
              </a:rPr>
              <a:t>file://</a:t>
            </a:r>
            <a:r>
              <a:rPr lang="fr-FR" sz="1600">
                <a:solidFill>
                  <a:srgbClr val="0F1115"/>
                </a:solidFill>
                <a:highlight>
                  <a:srgbClr val="FFFFFF"/>
                </a:highlight>
                <a:latin typeface="Roboto"/>
                <a:ea typeface="Roboto"/>
                <a:cs typeface="Roboto"/>
                <a:sym typeface="Roboto"/>
              </a:rPr>
              <a:t> ou sur S3 </a:t>
            </a:r>
            <a:r>
              <a:rPr lang="fr-FR" sz="1450">
                <a:solidFill>
                  <a:srgbClr val="0F1115"/>
                </a:solidFill>
                <a:highlight>
                  <a:srgbClr val="EBEEF2"/>
                </a:highlight>
                <a:latin typeface="Roboto Mono"/>
                <a:ea typeface="Roboto Mono"/>
                <a:cs typeface="Roboto Mono"/>
                <a:sym typeface="Roboto Mono"/>
              </a:rPr>
              <a:t>s3://</a:t>
            </a:r>
            <a:r>
              <a:rPr lang="fr-FR" sz="1600">
                <a:solidFill>
                  <a:srgbClr val="0F1115"/>
                </a:solidFill>
                <a:highlight>
                  <a:srgbClr val="FFFFFF"/>
                </a:highlight>
                <a:latin typeface="Roboto"/>
                <a:ea typeface="Roboto"/>
                <a:cs typeface="Roboto"/>
                <a:sym typeface="Roboto"/>
              </a:rPr>
              <a:t>).</a:t>
            </a:r>
            <a:endParaRPr sz="16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1600">
                <a:solidFill>
                  <a:srgbClr val="0F1115"/>
                </a:solidFill>
                <a:highlight>
                  <a:srgbClr val="FFFFFF"/>
                </a:highlight>
                <a:latin typeface="Roboto"/>
                <a:ea typeface="Roboto"/>
                <a:cs typeface="Roboto"/>
                <a:sym typeface="Roboto"/>
              </a:rPr>
              <a:t>Création d'un DataFrame Spark avec les colonnes </a:t>
            </a:r>
            <a:r>
              <a:rPr lang="fr-FR" sz="1450">
                <a:solidFill>
                  <a:srgbClr val="0F1115"/>
                </a:solidFill>
                <a:highlight>
                  <a:srgbClr val="EBEEF2"/>
                </a:highlight>
                <a:latin typeface="Roboto Mono"/>
                <a:ea typeface="Roboto Mono"/>
                <a:cs typeface="Roboto Mono"/>
                <a:sym typeface="Roboto Mono"/>
              </a:rPr>
              <a:t>path</a:t>
            </a:r>
            <a:r>
              <a:rPr lang="fr-FR" sz="1600">
                <a:solidFill>
                  <a:srgbClr val="0F1115"/>
                </a:solidFill>
                <a:highlight>
                  <a:srgbClr val="FFFFFF"/>
                </a:highlight>
                <a:latin typeface="Roboto"/>
                <a:ea typeface="Roboto"/>
                <a:cs typeface="Roboto"/>
                <a:sym typeface="Roboto"/>
              </a:rPr>
              <a:t> (chemin de l'image) et </a:t>
            </a:r>
            <a:r>
              <a:rPr lang="fr-FR" sz="1450">
                <a:solidFill>
                  <a:srgbClr val="0F1115"/>
                </a:solidFill>
                <a:highlight>
                  <a:srgbClr val="EBEEF2"/>
                </a:highlight>
                <a:latin typeface="Roboto Mono"/>
                <a:ea typeface="Roboto Mono"/>
                <a:cs typeface="Roboto Mono"/>
                <a:sym typeface="Roboto Mono"/>
              </a:rPr>
              <a:t>content</a:t>
            </a:r>
            <a:r>
              <a:rPr lang="fr-FR" sz="1600">
                <a:solidFill>
                  <a:srgbClr val="0F1115"/>
                </a:solidFill>
                <a:highlight>
                  <a:srgbClr val="FFFFFF"/>
                </a:highlight>
                <a:latin typeface="Roboto"/>
                <a:ea typeface="Roboto"/>
                <a:cs typeface="Roboto"/>
                <a:sym typeface="Roboto"/>
              </a:rPr>
              <a:t> (contenu binaire de l'image).</a:t>
            </a:r>
            <a:endParaRPr sz="16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1600">
                <a:solidFill>
                  <a:srgbClr val="0F1115"/>
                </a:solidFill>
                <a:highlight>
                  <a:srgbClr val="FFFFFF"/>
                </a:highlight>
                <a:latin typeface="Roboto"/>
                <a:ea typeface="Roboto"/>
                <a:cs typeface="Roboto"/>
                <a:sym typeface="Roboto"/>
              </a:rPr>
              <a:t>Extraction du label (le nom de la catégorie, i.e., le nom du dossier parent) à l'aide des fonctions Spark </a:t>
            </a:r>
            <a:r>
              <a:rPr lang="fr-FR" sz="1450">
                <a:solidFill>
                  <a:srgbClr val="0F1115"/>
                </a:solidFill>
                <a:highlight>
                  <a:srgbClr val="EBEEF2"/>
                </a:highlight>
                <a:latin typeface="Roboto Mono"/>
                <a:ea typeface="Roboto Mono"/>
                <a:cs typeface="Roboto Mono"/>
                <a:sym typeface="Roboto Mono"/>
              </a:rPr>
              <a:t>split</a:t>
            </a:r>
            <a:r>
              <a:rPr lang="fr-FR" sz="1600">
                <a:solidFill>
                  <a:srgbClr val="0F1115"/>
                </a:solidFill>
                <a:highlight>
                  <a:srgbClr val="FFFFFF"/>
                </a:highlight>
                <a:latin typeface="Roboto"/>
                <a:ea typeface="Roboto"/>
                <a:cs typeface="Roboto"/>
                <a:sym typeface="Roboto"/>
              </a:rPr>
              <a:t> et </a:t>
            </a:r>
            <a:r>
              <a:rPr lang="fr-FR" sz="1450">
                <a:solidFill>
                  <a:srgbClr val="0F1115"/>
                </a:solidFill>
                <a:highlight>
                  <a:srgbClr val="EBEEF2"/>
                </a:highlight>
                <a:latin typeface="Roboto Mono"/>
                <a:ea typeface="Roboto Mono"/>
                <a:cs typeface="Roboto Mono"/>
                <a:sym typeface="Roboto Mono"/>
              </a:rPr>
              <a:t>element_at</a:t>
            </a:r>
            <a:r>
              <a:rPr lang="fr-FR" sz="1600">
                <a:solidFill>
                  <a:srgbClr val="0F1115"/>
                </a:solidFill>
                <a:highlight>
                  <a:srgbClr val="FFFFFF"/>
                </a:highlight>
                <a:latin typeface="Roboto"/>
                <a:ea typeface="Roboto"/>
                <a:cs typeface="Roboto"/>
                <a:sym typeface="Roboto"/>
              </a:rPr>
              <a:t>.</a:t>
            </a:r>
            <a:endParaRPr sz="1600">
              <a:solidFill>
                <a:srgbClr val="0F1115"/>
              </a:solidFill>
              <a:highlight>
                <a:srgbClr val="FFFFFF"/>
              </a:highlight>
              <a:latin typeface="Roboto"/>
              <a:ea typeface="Roboto"/>
              <a:cs typeface="Roboto"/>
              <a:sym typeface="Roboto"/>
            </a:endParaRPr>
          </a:p>
          <a:p>
            <a:pPr indent="-330200" lvl="0" marL="457200" rtl="0" algn="l">
              <a:lnSpc>
                <a:spcPct val="115000"/>
              </a:lnSpc>
              <a:spcBef>
                <a:spcPts val="0"/>
              </a:spcBef>
              <a:spcAft>
                <a:spcPts val="0"/>
              </a:spcAft>
              <a:buClr>
                <a:srgbClr val="0F1115"/>
              </a:buClr>
              <a:buSzPts val="1600"/>
              <a:buFont typeface="Roboto"/>
              <a:buAutoNum type="arabicPeriod"/>
            </a:pPr>
            <a:r>
              <a:rPr b="1" lang="fr-FR" sz="1600">
                <a:solidFill>
                  <a:srgbClr val="0F1115"/>
                </a:solidFill>
                <a:highlight>
                  <a:srgbClr val="FFFFFF"/>
                </a:highlight>
                <a:latin typeface="Roboto"/>
                <a:ea typeface="Roboto"/>
                <a:cs typeface="Roboto"/>
                <a:sym typeface="Roboto"/>
              </a:rPr>
              <a:t>Prétraitement des Images (Fonctions Python) :</a:t>
            </a:r>
            <a:endParaRPr b="1" sz="16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1600">
                <a:solidFill>
                  <a:srgbClr val="0F1115"/>
                </a:solidFill>
                <a:highlight>
                  <a:srgbClr val="FFFFFF"/>
                </a:highlight>
                <a:latin typeface="Roboto"/>
                <a:ea typeface="Roboto"/>
                <a:cs typeface="Roboto"/>
                <a:sym typeface="Roboto"/>
              </a:rPr>
              <a:t>Définition de la fonction </a:t>
            </a:r>
            <a:r>
              <a:rPr lang="fr-FR" sz="1450">
                <a:solidFill>
                  <a:srgbClr val="0F1115"/>
                </a:solidFill>
                <a:highlight>
                  <a:srgbClr val="EBEEF2"/>
                </a:highlight>
                <a:latin typeface="Roboto Mono"/>
                <a:ea typeface="Roboto Mono"/>
                <a:cs typeface="Roboto Mono"/>
                <a:sym typeface="Roboto Mono"/>
              </a:rPr>
              <a:t>preprocess_image(content)</a:t>
            </a:r>
            <a:r>
              <a:rPr lang="fr-FR" sz="1600">
                <a:solidFill>
                  <a:srgbClr val="0F1115"/>
                </a:solidFill>
                <a:highlight>
                  <a:srgbClr val="FFFFFF"/>
                </a:highlight>
                <a:latin typeface="Roboto"/>
                <a:ea typeface="Roboto"/>
                <a:cs typeface="Roboto"/>
                <a:sym typeface="Roboto"/>
              </a:rPr>
              <a:t> qui :</a:t>
            </a:r>
            <a:endParaRPr sz="16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AutoNum type="arabicPeriod"/>
            </a:pPr>
            <a:r>
              <a:rPr lang="fr-FR" sz="1600">
                <a:solidFill>
                  <a:srgbClr val="0F1115"/>
                </a:solidFill>
                <a:highlight>
                  <a:srgbClr val="FFFFFF"/>
                </a:highlight>
                <a:latin typeface="Roboto"/>
                <a:ea typeface="Roboto"/>
                <a:cs typeface="Roboto"/>
                <a:sym typeface="Roboto"/>
              </a:rPr>
              <a:t>Ouvre l'image à partir des bytes avec </a:t>
            </a:r>
            <a:r>
              <a:rPr lang="fr-FR" sz="1450">
                <a:solidFill>
                  <a:srgbClr val="0F1115"/>
                </a:solidFill>
                <a:highlight>
                  <a:srgbClr val="EBEEF2"/>
                </a:highlight>
                <a:latin typeface="Roboto Mono"/>
                <a:ea typeface="Roboto Mono"/>
                <a:cs typeface="Roboto Mono"/>
                <a:sym typeface="Roboto Mono"/>
              </a:rPr>
              <a:t>PIL</a:t>
            </a:r>
            <a:r>
              <a:rPr lang="fr-FR" sz="1600">
                <a:solidFill>
                  <a:srgbClr val="0F1115"/>
                </a:solidFill>
                <a:highlight>
                  <a:srgbClr val="FFFFFF"/>
                </a:highlight>
                <a:latin typeface="Roboto"/>
                <a:ea typeface="Roboto"/>
                <a:cs typeface="Roboto"/>
                <a:sym typeface="Roboto"/>
              </a:rPr>
              <a:t> (</a:t>
            </a:r>
            <a:r>
              <a:rPr lang="fr-FR" sz="1450">
                <a:solidFill>
                  <a:srgbClr val="0F1115"/>
                </a:solidFill>
                <a:highlight>
                  <a:srgbClr val="EBEEF2"/>
                </a:highlight>
                <a:latin typeface="Roboto Mono"/>
                <a:ea typeface="Roboto Mono"/>
                <a:cs typeface="Roboto Mono"/>
                <a:sym typeface="Roboto Mono"/>
              </a:rPr>
              <a:t>Image.open(io.BytesIO(content))</a:t>
            </a:r>
            <a:r>
              <a:rPr lang="fr-FR" sz="1600">
                <a:solidFill>
                  <a:srgbClr val="0F1115"/>
                </a:solidFill>
                <a:highlight>
                  <a:srgbClr val="FFFFFF"/>
                </a:highlight>
                <a:latin typeface="Roboto"/>
                <a:ea typeface="Roboto"/>
                <a:cs typeface="Roboto"/>
                <a:sym typeface="Roboto"/>
              </a:rPr>
              <a:t>).</a:t>
            </a:r>
            <a:endParaRPr sz="1600">
              <a:solidFill>
                <a:srgbClr val="0F1115"/>
              </a:solidFill>
              <a:highlight>
                <a:srgbClr val="FFFFFF"/>
              </a:highlight>
              <a:latin typeface="Roboto"/>
              <a:ea typeface="Roboto"/>
              <a:cs typeface="Roboto"/>
              <a:sym typeface="Roboto"/>
            </a:endParaRPr>
          </a:p>
          <a:p>
            <a:pPr indent="-330200" lvl="2" marL="1371600" rtl="0" algn="l">
              <a:lnSpc>
                <a:spcPct val="115000"/>
              </a:lnSpc>
              <a:spcBef>
                <a:spcPts val="0"/>
              </a:spcBef>
              <a:spcAft>
                <a:spcPts val="0"/>
              </a:spcAft>
              <a:buClr>
                <a:srgbClr val="0F1115"/>
              </a:buClr>
              <a:buSzPts val="1600"/>
              <a:buFont typeface="Roboto"/>
              <a:buAutoNum type="arabicPeriod"/>
            </a:pPr>
            <a:r>
              <a:rPr lang="fr-FR" sz="1600">
                <a:solidFill>
                  <a:srgbClr val="0F1115"/>
                </a:solidFill>
                <a:highlight>
                  <a:srgbClr val="FFFFFF"/>
                </a:highlight>
                <a:latin typeface="Roboto"/>
                <a:ea typeface="Roboto"/>
                <a:cs typeface="Roboto"/>
                <a:sym typeface="Roboto"/>
              </a:rPr>
              <a:t>Redimensionne l'image à 224x224 pixels (taille d'entrée de MobileNetV2).</a:t>
            </a:r>
            <a:endParaRPr sz="16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AutoNum type="arabicPeriod"/>
            </a:pPr>
            <a:r>
              <a:rPr lang="fr-FR" sz="1600">
                <a:solidFill>
                  <a:srgbClr val="0F1115"/>
                </a:solidFill>
                <a:highlight>
                  <a:srgbClr val="FFFFFF"/>
                </a:highlight>
                <a:latin typeface="Roboto"/>
                <a:ea typeface="Roboto"/>
                <a:cs typeface="Roboto"/>
                <a:sym typeface="Roboto"/>
              </a:rPr>
              <a:t>Convertit l'image en tableau </a:t>
            </a:r>
            <a:r>
              <a:rPr lang="fr-FR" sz="1450">
                <a:solidFill>
                  <a:srgbClr val="0F1115"/>
                </a:solidFill>
                <a:highlight>
                  <a:srgbClr val="EBEEF2"/>
                </a:highlight>
                <a:latin typeface="Roboto Mono"/>
                <a:ea typeface="Roboto Mono"/>
                <a:cs typeface="Roboto Mono"/>
                <a:sym typeface="Roboto Mono"/>
              </a:rPr>
              <a:t>numpy</a:t>
            </a:r>
            <a:r>
              <a:rPr lang="fr-FR" sz="1600">
                <a:solidFill>
                  <a:srgbClr val="0F1115"/>
                </a:solidFill>
                <a:highlight>
                  <a:srgbClr val="FFFFFF"/>
                </a:highlight>
                <a:latin typeface="Roboto"/>
                <a:ea typeface="Roboto"/>
                <a:cs typeface="Roboto"/>
                <a:sym typeface="Roboto"/>
              </a:rPr>
              <a:t> et gère les différents formats de canaux (conversion des niveaux de gris et RGBA en RVB).</a:t>
            </a:r>
            <a:endParaRPr sz="16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AutoNum type="arabicPeriod"/>
            </a:pPr>
            <a:r>
              <a:rPr lang="fr-FR" sz="1600">
                <a:solidFill>
                  <a:srgbClr val="0F1115"/>
                </a:solidFill>
                <a:highlight>
                  <a:srgbClr val="FFFFFF"/>
                </a:highlight>
                <a:latin typeface="Roboto"/>
                <a:ea typeface="Roboto"/>
                <a:cs typeface="Roboto"/>
                <a:sym typeface="Roboto"/>
              </a:rPr>
              <a:t>Applique </a:t>
            </a:r>
            <a:r>
              <a:rPr lang="fr-FR" sz="1450">
                <a:solidFill>
                  <a:srgbClr val="0F1115"/>
                </a:solidFill>
                <a:highlight>
                  <a:srgbClr val="EBEEF2"/>
                </a:highlight>
                <a:latin typeface="Roboto Mono"/>
                <a:ea typeface="Roboto Mono"/>
                <a:cs typeface="Roboto Mono"/>
                <a:sym typeface="Roboto Mono"/>
              </a:rPr>
              <a:t>tf.keras.applications.mobilenet_v2.preprocess_input</a:t>
            </a:r>
            <a:r>
              <a:rPr lang="fr-FR" sz="1600">
                <a:solidFill>
                  <a:srgbClr val="0F1115"/>
                </a:solidFill>
                <a:highlight>
                  <a:srgbClr val="FFFFFF"/>
                </a:highlight>
                <a:latin typeface="Roboto"/>
                <a:ea typeface="Roboto"/>
                <a:cs typeface="Roboto"/>
                <a:sym typeface="Roboto"/>
              </a:rPr>
              <a:t> pour la normalisation spécifique (mise à l'échelle des valeurs entre -1 et 1).</a:t>
            </a:r>
            <a:endParaRPr sz="1600">
              <a:solidFill>
                <a:srgbClr val="0F1115"/>
              </a:solidFill>
              <a:highlight>
                <a:srgbClr val="FFFFFF"/>
              </a:highlight>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g3958445f59d_8_0"/>
          <p:cNvSpPr txBox="1"/>
          <p:nvPr/>
        </p:nvSpPr>
        <p:spPr>
          <a:xfrm>
            <a:off x="0" y="0"/>
            <a:ext cx="12390300" cy="68565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fr-FR" sz="2200">
                <a:solidFill>
                  <a:srgbClr val="0F1115"/>
                </a:solidFill>
                <a:highlight>
                  <a:srgbClr val="FFFFFF"/>
                </a:highlight>
                <a:latin typeface="Roboto"/>
                <a:ea typeface="Roboto"/>
                <a:cs typeface="Roboto"/>
                <a:sym typeface="Roboto"/>
              </a:rPr>
              <a:t>Méthodologie - Pipeline d'Extraction de Features (Étapes 4-5)</a:t>
            </a:r>
            <a:endParaRPr b="1" sz="2200">
              <a:solidFill>
                <a:srgbClr val="0F1115"/>
              </a:solidFill>
              <a:highlight>
                <a:srgbClr val="FFFFFF"/>
              </a:highlight>
              <a:latin typeface="Roboto"/>
              <a:ea typeface="Roboto"/>
              <a:cs typeface="Roboto"/>
              <a:sym typeface="Roboto"/>
            </a:endParaRPr>
          </a:p>
          <a:p>
            <a:pPr indent="-349250" lvl="0" marL="457200" rtl="0" algn="l">
              <a:lnSpc>
                <a:spcPct val="115000"/>
              </a:lnSpc>
              <a:spcBef>
                <a:spcPts val="1200"/>
              </a:spcBef>
              <a:spcAft>
                <a:spcPts val="0"/>
              </a:spcAft>
              <a:buClr>
                <a:srgbClr val="0F1115"/>
              </a:buClr>
              <a:buSzPts val="1900"/>
              <a:buFont typeface="Roboto"/>
              <a:buAutoNum type="arabicPeriod" startAt="4"/>
            </a:pPr>
            <a:r>
              <a:rPr b="1" lang="fr-FR" sz="1900">
                <a:solidFill>
                  <a:srgbClr val="0F1115"/>
                </a:solidFill>
                <a:highlight>
                  <a:srgbClr val="FFFFFF"/>
                </a:highlight>
                <a:latin typeface="Roboto"/>
                <a:ea typeface="Roboto"/>
                <a:cs typeface="Roboto"/>
                <a:sym typeface="Roboto"/>
              </a:rPr>
              <a:t>Création du Modèle d'Extraction (sur le Driver) :</a:t>
            </a:r>
            <a:endParaRPr b="1" sz="19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1900">
                <a:solidFill>
                  <a:srgbClr val="0F1115"/>
                </a:solidFill>
                <a:highlight>
                  <a:srgbClr val="FFFFFF"/>
                </a:highlight>
                <a:latin typeface="Roboto"/>
                <a:ea typeface="Roboto"/>
                <a:cs typeface="Roboto"/>
                <a:sym typeface="Roboto"/>
              </a:rPr>
              <a:t>Chargement du modèle </a:t>
            </a:r>
            <a:r>
              <a:rPr lang="fr-FR" sz="1750">
                <a:solidFill>
                  <a:srgbClr val="0F1115"/>
                </a:solidFill>
                <a:highlight>
                  <a:srgbClr val="EBEEF2"/>
                </a:highlight>
                <a:latin typeface="Roboto Mono"/>
                <a:ea typeface="Roboto Mono"/>
                <a:cs typeface="Roboto Mono"/>
                <a:sym typeface="Roboto Mono"/>
              </a:rPr>
              <a:t>MobileNetV2</a:t>
            </a:r>
            <a:r>
              <a:rPr lang="fr-FR" sz="1900">
                <a:solidFill>
                  <a:srgbClr val="0F1115"/>
                </a:solidFill>
                <a:highlight>
                  <a:srgbClr val="FFFFFF"/>
                </a:highlight>
                <a:latin typeface="Roboto"/>
                <a:ea typeface="Roboto"/>
                <a:cs typeface="Roboto"/>
                <a:sym typeface="Roboto"/>
              </a:rPr>
              <a:t> avec ses poids pré-entraînés sur ImageNet (</a:t>
            </a:r>
            <a:r>
              <a:rPr lang="fr-FR" sz="1750">
                <a:solidFill>
                  <a:srgbClr val="0F1115"/>
                </a:solidFill>
                <a:highlight>
                  <a:srgbClr val="EBEEF2"/>
                </a:highlight>
                <a:latin typeface="Roboto Mono"/>
                <a:ea typeface="Roboto Mono"/>
                <a:cs typeface="Roboto Mono"/>
                <a:sym typeface="Roboto Mono"/>
              </a:rPr>
              <a:t>weights='imagenet'</a:t>
            </a:r>
            <a:r>
              <a:rPr lang="fr-FR" sz="1900">
                <a:solidFill>
                  <a:srgbClr val="0F1115"/>
                </a:solidFill>
                <a:highlight>
                  <a:srgbClr val="FFFFFF"/>
                </a:highlight>
                <a:latin typeface="Roboto"/>
                <a:ea typeface="Roboto"/>
                <a:cs typeface="Roboto"/>
                <a:sym typeface="Roboto"/>
              </a:rPr>
              <a:t>).</a:t>
            </a:r>
            <a:endParaRPr sz="19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1900">
                <a:solidFill>
                  <a:srgbClr val="0F1115"/>
                </a:solidFill>
                <a:highlight>
                  <a:srgbClr val="FFFFFF"/>
                </a:highlight>
                <a:latin typeface="Roboto"/>
                <a:ea typeface="Roboto"/>
                <a:cs typeface="Roboto"/>
                <a:sym typeface="Roboto"/>
              </a:rPr>
              <a:t>Construction d'un nouveau modèle (</a:t>
            </a:r>
            <a:r>
              <a:rPr lang="fr-FR" sz="1750">
                <a:solidFill>
                  <a:srgbClr val="0F1115"/>
                </a:solidFill>
                <a:highlight>
                  <a:srgbClr val="EBEEF2"/>
                </a:highlight>
                <a:latin typeface="Roboto Mono"/>
                <a:ea typeface="Roboto Mono"/>
                <a:cs typeface="Roboto Mono"/>
                <a:sym typeface="Roboto Mono"/>
              </a:rPr>
              <a:t>feature_model</a:t>
            </a:r>
            <a:r>
              <a:rPr lang="fr-FR" sz="1900">
                <a:solidFill>
                  <a:srgbClr val="0F1115"/>
                </a:solidFill>
                <a:highlight>
                  <a:srgbClr val="FFFFFF"/>
                </a:highlight>
                <a:latin typeface="Roboto"/>
                <a:ea typeface="Roboto"/>
                <a:cs typeface="Roboto"/>
                <a:sym typeface="Roboto"/>
              </a:rPr>
              <a:t>) dont la sortie est la couche précédant la dernière (</a:t>
            </a:r>
            <a:r>
              <a:rPr lang="fr-FR" sz="1750">
                <a:solidFill>
                  <a:srgbClr val="0F1115"/>
                </a:solidFill>
                <a:highlight>
                  <a:srgbClr val="EBEEF2"/>
                </a:highlight>
                <a:latin typeface="Roboto Mono"/>
                <a:ea typeface="Roboto Mono"/>
                <a:cs typeface="Roboto Mono"/>
                <a:sym typeface="Roboto Mono"/>
              </a:rPr>
              <a:t>layers[-2].output</a:t>
            </a:r>
            <a:r>
              <a:rPr lang="fr-FR" sz="1900">
                <a:solidFill>
                  <a:srgbClr val="0F1115"/>
                </a:solidFill>
                <a:highlight>
                  <a:srgbClr val="FFFFFF"/>
                </a:highlight>
                <a:latin typeface="Roboto"/>
                <a:ea typeface="Roboto"/>
                <a:cs typeface="Roboto"/>
                <a:sym typeface="Roboto"/>
              </a:rPr>
              <a:t>), produisant un vecteur de 1280 features.</a:t>
            </a:r>
            <a:endParaRPr sz="19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b="1" lang="fr-FR" sz="1900">
                <a:solidFill>
                  <a:srgbClr val="0F1115"/>
                </a:solidFill>
                <a:highlight>
                  <a:srgbClr val="FFFFFF"/>
                </a:highlight>
                <a:latin typeface="Roboto"/>
                <a:ea typeface="Roboto"/>
                <a:cs typeface="Roboto"/>
                <a:sym typeface="Roboto"/>
              </a:rPr>
              <a:t>Broadcast des poids :</a:t>
            </a:r>
            <a:r>
              <a:rPr lang="fr-FR" sz="1900">
                <a:solidFill>
                  <a:srgbClr val="0F1115"/>
                </a:solidFill>
                <a:highlight>
                  <a:srgbClr val="FFFFFF"/>
                </a:highlight>
                <a:latin typeface="Roboto"/>
                <a:ea typeface="Roboto"/>
                <a:cs typeface="Roboto"/>
                <a:sym typeface="Roboto"/>
              </a:rPr>
              <a:t> Les 23 millions de paramètres du modèle sont envoyés une fois à tous les workers via </a:t>
            </a:r>
            <a:r>
              <a:rPr lang="fr-FR" sz="1750">
                <a:solidFill>
                  <a:srgbClr val="0F1115"/>
                </a:solidFill>
                <a:highlight>
                  <a:srgbClr val="EBEEF2"/>
                </a:highlight>
                <a:latin typeface="Roboto Mono"/>
                <a:ea typeface="Roboto Mono"/>
                <a:cs typeface="Roboto Mono"/>
                <a:sym typeface="Roboto Mono"/>
              </a:rPr>
              <a:t>sc.broadcast()</a:t>
            </a:r>
            <a:r>
              <a:rPr lang="fr-FR" sz="1900">
                <a:solidFill>
                  <a:srgbClr val="0F1115"/>
                </a:solidFill>
                <a:highlight>
                  <a:srgbClr val="FFFFFF"/>
                </a:highlight>
                <a:latin typeface="Roboto"/>
                <a:ea typeface="Roboto"/>
                <a:cs typeface="Roboto"/>
                <a:sym typeface="Roboto"/>
              </a:rPr>
              <a:t> pour éviter de re-télécharger ou re-charger le modèle sur chaque nœud.</a:t>
            </a:r>
            <a:endParaRPr sz="1900">
              <a:solidFill>
                <a:srgbClr val="0F1115"/>
              </a:solidFill>
              <a:highlight>
                <a:srgbClr val="FFFFFF"/>
              </a:highlight>
              <a:latin typeface="Roboto"/>
              <a:ea typeface="Roboto"/>
              <a:cs typeface="Roboto"/>
              <a:sym typeface="Roboto"/>
            </a:endParaRPr>
          </a:p>
          <a:p>
            <a:pPr indent="-349250" lvl="0" marL="457200" rtl="0" algn="l">
              <a:lnSpc>
                <a:spcPct val="115000"/>
              </a:lnSpc>
              <a:spcBef>
                <a:spcPts val="0"/>
              </a:spcBef>
              <a:spcAft>
                <a:spcPts val="0"/>
              </a:spcAft>
              <a:buClr>
                <a:srgbClr val="0F1115"/>
              </a:buClr>
              <a:buSzPts val="1900"/>
              <a:buFont typeface="Roboto"/>
              <a:buAutoNum type="arabicPeriod" startAt="4"/>
            </a:pPr>
            <a:r>
              <a:rPr b="1" lang="fr-FR" sz="1900">
                <a:solidFill>
                  <a:srgbClr val="0F1115"/>
                </a:solidFill>
                <a:highlight>
                  <a:srgbClr val="FFFFFF"/>
                </a:highlight>
                <a:latin typeface="Roboto"/>
                <a:ea typeface="Roboto"/>
                <a:cs typeface="Roboto"/>
                <a:sym typeface="Roboto"/>
              </a:rPr>
              <a:t>Création de la Pandas UDF (User Defined Function) :</a:t>
            </a:r>
            <a:endParaRPr b="1" sz="19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1900">
                <a:solidFill>
                  <a:srgbClr val="0F1115"/>
                </a:solidFill>
                <a:highlight>
                  <a:srgbClr val="FFFFFF"/>
                </a:highlight>
                <a:latin typeface="Roboto"/>
                <a:ea typeface="Roboto"/>
                <a:cs typeface="Roboto"/>
                <a:sym typeface="Roboto"/>
              </a:rPr>
              <a:t>Une Pandas UDF de type </a:t>
            </a:r>
            <a:r>
              <a:rPr lang="fr-FR" sz="1750">
                <a:solidFill>
                  <a:srgbClr val="0F1115"/>
                </a:solidFill>
                <a:highlight>
                  <a:srgbClr val="EBEEF2"/>
                </a:highlight>
                <a:latin typeface="Roboto Mono"/>
                <a:ea typeface="Roboto Mono"/>
                <a:cs typeface="Roboto Mono"/>
                <a:sym typeface="Roboto Mono"/>
              </a:rPr>
              <a:t>SCALAR</a:t>
            </a:r>
            <a:r>
              <a:rPr lang="fr-FR" sz="1900">
                <a:solidFill>
                  <a:srgbClr val="0F1115"/>
                </a:solidFill>
                <a:highlight>
                  <a:srgbClr val="FFFFFF"/>
                </a:highlight>
                <a:latin typeface="Roboto"/>
                <a:ea typeface="Roboto"/>
                <a:cs typeface="Roboto"/>
                <a:sym typeface="Roboto"/>
              </a:rPr>
              <a:t> (plus stable que </a:t>
            </a:r>
            <a:r>
              <a:rPr lang="fr-FR" sz="1750">
                <a:solidFill>
                  <a:srgbClr val="0F1115"/>
                </a:solidFill>
                <a:highlight>
                  <a:srgbClr val="EBEEF2"/>
                </a:highlight>
                <a:latin typeface="Roboto Mono"/>
                <a:ea typeface="Roboto Mono"/>
                <a:cs typeface="Roboto Mono"/>
                <a:sym typeface="Roboto Mono"/>
              </a:rPr>
              <a:t>SCALAR_ITER</a:t>
            </a:r>
            <a:r>
              <a:rPr lang="fr-FR" sz="1900">
                <a:solidFill>
                  <a:srgbClr val="0F1115"/>
                </a:solidFill>
                <a:highlight>
                  <a:srgbClr val="FFFFFF"/>
                </a:highlight>
                <a:latin typeface="Roboto"/>
                <a:ea typeface="Roboto"/>
                <a:cs typeface="Roboto"/>
                <a:sym typeface="Roboto"/>
              </a:rPr>
              <a:t> sur Windows) est définie (</a:t>
            </a:r>
            <a:r>
              <a:rPr lang="fr-FR" sz="1750">
                <a:solidFill>
                  <a:srgbClr val="0F1115"/>
                </a:solidFill>
                <a:highlight>
                  <a:srgbClr val="EBEEF2"/>
                </a:highlight>
                <a:latin typeface="Roboto Mono"/>
                <a:ea typeface="Roboto Mono"/>
                <a:cs typeface="Roboto Mono"/>
                <a:sym typeface="Roboto Mono"/>
              </a:rPr>
              <a:t>extract_features_simple_udf</a:t>
            </a:r>
            <a:r>
              <a:rPr lang="fr-FR" sz="1900">
                <a:solidFill>
                  <a:srgbClr val="0F1115"/>
                </a:solidFill>
                <a:highlight>
                  <a:srgbClr val="FFFFFF"/>
                </a:highlight>
                <a:latin typeface="Roboto"/>
                <a:ea typeface="Roboto"/>
                <a:cs typeface="Roboto"/>
                <a:sym typeface="Roboto"/>
              </a:rPr>
              <a:t>).</a:t>
            </a:r>
            <a:endParaRPr sz="1900">
              <a:solidFill>
                <a:srgbClr val="0F1115"/>
              </a:solidFill>
              <a:highlight>
                <a:srgbClr val="FFFFFF"/>
              </a:highlight>
              <a:latin typeface="Roboto"/>
              <a:ea typeface="Roboto"/>
              <a:cs typeface="Roboto"/>
              <a:sym typeface="Roboto"/>
            </a:endParaRPr>
          </a:p>
          <a:p>
            <a:pPr indent="-349250" lvl="1" marL="914400" rtl="0" algn="l">
              <a:lnSpc>
                <a:spcPct val="115000"/>
              </a:lnSpc>
              <a:spcBef>
                <a:spcPts val="0"/>
              </a:spcBef>
              <a:spcAft>
                <a:spcPts val="0"/>
              </a:spcAft>
              <a:buClr>
                <a:srgbClr val="0F1115"/>
              </a:buClr>
              <a:buSzPts val="1900"/>
              <a:buFont typeface="Roboto"/>
              <a:buChar char="○"/>
            </a:pPr>
            <a:r>
              <a:rPr b="1" lang="fr-FR" sz="1900">
                <a:solidFill>
                  <a:srgbClr val="0F1115"/>
                </a:solidFill>
                <a:highlight>
                  <a:srgbClr val="FFFFFF"/>
                </a:highlight>
                <a:latin typeface="Roboto"/>
                <a:ea typeface="Roboto"/>
                <a:cs typeface="Roboto"/>
                <a:sym typeface="Roboto"/>
              </a:rPr>
              <a:t>Fonctionnement sur chaque worker :</a:t>
            </a:r>
            <a:endParaRPr b="1" sz="19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fr-FR" sz="1900">
                <a:solidFill>
                  <a:srgbClr val="0F1115"/>
                </a:solidFill>
                <a:highlight>
                  <a:srgbClr val="FFFFFF"/>
                </a:highlight>
                <a:latin typeface="Roboto"/>
                <a:ea typeface="Roboto"/>
                <a:cs typeface="Roboto"/>
                <a:sym typeface="Roboto"/>
              </a:rPr>
              <a:t>Le modèle est reconstruit localement avec les poids broadcastés via une fonction </a:t>
            </a:r>
            <a:r>
              <a:rPr lang="fr-FR" sz="1750">
                <a:solidFill>
                  <a:srgbClr val="0F1115"/>
                </a:solidFill>
                <a:highlight>
                  <a:srgbClr val="EBEEF2"/>
                </a:highlight>
                <a:latin typeface="Roboto Mono"/>
                <a:ea typeface="Roboto Mono"/>
                <a:cs typeface="Roboto Mono"/>
                <a:sym typeface="Roboto Mono"/>
              </a:rPr>
              <a:t>create_feature_extractor()</a:t>
            </a:r>
            <a:r>
              <a:rPr lang="fr-FR" sz="1900">
                <a:solidFill>
                  <a:srgbClr val="0F1115"/>
                </a:solidFill>
                <a:highlight>
                  <a:srgbClr val="FFFFFF"/>
                </a:highlight>
                <a:latin typeface="Roboto"/>
                <a:ea typeface="Roboto"/>
                <a:cs typeface="Roboto"/>
                <a:sym typeface="Roboto"/>
              </a:rPr>
              <a:t>.</a:t>
            </a:r>
            <a:endParaRPr sz="1900">
              <a:solidFill>
                <a:srgbClr val="0F1115"/>
              </a:solidFill>
              <a:highlight>
                <a:srgbClr val="FFFFFF"/>
              </a:highlight>
              <a:latin typeface="Roboto"/>
              <a:ea typeface="Roboto"/>
              <a:cs typeface="Roboto"/>
              <a:sym typeface="Roboto"/>
            </a:endParaRPr>
          </a:p>
          <a:p>
            <a:pPr indent="-349250" lvl="2" marL="1371600" rtl="0" algn="l">
              <a:lnSpc>
                <a:spcPct val="115000"/>
              </a:lnSpc>
              <a:spcBef>
                <a:spcPts val="0"/>
              </a:spcBef>
              <a:spcAft>
                <a:spcPts val="0"/>
              </a:spcAft>
              <a:buClr>
                <a:srgbClr val="0F1115"/>
              </a:buClr>
              <a:buSzPts val="1900"/>
              <a:buFont typeface="Roboto"/>
              <a:buChar char="■"/>
            </a:pPr>
            <a:r>
              <a:rPr lang="fr-FR" sz="1900">
                <a:solidFill>
                  <a:srgbClr val="0F1115"/>
                </a:solidFill>
                <a:highlight>
                  <a:srgbClr val="FFFFFF"/>
                </a:highlight>
                <a:latin typeface="Roboto"/>
                <a:ea typeface="Roboto"/>
                <a:cs typeface="Roboto"/>
                <a:sym typeface="Roboto"/>
              </a:rPr>
              <a:t>La UDF traite une série pandas d'images par lots (batches) de taille 10 pour optimiser la mémoire.</a:t>
            </a:r>
            <a:endParaRPr sz="19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fr-FR" sz="1900">
                <a:solidFill>
                  <a:srgbClr val="0F1115"/>
                </a:solidFill>
                <a:highlight>
                  <a:srgbClr val="FFFFFF"/>
                </a:highlight>
                <a:latin typeface="Roboto"/>
                <a:ea typeface="Roboto"/>
                <a:cs typeface="Roboto"/>
                <a:sym typeface="Roboto"/>
              </a:rPr>
              <a:t>Pour chaque lot, elle prétraite les images et appelle </a:t>
            </a:r>
            <a:r>
              <a:rPr lang="fr-FR" sz="1750">
                <a:solidFill>
                  <a:srgbClr val="0F1115"/>
                </a:solidFill>
                <a:highlight>
                  <a:srgbClr val="EBEEF2"/>
                </a:highlight>
                <a:latin typeface="Roboto Mono"/>
                <a:ea typeface="Roboto Mono"/>
                <a:cs typeface="Roboto Mono"/>
                <a:sym typeface="Roboto Mono"/>
              </a:rPr>
              <a:t>model.predict()</a:t>
            </a:r>
            <a:r>
              <a:rPr lang="fr-FR" sz="1900">
                <a:solidFill>
                  <a:srgbClr val="0F1115"/>
                </a:solidFill>
                <a:highlight>
                  <a:srgbClr val="FFFFFF"/>
                </a:highlight>
                <a:latin typeface="Roboto"/>
                <a:ea typeface="Roboto"/>
                <a:cs typeface="Roboto"/>
                <a:sym typeface="Roboto"/>
              </a:rPr>
              <a:t>.</a:t>
            </a:r>
            <a:endParaRPr sz="1900">
              <a:solidFill>
                <a:srgbClr val="0F1115"/>
              </a:solidFill>
              <a:highlight>
                <a:srgbClr val="FFFFFF"/>
              </a:highlight>
              <a:latin typeface="Roboto"/>
              <a:ea typeface="Roboto"/>
              <a:cs typeface="Roboto"/>
              <a:sym typeface="Roboto"/>
            </a:endParaRPr>
          </a:p>
          <a:p>
            <a:pPr indent="-349250" lvl="2" marL="1371600" rtl="0" algn="l">
              <a:lnSpc>
                <a:spcPct val="115000"/>
              </a:lnSpc>
              <a:spcBef>
                <a:spcPts val="0"/>
              </a:spcBef>
              <a:spcAft>
                <a:spcPts val="0"/>
              </a:spcAft>
              <a:buClr>
                <a:srgbClr val="0F1115"/>
              </a:buClr>
              <a:buSzPts val="1900"/>
              <a:buFont typeface="Roboto"/>
              <a:buChar char="■"/>
            </a:pPr>
            <a:r>
              <a:rPr lang="fr-FR" sz="1900">
                <a:solidFill>
                  <a:srgbClr val="0F1115"/>
                </a:solidFill>
                <a:highlight>
                  <a:srgbClr val="FFFFFF"/>
                </a:highlight>
                <a:latin typeface="Roboto"/>
                <a:ea typeface="Roboto"/>
                <a:cs typeface="Roboto"/>
                <a:sym typeface="Roboto"/>
              </a:rPr>
              <a:t>Les vecteurs de features (1280 dimensions) résultants sont retournés sous forme de liste.</a:t>
            </a:r>
            <a:endParaRPr sz="1900">
              <a:solidFill>
                <a:srgbClr val="0F1115"/>
              </a:solidFill>
              <a:highlight>
                <a:srgbClr val="FFFFFF"/>
              </a:highlight>
              <a:latin typeface="Roboto"/>
              <a:ea typeface="Roboto"/>
              <a:cs typeface="Roboto"/>
              <a:sym typeface="Roboto"/>
            </a:endParaRPr>
          </a:p>
          <a:p>
            <a:pPr indent="-349250" lvl="1" marL="914400" rtl="0" algn="l">
              <a:lnSpc>
                <a:spcPct val="115000"/>
              </a:lnSpc>
              <a:spcBef>
                <a:spcPts val="0"/>
              </a:spcBef>
              <a:spcAft>
                <a:spcPts val="0"/>
              </a:spcAft>
              <a:buClr>
                <a:srgbClr val="0F1115"/>
              </a:buClr>
              <a:buSzPts val="1900"/>
              <a:buFont typeface="Roboto"/>
              <a:buChar char="○"/>
            </a:pPr>
            <a:r>
              <a:rPr b="1" lang="fr-FR" sz="1900">
                <a:solidFill>
                  <a:srgbClr val="0F1115"/>
                </a:solidFill>
                <a:highlight>
                  <a:srgbClr val="FFFFFF"/>
                </a:highlight>
                <a:latin typeface="Roboto"/>
                <a:ea typeface="Roboto"/>
                <a:cs typeface="Roboto"/>
                <a:sym typeface="Roboto"/>
              </a:rPr>
              <a:t>Gestion des erreurs : </a:t>
            </a:r>
            <a:r>
              <a:rPr lang="fr-FR" sz="1900">
                <a:solidFill>
                  <a:srgbClr val="0F1115"/>
                </a:solidFill>
                <a:highlight>
                  <a:srgbClr val="FFFFFF"/>
                </a:highlight>
                <a:latin typeface="Roboto"/>
                <a:ea typeface="Roboto"/>
                <a:cs typeface="Roboto"/>
                <a:sym typeface="Roboto"/>
              </a:rPr>
              <a:t>La UDF inclut une gestion d'exception robuste pour éviter qu'une image corrompue ne fasse échouer tout le traitement.</a:t>
            </a:r>
            <a:endParaRPr sz="1900">
              <a:solidFill>
                <a:srgbClr val="0F1115"/>
              </a:solidFill>
              <a:highlight>
                <a:srgbClr val="FFFFFF"/>
              </a:highlight>
              <a:latin typeface="Roboto"/>
              <a:ea typeface="Roboto"/>
              <a:cs typeface="Roboto"/>
              <a:sym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g39587452415_0_4"/>
          <p:cNvSpPr txBox="1"/>
          <p:nvPr/>
        </p:nvSpPr>
        <p:spPr>
          <a:xfrm>
            <a:off x="0" y="0"/>
            <a:ext cx="12192000" cy="64878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fr-FR" sz="2300">
                <a:solidFill>
                  <a:srgbClr val="0F1115"/>
                </a:solidFill>
                <a:highlight>
                  <a:srgbClr val="FFFFFF"/>
                </a:highlight>
                <a:latin typeface="Roboto"/>
                <a:ea typeface="Roboto"/>
                <a:cs typeface="Roboto"/>
                <a:sym typeface="Roboto"/>
              </a:rPr>
              <a:t>Méthodologie - Application et Sauvegarde</a:t>
            </a:r>
            <a:endParaRPr b="1" sz="2300">
              <a:solidFill>
                <a:srgbClr val="0F1115"/>
              </a:solidFill>
              <a:highlight>
                <a:srgbClr val="FFFFFF"/>
              </a:highlight>
              <a:latin typeface="Roboto"/>
              <a:ea typeface="Roboto"/>
              <a:cs typeface="Roboto"/>
              <a:sym typeface="Roboto"/>
            </a:endParaRPr>
          </a:p>
          <a:p>
            <a:pPr indent="-355600" lvl="0" marL="457200" rtl="0" algn="l">
              <a:lnSpc>
                <a:spcPct val="115000"/>
              </a:lnSpc>
              <a:spcBef>
                <a:spcPts val="1200"/>
              </a:spcBef>
              <a:spcAft>
                <a:spcPts val="0"/>
              </a:spcAft>
              <a:buClr>
                <a:srgbClr val="0F1115"/>
              </a:buClr>
              <a:buSzPts val="2000"/>
              <a:buFont typeface="Roboto"/>
              <a:buAutoNum type="arabicPeriod" startAt="6"/>
            </a:pPr>
            <a:r>
              <a:rPr b="1" lang="fr-FR" sz="2000">
                <a:solidFill>
                  <a:srgbClr val="0F1115"/>
                </a:solidFill>
                <a:highlight>
                  <a:srgbClr val="FFFFFF"/>
                </a:highlight>
                <a:latin typeface="Roboto"/>
                <a:ea typeface="Roboto"/>
                <a:cs typeface="Roboto"/>
                <a:sym typeface="Roboto"/>
              </a:rPr>
              <a:t>Application de l'UDF et Création du DataFrame Final :</a:t>
            </a:r>
            <a:endParaRPr b="1" sz="20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2000">
                <a:solidFill>
                  <a:srgbClr val="0F1115"/>
                </a:solidFill>
                <a:highlight>
                  <a:srgbClr val="FFFFFF"/>
                </a:highlight>
                <a:latin typeface="Roboto"/>
                <a:ea typeface="Roboto"/>
                <a:cs typeface="Roboto"/>
                <a:sym typeface="Roboto"/>
              </a:rPr>
              <a:t>La UDF est appliquée à la colonne </a:t>
            </a:r>
            <a:r>
              <a:rPr lang="fr-FR" sz="1850">
                <a:solidFill>
                  <a:srgbClr val="0F1115"/>
                </a:solidFill>
                <a:highlight>
                  <a:srgbClr val="EBEEF2"/>
                </a:highlight>
                <a:latin typeface="Roboto Mono"/>
                <a:ea typeface="Roboto Mono"/>
                <a:cs typeface="Roboto Mono"/>
                <a:sym typeface="Roboto Mono"/>
              </a:rPr>
              <a:t>content</a:t>
            </a:r>
            <a:r>
              <a:rPr lang="fr-FR" sz="2000">
                <a:solidFill>
                  <a:srgbClr val="0F1115"/>
                </a:solidFill>
                <a:highlight>
                  <a:srgbClr val="FFFFFF"/>
                </a:highlight>
                <a:latin typeface="Roboto"/>
                <a:ea typeface="Roboto"/>
                <a:cs typeface="Roboto"/>
                <a:sym typeface="Roboto"/>
              </a:rPr>
              <a:t> du DataFrame d'images.</a:t>
            </a:r>
            <a:endParaRPr sz="20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2000">
                <a:solidFill>
                  <a:srgbClr val="0F1115"/>
                </a:solidFill>
                <a:highlight>
                  <a:srgbClr val="FFFFFF"/>
                </a:highlight>
                <a:latin typeface="Roboto"/>
                <a:ea typeface="Roboto"/>
                <a:cs typeface="Roboto"/>
                <a:sym typeface="Roboto"/>
              </a:rPr>
              <a:t>Un nouveau DataFrame, </a:t>
            </a:r>
            <a:r>
              <a:rPr lang="fr-FR" sz="1850">
                <a:solidFill>
                  <a:srgbClr val="0F1115"/>
                </a:solidFill>
                <a:highlight>
                  <a:srgbClr val="EBEEF2"/>
                </a:highlight>
                <a:latin typeface="Roboto Mono"/>
                <a:ea typeface="Roboto Mono"/>
                <a:cs typeface="Roboto Mono"/>
                <a:sym typeface="Roboto Mono"/>
              </a:rPr>
              <a:t>features_df</a:t>
            </a:r>
            <a:r>
              <a:rPr lang="fr-FR" sz="2000">
                <a:solidFill>
                  <a:srgbClr val="0F1115"/>
                </a:solidFill>
                <a:highlight>
                  <a:srgbClr val="FFFFFF"/>
                </a:highlight>
                <a:latin typeface="Roboto"/>
                <a:ea typeface="Roboto"/>
                <a:cs typeface="Roboto"/>
                <a:sym typeface="Roboto"/>
              </a:rPr>
              <a:t>, est créé avec les colonnes : </a:t>
            </a:r>
            <a:r>
              <a:rPr lang="fr-FR" sz="1850">
                <a:solidFill>
                  <a:srgbClr val="0F1115"/>
                </a:solidFill>
                <a:highlight>
                  <a:srgbClr val="EBEEF2"/>
                </a:highlight>
                <a:latin typeface="Roboto Mono"/>
                <a:ea typeface="Roboto Mono"/>
                <a:cs typeface="Roboto Mono"/>
                <a:sym typeface="Roboto Mono"/>
              </a:rPr>
              <a:t>path</a:t>
            </a:r>
            <a:r>
              <a:rPr lang="fr-FR" sz="2000">
                <a:solidFill>
                  <a:srgbClr val="0F1115"/>
                </a:solidFill>
                <a:highlight>
                  <a:srgbClr val="FFFFFF"/>
                </a:highlight>
                <a:latin typeface="Roboto"/>
                <a:ea typeface="Roboto"/>
                <a:cs typeface="Roboto"/>
                <a:sym typeface="Roboto"/>
              </a:rPr>
              <a:t>, </a:t>
            </a:r>
            <a:r>
              <a:rPr lang="fr-FR" sz="1850">
                <a:solidFill>
                  <a:srgbClr val="0F1115"/>
                </a:solidFill>
                <a:highlight>
                  <a:srgbClr val="EBEEF2"/>
                </a:highlight>
                <a:latin typeface="Roboto Mono"/>
                <a:ea typeface="Roboto Mono"/>
                <a:cs typeface="Roboto Mono"/>
                <a:sym typeface="Roboto Mono"/>
              </a:rPr>
              <a:t>label</a:t>
            </a:r>
            <a:r>
              <a:rPr lang="fr-FR" sz="2000">
                <a:solidFill>
                  <a:srgbClr val="0F1115"/>
                </a:solidFill>
                <a:highlight>
                  <a:srgbClr val="FFFFFF"/>
                </a:highlight>
                <a:latin typeface="Roboto"/>
                <a:ea typeface="Roboto"/>
                <a:cs typeface="Roboto"/>
                <a:sym typeface="Roboto"/>
              </a:rPr>
              <a:t>, et </a:t>
            </a:r>
            <a:r>
              <a:rPr lang="fr-FR" sz="1850">
                <a:solidFill>
                  <a:srgbClr val="0F1115"/>
                </a:solidFill>
                <a:highlight>
                  <a:srgbClr val="EBEEF2"/>
                </a:highlight>
                <a:latin typeface="Roboto Mono"/>
                <a:ea typeface="Roboto Mono"/>
                <a:cs typeface="Roboto Mono"/>
                <a:sym typeface="Roboto Mono"/>
              </a:rPr>
              <a:t>features</a:t>
            </a:r>
            <a:r>
              <a:rPr lang="fr-FR" sz="2000">
                <a:solidFill>
                  <a:srgbClr val="0F1115"/>
                </a:solidFill>
                <a:highlight>
                  <a:srgbClr val="FFFFFF"/>
                </a:highlight>
                <a:latin typeface="Roboto"/>
                <a:ea typeface="Roboto"/>
                <a:cs typeface="Roboto"/>
                <a:sym typeface="Roboto"/>
              </a:rPr>
              <a:t> (le vecteur de 1280 dimensions).</a:t>
            </a:r>
            <a:endParaRPr sz="2000">
              <a:solidFill>
                <a:srgbClr val="0F1115"/>
              </a:solidFill>
              <a:highlight>
                <a:srgbClr val="FFFFFF"/>
              </a:highlight>
              <a:latin typeface="Roboto"/>
              <a:ea typeface="Roboto"/>
              <a:cs typeface="Roboto"/>
              <a:sym typeface="Roboto"/>
            </a:endParaRPr>
          </a:p>
          <a:p>
            <a:pPr indent="-355600" lvl="1" marL="914400" rtl="0" algn="l">
              <a:lnSpc>
                <a:spcPct val="115000"/>
              </a:lnSpc>
              <a:spcBef>
                <a:spcPts val="0"/>
              </a:spcBef>
              <a:spcAft>
                <a:spcPts val="0"/>
              </a:spcAft>
              <a:buClr>
                <a:srgbClr val="0F1115"/>
              </a:buClr>
              <a:buSzPts val="2000"/>
              <a:buFont typeface="Roboto"/>
              <a:buChar char="○"/>
            </a:pPr>
            <a:r>
              <a:rPr b="1" lang="fr-FR" sz="2000">
                <a:solidFill>
                  <a:srgbClr val="0F1115"/>
                </a:solidFill>
                <a:highlight>
                  <a:srgbClr val="FFFFFF"/>
                </a:highlight>
                <a:latin typeface="Roboto"/>
                <a:ea typeface="Roboto"/>
                <a:cs typeface="Roboto"/>
                <a:sym typeface="Roboto"/>
              </a:rPr>
              <a:t>Validation intermédiaire : </a:t>
            </a:r>
            <a:r>
              <a:rPr lang="fr-FR" sz="2000">
                <a:solidFill>
                  <a:srgbClr val="0F1115"/>
                </a:solidFill>
                <a:highlight>
                  <a:srgbClr val="FFFFFF"/>
                </a:highlight>
                <a:latin typeface="Roboto"/>
                <a:ea typeface="Roboto"/>
                <a:cs typeface="Roboto"/>
                <a:sym typeface="Roboto"/>
              </a:rPr>
              <a:t>Le pipeline est testé avec succès sur un sous-ensemble de </a:t>
            </a:r>
            <a:r>
              <a:rPr b="1" lang="fr-FR" sz="2000">
                <a:solidFill>
                  <a:srgbClr val="0F1115"/>
                </a:solidFill>
                <a:highlight>
                  <a:srgbClr val="FFFFFF"/>
                </a:highlight>
                <a:latin typeface="Roboto"/>
                <a:ea typeface="Roboto"/>
                <a:cs typeface="Roboto"/>
                <a:sym typeface="Roboto"/>
              </a:rPr>
              <a:t>100 images</a:t>
            </a:r>
            <a:r>
              <a:rPr lang="fr-FR" sz="2000">
                <a:solidFill>
                  <a:srgbClr val="0F1115"/>
                </a:solidFill>
                <a:highlight>
                  <a:srgbClr val="FFFFFF"/>
                </a:highlight>
                <a:latin typeface="Roboto"/>
                <a:ea typeface="Roboto"/>
                <a:cs typeface="Roboto"/>
                <a:sym typeface="Roboto"/>
              </a:rPr>
              <a:t> (de la catégorie "Apple Braeburn") pour garantir le bon fonctionnement avant le traitement complet.</a:t>
            </a:r>
            <a:endParaRPr sz="2000">
              <a:solidFill>
                <a:srgbClr val="0F1115"/>
              </a:solidFill>
              <a:highlight>
                <a:srgbClr val="FFFFFF"/>
              </a:highlight>
              <a:latin typeface="Roboto"/>
              <a:ea typeface="Roboto"/>
              <a:cs typeface="Roboto"/>
              <a:sym typeface="Roboto"/>
            </a:endParaRPr>
          </a:p>
          <a:p>
            <a:pPr indent="-355600" lvl="0" marL="457200" rtl="0" algn="l">
              <a:lnSpc>
                <a:spcPct val="115000"/>
              </a:lnSpc>
              <a:spcBef>
                <a:spcPts val="0"/>
              </a:spcBef>
              <a:spcAft>
                <a:spcPts val="0"/>
              </a:spcAft>
              <a:buClr>
                <a:srgbClr val="0F1115"/>
              </a:buClr>
              <a:buSzPts val="2000"/>
              <a:buFont typeface="Roboto"/>
              <a:buAutoNum type="arabicPeriod" startAt="6"/>
            </a:pPr>
            <a:r>
              <a:rPr b="1" lang="fr-FR" sz="2000">
                <a:solidFill>
                  <a:srgbClr val="0F1115"/>
                </a:solidFill>
                <a:highlight>
                  <a:srgbClr val="FFFFFF"/>
                </a:highlight>
                <a:latin typeface="Roboto"/>
                <a:ea typeface="Roboto"/>
                <a:cs typeface="Roboto"/>
                <a:sym typeface="Roboto"/>
              </a:rPr>
              <a:t>Sauvegarde des Résultats :</a:t>
            </a:r>
            <a:endParaRPr b="1" sz="20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2000">
                <a:solidFill>
                  <a:srgbClr val="0F1115"/>
                </a:solidFill>
                <a:highlight>
                  <a:srgbClr val="FFFFFF"/>
                </a:highlight>
                <a:latin typeface="Roboto"/>
                <a:ea typeface="Roboto"/>
                <a:cs typeface="Roboto"/>
                <a:sym typeface="Roboto"/>
              </a:rPr>
              <a:t>Le DataFrame final </a:t>
            </a:r>
            <a:r>
              <a:rPr lang="fr-FR" sz="1850">
                <a:solidFill>
                  <a:srgbClr val="0F1115"/>
                </a:solidFill>
                <a:highlight>
                  <a:srgbClr val="EBEEF2"/>
                </a:highlight>
                <a:latin typeface="Roboto Mono"/>
                <a:ea typeface="Roboto Mono"/>
                <a:cs typeface="Roboto Mono"/>
                <a:sym typeface="Roboto Mono"/>
              </a:rPr>
              <a:t>features_df</a:t>
            </a:r>
            <a:r>
              <a:rPr lang="fr-FR" sz="2000">
                <a:solidFill>
                  <a:srgbClr val="0F1115"/>
                </a:solidFill>
                <a:highlight>
                  <a:srgbClr val="FFFFFF"/>
                </a:highlight>
                <a:latin typeface="Roboto"/>
                <a:ea typeface="Roboto"/>
                <a:cs typeface="Roboto"/>
                <a:sym typeface="Roboto"/>
              </a:rPr>
              <a:t> est écrit sur le disque (en local) ou directement sur S3.</a:t>
            </a:r>
            <a:endParaRPr sz="2000">
              <a:solidFill>
                <a:srgbClr val="0F1115"/>
              </a:solidFill>
              <a:highlight>
                <a:srgbClr val="FFFFFF"/>
              </a:highlight>
              <a:latin typeface="Roboto"/>
              <a:ea typeface="Roboto"/>
              <a:cs typeface="Roboto"/>
              <a:sym typeface="Roboto"/>
            </a:endParaRPr>
          </a:p>
          <a:p>
            <a:pPr indent="-355600" lvl="1" marL="914400" rtl="0" algn="l">
              <a:lnSpc>
                <a:spcPct val="115000"/>
              </a:lnSpc>
              <a:spcBef>
                <a:spcPts val="0"/>
              </a:spcBef>
              <a:spcAft>
                <a:spcPts val="0"/>
              </a:spcAft>
              <a:buClr>
                <a:srgbClr val="0F1115"/>
              </a:buClr>
              <a:buSzPts val="2000"/>
              <a:buFont typeface="Roboto"/>
              <a:buChar char="○"/>
            </a:pPr>
            <a:r>
              <a:rPr lang="fr-FR" sz="2000">
                <a:solidFill>
                  <a:srgbClr val="0F1115"/>
                </a:solidFill>
                <a:highlight>
                  <a:srgbClr val="FFFFFF"/>
                </a:highlight>
                <a:latin typeface="Roboto"/>
                <a:ea typeface="Roboto"/>
                <a:cs typeface="Roboto"/>
                <a:sym typeface="Roboto"/>
              </a:rPr>
              <a:t>Format de sortie : Parquet.</a:t>
            </a:r>
            <a:endParaRPr sz="20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b="1" lang="fr-FR" sz="2000">
                <a:solidFill>
                  <a:srgbClr val="0F1115"/>
                </a:solidFill>
                <a:highlight>
                  <a:srgbClr val="FFFFFF"/>
                </a:highlight>
                <a:latin typeface="Roboto"/>
                <a:ea typeface="Roboto"/>
                <a:cs typeface="Roboto"/>
                <a:sym typeface="Roboto"/>
              </a:rPr>
              <a:t>Pourquoi Parquet ?</a:t>
            </a:r>
            <a:r>
              <a:rPr lang="fr-FR" sz="2000">
                <a:solidFill>
                  <a:srgbClr val="0F1115"/>
                </a:solidFill>
                <a:highlight>
                  <a:srgbClr val="FFFFFF"/>
                </a:highlight>
                <a:latin typeface="Roboto"/>
                <a:ea typeface="Roboto"/>
                <a:cs typeface="Roboto"/>
                <a:sym typeface="Roboto"/>
              </a:rPr>
              <a:t> C'est un format de stockage colonnaire, hautement optimisé pour les requêtes analytiques. Il offre une excellente compression (codec </a:t>
            </a:r>
            <a:r>
              <a:rPr lang="fr-FR" sz="1850">
                <a:solidFill>
                  <a:srgbClr val="0F1115"/>
                </a:solidFill>
                <a:highlight>
                  <a:srgbClr val="EBEEF2"/>
                </a:highlight>
                <a:latin typeface="Roboto Mono"/>
                <a:ea typeface="Roboto Mono"/>
                <a:cs typeface="Roboto Mono"/>
                <a:sym typeface="Roboto Mono"/>
              </a:rPr>
              <a:t>snappy</a:t>
            </a:r>
            <a:r>
              <a:rPr lang="fr-FR" sz="2000">
                <a:solidFill>
                  <a:srgbClr val="0F1115"/>
                </a:solidFill>
                <a:highlight>
                  <a:srgbClr val="FFFFFF"/>
                </a:highlight>
                <a:latin typeface="Roboto"/>
                <a:ea typeface="Roboto"/>
                <a:cs typeface="Roboto"/>
                <a:sym typeface="Roboto"/>
              </a:rPr>
              <a:t>) et est le format natif de Spark, garantissant des performances de lecture/écriture optimales pour les prochaines étapes du projet (comme la classification).</a:t>
            </a:r>
            <a:endParaRPr sz="20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b="1" lang="fr-FR" sz="2000">
                <a:solidFill>
                  <a:srgbClr val="0F1115"/>
                </a:solidFill>
                <a:highlight>
                  <a:srgbClr val="FFFFFF"/>
                </a:highlight>
                <a:latin typeface="Roboto"/>
                <a:ea typeface="Roboto"/>
                <a:cs typeface="Roboto"/>
                <a:sym typeface="Roboto"/>
              </a:rPr>
              <a:t>Localisation des résultats : </a:t>
            </a:r>
            <a:r>
              <a:rPr lang="fr-FR" sz="2000">
                <a:solidFill>
                  <a:srgbClr val="0F1115"/>
                </a:solidFill>
                <a:highlight>
                  <a:srgbClr val="FFFFFF"/>
                </a:highlight>
                <a:latin typeface="Roboto"/>
                <a:ea typeface="Roboto"/>
                <a:cs typeface="Roboto"/>
                <a:sym typeface="Roboto"/>
              </a:rPr>
              <a:t>Le dossier de résultats (</a:t>
            </a:r>
            <a:r>
              <a:rPr lang="fr-FR" sz="1850">
                <a:solidFill>
                  <a:srgbClr val="0F1115"/>
                </a:solidFill>
                <a:highlight>
                  <a:srgbClr val="EBEEF2"/>
                </a:highlight>
                <a:latin typeface="Roboto Mono"/>
                <a:ea typeface="Roboto Mono"/>
                <a:cs typeface="Roboto Mono"/>
                <a:sym typeface="Roboto Mono"/>
              </a:rPr>
              <a:t>PROJET_8/results</a:t>
            </a:r>
            <a:r>
              <a:rPr lang="fr-FR" sz="2000">
                <a:solidFill>
                  <a:srgbClr val="0F1115"/>
                </a:solidFill>
                <a:highlight>
                  <a:srgbClr val="FFFFFF"/>
                </a:highlight>
                <a:latin typeface="Roboto"/>
                <a:ea typeface="Roboto"/>
                <a:cs typeface="Roboto"/>
                <a:sym typeface="Roboto"/>
              </a:rPr>
              <a:t>) est créé automatiquement.</a:t>
            </a:r>
            <a:endParaRPr sz="20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4"/>
          <p:cNvSpPr txBox="1"/>
          <p:nvPr>
            <p:ph idx="4294967295" type="body"/>
          </p:nvPr>
        </p:nvSpPr>
        <p:spPr>
          <a:xfrm>
            <a:off x="0" y="1900344"/>
            <a:ext cx="12192000" cy="4388400"/>
          </a:xfrm>
          <a:prstGeom prst="rect">
            <a:avLst/>
          </a:prstGeom>
          <a:noFill/>
          <a:ln>
            <a:noFill/>
          </a:ln>
        </p:spPr>
        <p:txBody>
          <a:bodyPr anchorCtr="0" anchor="t" bIns="45000" lIns="90000" spcFirstLastPara="1" rIns="90000" wrap="square" tIns="45000">
            <a:normAutofit fontScale="77500" lnSpcReduction="20000"/>
          </a:bodyPr>
          <a:lstStyle/>
          <a:p>
            <a:pPr indent="-177165" lvl="0" marL="228600" marR="0" rtl="0" algn="l">
              <a:lnSpc>
                <a:spcPct val="90000"/>
              </a:lnSpc>
              <a:spcBef>
                <a:spcPts val="0"/>
              </a:spcBef>
              <a:spcAft>
                <a:spcPts val="0"/>
              </a:spcAft>
              <a:buClr>
                <a:srgbClr val="00B0F0"/>
              </a:buClr>
              <a:buSzPct val="100000"/>
              <a:buFont typeface="Arial"/>
              <a:buChar char="•"/>
            </a:pPr>
            <a:r>
              <a:rPr b="1" i="1" lang="fr-FR" sz="3600" u="none" cap="none" strike="noStrike">
                <a:solidFill>
                  <a:srgbClr val="00B0F0"/>
                </a:solidFill>
                <a:latin typeface="Calibri"/>
                <a:ea typeface="Calibri"/>
                <a:cs typeface="Calibri"/>
                <a:sym typeface="Calibri"/>
              </a:rPr>
              <a:t>Diviser les opérations en micro-opérations pouvant être réparties entre différentes machines, réalisées en parallèle. </a:t>
            </a:r>
            <a:r>
              <a:rPr i="1" lang="fr-FR" sz="3600">
                <a:solidFill>
                  <a:srgbClr val="00B0F0"/>
                </a:solidFill>
                <a:latin typeface="Calibri"/>
                <a:ea typeface="Calibri"/>
                <a:cs typeface="Calibri"/>
                <a:sym typeface="Calibri"/>
              </a:rPr>
              <a:t>Agréger les résultats sur le même serveur (collecter et combiner les résultats de différents calculs ou traitements sur une seule et même unité de calcul, sans avoir besoin de les transférer ou de les </a:t>
            </a:r>
            <a:endParaRPr i="1" sz="3600">
              <a:solidFill>
                <a:srgbClr val="00B0F0"/>
              </a:solidFill>
              <a:latin typeface="Calibri"/>
              <a:ea typeface="Calibri"/>
              <a:cs typeface="Calibri"/>
              <a:sym typeface="Calibri"/>
            </a:endParaRPr>
          </a:p>
          <a:p>
            <a:pPr indent="-177165" lvl="0" marL="228600" marR="0" rtl="0" algn="l">
              <a:lnSpc>
                <a:spcPct val="90000"/>
              </a:lnSpc>
              <a:spcBef>
                <a:spcPts val="0"/>
              </a:spcBef>
              <a:spcAft>
                <a:spcPts val="0"/>
              </a:spcAft>
              <a:buClr>
                <a:srgbClr val="00B0F0"/>
              </a:buClr>
              <a:buSzPct val="100000"/>
              <a:buFont typeface="Arial"/>
              <a:buChar char="•"/>
            </a:pPr>
            <a:r>
              <a:rPr i="1" lang="fr-FR" sz="3600">
                <a:solidFill>
                  <a:srgbClr val="00B0F0"/>
                </a:solidFill>
                <a:latin typeface="Calibri"/>
                <a:ea typeface="Calibri"/>
                <a:cs typeface="Calibri"/>
                <a:sym typeface="Calibri"/>
              </a:rPr>
              <a:t>traiter sur des unités </a:t>
            </a:r>
            <a:endParaRPr i="1" sz="3600">
              <a:solidFill>
                <a:srgbClr val="00B0F0"/>
              </a:solidFill>
              <a:latin typeface="Calibri"/>
              <a:ea typeface="Calibri"/>
              <a:cs typeface="Calibri"/>
              <a:sym typeface="Calibri"/>
            </a:endParaRPr>
          </a:p>
          <a:p>
            <a:pPr indent="-177165" lvl="0" marL="228600" marR="0" rtl="0" algn="l">
              <a:lnSpc>
                <a:spcPct val="90000"/>
              </a:lnSpc>
              <a:spcBef>
                <a:spcPts val="0"/>
              </a:spcBef>
              <a:spcAft>
                <a:spcPts val="0"/>
              </a:spcAft>
              <a:buClr>
                <a:srgbClr val="00B0F0"/>
              </a:buClr>
              <a:buSzPct val="100000"/>
              <a:buFont typeface="Arial"/>
              <a:buChar char="•"/>
            </a:pPr>
            <a:r>
              <a:rPr i="1" lang="fr-FR" sz="3600">
                <a:solidFill>
                  <a:srgbClr val="00B0F0"/>
                </a:solidFill>
                <a:latin typeface="Calibri"/>
                <a:ea typeface="Calibri"/>
                <a:cs typeface="Calibri"/>
                <a:sym typeface="Calibri"/>
              </a:rPr>
              <a:t>de calcul différentes. </a:t>
            </a:r>
            <a:endParaRPr i="1" sz="3600">
              <a:solidFill>
                <a:srgbClr val="00B0F0"/>
              </a:solidFill>
              <a:latin typeface="Calibri"/>
              <a:ea typeface="Calibri"/>
              <a:cs typeface="Calibri"/>
              <a:sym typeface="Calibri"/>
            </a:endParaRPr>
          </a:p>
          <a:p>
            <a:pPr indent="-177165" lvl="0" marL="228600" marR="0" rtl="0" algn="l">
              <a:lnSpc>
                <a:spcPct val="90000"/>
              </a:lnSpc>
              <a:spcBef>
                <a:spcPts val="0"/>
              </a:spcBef>
              <a:spcAft>
                <a:spcPts val="0"/>
              </a:spcAft>
              <a:buClr>
                <a:srgbClr val="00B0F0"/>
              </a:buClr>
              <a:buSzPct val="100000"/>
              <a:buFont typeface="Arial"/>
              <a:buChar char="•"/>
            </a:pPr>
            <a:r>
              <a:rPr i="1" lang="fr-FR" sz="3600">
                <a:solidFill>
                  <a:srgbClr val="00B0F0"/>
                </a:solidFill>
                <a:latin typeface="Calibri"/>
                <a:ea typeface="Calibri"/>
                <a:cs typeface="Calibri"/>
                <a:sym typeface="Calibri"/>
              </a:rPr>
              <a:t>Cela peut être utile </a:t>
            </a:r>
            <a:endParaRPr i="1" sz="3600">
              <a:solidFill>
                <a:srgbClr val="00B0F0"/>
              </a:solidFill>
              <a:latin typeface="Calibri"/>
              <a:ea typeface="Calibri"/>
              <a:cs typeface="Calibri"/>
              <a:sym typeface="Calibri"/>
            </a:endParaRPr>
          </a:p>
          <a:p>
            <a:pPr indent="-177165" lvl="0" marL="228600" marR="0" rtl="0" algn="l">
              <a:lnSpc>
                <a:spcPct val="90000"/>
              </a:lnSpc>
              <a:spcBef>
                <a:spcPts val="0"/>
              </a:spcBef>
              <a:spcAft>
                <a:spcPts val="0"/>
              </a:spcAft>
              <a:buClr>
                <a:srgbClr val="00B0F0"/>
              </a:buClr>
              <a:buSzPct val="100000"/>
              <a:buFont typeface="Arial"/>
              <a:buChar char="•"/>
            </a:pPr>
            <a:r>
              <a:rPr i="1" lang="fr-FR" sz="3600">
                <a:solidFill>
                  <a:srgbClr val="00B0F0"/>
                </a:solidFill>
                <a:latin typeface="Calibri"/>
                <a:ea typeface="Calibri"/>
                <a:cs typeface="Calibri"/>
                <a:sym typeface="Calibri"/>
              </a:rPr>
              <a:t>pour réduire les </a:t>
            </a:r>
            <a:endParaRPr i="1" sz="3600">
              <a:solidFill>
                <a:srgbClr val="00B0F0"/>
              </a:solidFill>
              <a:latin typeface="Calibri"/>
              <a:ea typeface="Calibri"/>
              <a:cs typeface="Calibri"/>
              <a:sym typeface="Calibri"/>
            </a:endParaRPr>
          </a:p>
          <a:p>
            <a:pPr indent="-177165" lvl="0" marL="228600" marR="0" rtl="0" algn="l">
              <a:lnSpc>
                <a:spcPct val="90000"/>
              </a:lnSpc>
              <a:spcBef>
                <a:spcPts val="0"/>
              </a:spcBef>
              <a:spcAft>
                <a:spcPts val="0"/>
              </a:spcAft>
              <a:buClr>
                <a:srgbClr val="00B0F0"/>
              </a:buClr>
              <a:buSzPct val="100000"/>
              <a:buFont typeface="Arial"/>
              <a:buChar char="•"/>
            </a:pPr>
            <a:r>
              <a:rPr i="1" lang="fr-FR" sz="3600">
                <a:solidFill>
                  <a:srgbClr val="00B0F0"/>
                </a:solidFill>
                <a:latin typeface="Calibri"/>
                <a:ea typeface="Calibri"/>
                <a:cs typeface="Calibri"/>
                <a:sym typeface="Calibri"/>
              </a:rPr>
              <a:t>coûts de </a:t>
            </a:r>
            <a:endParaRPr i="1" sz="3600">
              <a:solidFill>
                <a:srgbClr val="00B0F0"/>
              </a:solidFill>
              <a:latin typeface="Calibri"/>
              <a:ea typeface="Calibri"/>
              <a:cs typeface="Calibri"/>
              <a:sym typeface="Calibri"/>
            </a:endParaRPr>
          </a:p>
          <a:p>
            <a:pPr indent="-177165" lvl="0" marL="228600" marR="0" rtl="0" algn="l">
              <a:lnSpc>
                <a:spcPct val="90000"/>
              </a:lnSpc>
              <a:spcBef>
                <a:spcPts val="0"/>
              </a:spcBef>
              <a:spcAft>
                <a:spcPts val="0"/>
              </a:spcAft>
              <a:buClr>
                <a:srgbClr val="00B0F0"/>
              </a:buClr>
              <a:buSzPct val="100000"/>
              <a:buFont typeface="Arial"/>
              <a:buChar char="•"/>
            </a:pPr>
            <a:r>
              <a:rPr i="1" lang="fr-FR" sz="3600">
                <a:solidFill>
                  <a:srgbClr val="00B0F0"/>
                </a:solidFill>
                <a:latin typeface="Calibri"/>
                <a:ea typeface="Calibri"/>
                <a:cs typeface="Calibri"/>
                <a:sym typeface="Calibri"/>
              </a:rPr>
              <a:t>communication ou </a:t>
            </a:r>
            <a:endParaRPr i="1" sz="3600">
              <a:solidFill>
                <a:srgbClr val="00B0F0"/>
              </a:solidFill>
              <a:latin typeface="Calibri"/>
              <a:ea typeface="Calibri"/>
              <a:cs typeface="Calibri"/>
              <a:sym typeface="Calibri"/>
            </a:endParaRPr>
          </a:p>
          <a:p>
            <a:pPr indent="-177165" lvl="0" marL="228600" marR="0" rtl="0" algn="l">
              <a:lnSpc>
                <a:spcPct val="90000"/>
              </a:lnSpc>
              <a:spcBef>
                <a:spcPts val="0"/>
              </a:spcBef>
              <a:spcAft>
                <a:spcPts val="0"/>
              </a:spcAft>
              <a:buClr>
                <a:srgbClr val="00B0F0"/>
              </a:buClr>
              <a:buSzPct val="100000"/>
              <a:buFont typeface="Arial"/>
              <a:buChar char="•"/>
            </a:pPr>
            <a:r>
              <a:rPr i="1" lang="fr-FR" sz="3600">
                <a:solidFill>
                  <a:srgbClr val="00B0F0"/>
                </a:solidFill>
                <a:latin typeface="Calibri"/>
                <a:ea typeface="Calibri"/>
                <a:cs typeface="Calibri"/>
                <a:sym typeface="Calibri"/>
              </a:rPr>
              <a:t>pour accélérer le </a:t>
            </a:r>
            <a:endParaRPr i="1" sz="3600">
              <a:solidFill>
                <a:srgbClr val="00B0F0"/>
              </a:solidFill>
              <a:latin typeface="Calibri"/>
              <a:ea typeface="Calibri"/>
              <a:cs typeface="Calibri"/>
              <a:sym typeface="Calibri"/>
            </a:endParaRPr>
          </a:p>
          <a:p>
            <a:pPr indent="-177165" lvl="0" marL="228600" marR="0" rtl="0" algn="l">
              <a:lnSpc>
                <a:spcPct val="90000"/>
              </a:lnSpc>
              <a:spcBef>
                <a:spcPts val="0"/>
              </a:spcBef>
              <a:spcAft>
                <a:spcPts val="0"/>
              </a:spcAft>
              <a:buClr>
                <a:srgbClr val="00B0F0"/>
              </a:buClr>
              <a:buSzPct val="100000"/>
              <a:buFont typeface="Arial"/>
              <a:buChar char="•"/>
            </a:pPr>
            <a:r>
              <a:rPr i="1" lang="fr-FR" sz="3600">
                <a:solidFill>
                  <a:srgbClr val="00B0F0"/>
                </a:solidFill>
                <a:latin typeface="Calibri"/>
                <a:ea typeface="Calibri"/>
                <a:cs typeface="Calibri"/>
                <a:sym typeface="Calibri"/>
              </a:rPr>
              <a:t>traitement des </a:t>
            </a:r>
            <a:endParaRPr i="1" sz="3600">
              <a:solidFill>
                <a:srgbClr val="00B0F0"/>
              </a:solidFill>
              <a:latin typeface="Calibri"/>
              <a:ea typeface="Calibri"/>
              <a:cs typeface="Calibri"/>
              <a:sym typeface="Calibri"/>
            </a:endParaRPr>
          </a:p>
          <a:p>
            <a:pPr indent="-177165" lvl="0" marL="228600" marR="0" rtl="0" algn="l">
              <a:lnSpc>
                <a:spcPct val="90000"/>
              </a:lnSpc>
              <a:spcBef>
                <a:spcPts val="0"/>
              </a:spcBef>
              <a:spcAft>
                <a:spcPts val="0"/>
              </a:spcAft>
              <a:buClr>
                <a:srgbClr val="00B0F0"/>
              </a:buClr>
              <a:buSzPct val="100000"/>
              <a:buFont typeface="Arial"/>
              <a:buChar char="•"/>
            </a:pPr>
            <a:r>
              <a:rPr i="1" lang="fr-FR" sz="3600">
                <a:solidFill>
                  <a:srgbClr val="00B0F0"/>
                </a:solidFill>
                <a:latin typeface="Calibri"/>
                <a:ea typeface="Calibri"/>
                <a:cs typeface="Calibri"/>
                <a:sym typeface="Calibri"/>
              </a:rPr>
              <a:t>données.) </a:t>
            </a:r>
            <a:r>
              <a:rPr i="1" lang="fr-FR" sz="2800">
                <a:solidFill>
                  <a:schemeClr val="dk1"/>
                </a:solidFill>
                <a:latin typeface="Calibri"/>
                <a:ea typeface="Calibri"/>
                <a:cs typeface="Calibri"/>
                <a:sym typeface="Calibri"/>
              </a:rPr>
              <a:t> </a:t>
            </a:r>
            <a:endParaRPr b="1" i="1" sz="3600">
              <a:solidFill>
                <a:srgbClr val="00B0F0"/>
              </a:solidFill>
              <a:latin typeface="Calibri"/>
              <a:ea typeface="Calibri"/>
              <a:cs typeface="Calibri"/>
              <a:sym typeface="Calibri"/>
            </a:endParaRPr>
          </a:p>
          <a:p>
            <a:pPr indent="-50759" lvl="0" marL="228600" marR="0" rtl="0" algn="l">
              <a:lnSpc>
                <a:spcPct val="90000"/>
              </a:lnSpc>
              <a:spcBef>
                <a:spcPts val="1001"/>
              </a:spcBef>
              <a:spcAft>
                <a:spcPts val="0"/>
              </a:spcAft>
              <a:buNone/>
            </a:pPr>
            <a:r>
              <a:t/>
            </a:r>
            <a:endParaRPr b="0" i="0" sz="3600" u="none" cap="none" strike="noStrike">
              <a:latin typeface="Arial"/>
              <a:ea typeface="Arial"/>
              <a:cs typeface="Arial"/>
              <a:sym typeface="Arial"/>
            </a:endParaRPr>
          </a:p>
        </p:txBody>
      </p:sp>
      <p:sp>
        <p:nvSpPr>
          <p:cNvPr id="125" name="Google Shape;125;p14"/>
          <p:cNvSpPr/>
          <p:nvPr/>
        </p:nvSpPr>
        <p:spPr>
          <a:xfrm>
            <a:off x="211785" y="899100"/>
            <a:ext cx="10588200" cy="493200"/>
          </a:xfrm>
          <a:prstGeom prst="rect">
            <a:avLst/>
          </a:prstGeom>
          <a:noFill/>
          <a:ln>
            <a:noFill/>
          </a:ln>
        </p:spPr>
        <p:txBody>
          <a:bodyPr anchorCtr="0" anchor="t" bIns="45000" lIns="90000" spcFirstLastPara="1" rIns="90000" wrap="square" tIns="45000">
            <a:spAutoFit/>
          </a:bodyPr>
          <a:lstStyle/>
          <a:p>
            <a:pPr indent="0" lvl="0" marL="0" marR="0" rtl="0" algn="ctr">
              <a:lnSpc>
                <a:spcPct val="100000"/>
              </a:lnSpc>
              <a:spcBef>
                <a:spcPts val="0"/>
              </a:spcBef>
              <a:spcAft>
                <a:spcPts val="0"/>
              </a:spcAft>
              <a:buNone/>
            </a:pPr>
            <a:r>
              <a:rPr b="1" i="1" lang="fr-FR" sz="2800" u="none" cap="none" strike="noStrike">
                <a:solidFill>
                  <a:srgbClr val="0F47A6"/>
                </a:solidFill>
                <a:latin typeface="Yeseva One"/>
                <a:ea typeface="Yeseva One"/>
                <a:cs typeface="Yeseva One"/>
                <a:sym typeface="Yeseva One"/>
              </a:rPr>
              <a:t>Surmonter ces(les limites du Big Data)</a:t>
            </a:r>
            <a:endParaRPr b="0" i="0" sz="2800" u="none" cap="none" strike="noStrike">
              <a:latin typeface="Arial"/>
              <a:ea typeface="Arial"/>
              <a:cs typeface="Arial"/>
              <a:sym typeface="Arial"/>
            </a:endParaRPr>
          </a:p>
        </p:txBody>
      </p:sp>
      <p:sp>
        <p:nvSpPr>
          <p:cNvPr id="126" name="Google Shape;126;p14"/>
          <p:cNvSpPr/>
          <p:nvPr/>
        </p:nvSpPr>
        <p:spPr>
          <a:xfrm>
            <a:off x="1460495" y="1392328"/>
            <a:ext cx="8777400" cy="609900"/>
          </a:xfrm>
          <a:prstGeom prst="rect">
            <a:avLst/>
          </a:prstGeom>
          <a:noFill/>
          <a:ln>
            <a:noFill/>
          </a:ln>
        </p:spPr>
        <p:txBody>
          <a:bodyPr anchorCtr="0" anchor="t" bIns="45000" lIns="90000" spcFirstLastPara="1" rIns="90000" wrap="square" tIns="45000">
            <a:spAutoFit/>
          </a:bodyPr>
          <a:lstStyle/>
          <a:p>
            <a:pPr indent="0" lvl="0" marL="0" marR="0" rtl="0" algn="l">
              <a:lnSpc>
                <a:spcPct val="100000"/>
              </a:lnSpc>
              <a:spcBef>
                <a:spcPts val="0"/>
              </a:spcBef>
              <a:spcAft>
                <a:spcPts val="0"/>
              </a:spcAft>
              <a:buNone/>
            </a:pPr>
            <a:r>
              <a:rPr b="1" i="1" lang="fr-FR" sz="1800" u="none" cap="none" strike="noStrike">
                <a:solidFill>
                  <a:srgbClr val="FF0000"/>
                </a:solidFill>
                <a:latin typeface="Calibri"/>
                <a:ea typeface="Calibri"/>
                <a:cs typeface="Calibri"/>
                <a:sym typeface="Calibri"/>
              </a:rPr>
              <a:t>C’est comme cela que l’on fait pour faire du Traitement sur différents Ordinateurs ( un Cluster de serveurs ) </a:t>
            </a:r>
            <a:endParaRPr b="0" i="0" sz="1800" u="none" cap="none" strike="noStrike">
              <a:latin typeface="Arial"/>
              <a:ea typeface="Arial"/>
              <a:cs typeface="Arial"/>
              <a:sym typeface="Arial"/>
            </a:endParaRPr>
          </a:p>
        </p:txBody>
      </p:sp>
      <p:pic>
        <p:nvPicPr>
          <p:cNvPr id="127" name="Google Shape;127;p14"/>
          <p:cNvPicPr preferRelativeResize="0"/>
          <p:nvPr/>
        </p:nvPicPr>
        <p:blipFill rotWithShape="1">
          <a:blip r:embed="rId3">
            <a:alphaModFix/>
          </a:blip>
          <a:srcRect b="0" l="0" r="0" t="0"/>
          <a:stretch/>
        </p:blipFill>
        <p:spPr>
          <a:xfrm>
            <a:off x="3943440" y="3109870"/>
            <a:ext cx="8238959" cy="3309405"/>
          </a:xfrm>
          <a:prstGeom prst="rect">
            <a:avLst/>
          </a:prstGeom>
          <a:noFill/>
          <a:ln>
            <a:noFill/>
          </a:ln>
        </p:spPr>
      </p:pic>
    </p:spTree>
  </p:cSld>
  <p:clrMapOvr>
    <a:masterClrMapping/>
  </p:clrMapOvr>
  <p:transition spd="slow" p14:dur="1500">
    <p:random/>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25"/>
                                        </p:tgtEl>
                                        <p:attrNameLst>
                                          <p:attrName>style.visibility</p:attrName>
                                        </p:attrNameLst>
                                      </p:cBhvr>
                                      <p:to>
                                        <p:strVal val="visible"/>
                                      </p:to>
                                    </p:set>
                                    <p:animEffect filter="fade" transition="in">
                                      <p:cBhvr>
                                        <p:cTn dur="500"/>
                                        <p:tgtEl>
                                          <p:spTgt spid="12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g395876a071c_4_0"/>
          <p:cNvSpPr txBox="1"/>
          <p:nvPr/>
        </p:nvSpPr>
        <p:spPr>
          <a:xfrm>
            <a:off x="0" y="0"/>
            <a:ext cx="12192000" cy="69711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lang="fr-FR" sz="1900">
                <a:solidFill>
                  <a:srgbClr val="0F1115"/>
                </a:solidFill>
                <a:highlight>
                  <a:srgbClr val="FFFFFF"/>
                </a:highlight>
                <a:latin typeface="Roboto"/>
                <a:ea typeface="Roboto"/>
                <a:cs typeface="Roboto"/>
                <a:sym typeface="Roboto"/>
              </a:rPr>
              <a:t> Déploiement sur AWS - Détails de Configuration</a:t>
            </a:r>
            <a:endParaRPr b="1" sz="1900">
              <a:solidFill>
                <a:srgbClr val="0F1115"/>
              </a:solidFill>
              <a:highlight>
                <a:srgbClr val="FFFFFF"/>
              </a:highlight>
              <a:latin typeface="Roboto"/>
              <a:ea typeface="Roboto"/>
              <a:cs typeface="Roboto"/>
              <a:sym typeface="Roboto"/>
            </a:endParaRPr>
          </a:p>
          <a:p>
            <a:pPr indent="-330200" lvl="0" marL="457200" rtl="0" algn="l">
              <a:lnSpc>
                <a:spcPct val="115000"/>
              </a:lnSpc>
              <a:spcBef>
                <a:spcPts val="1200"/>
              </a:spcBef>
              <a:spcAft>
                <a:spcPts val="0"/>
              </a:spcAft>
              <a:buClr>
                <a:srgbClr val="0F1115"/>
              </a:buClr>
              <a:buSzPts val="1600"/>
              <a:buFont typeface="Roboto"/>
              <a:buChar char="●"/>
            </a:pPr>
            <a:r>
              <a:rPr b="1" lang="fr-FR" sz="1600">
                <a:solidFill>
                  <a:srgbClr val="0F1115"/>
                </a:solidFill>
                <a:highlight>
                  <a:srgbClr val="FFFFFF"/>
                </a:highlight>
                <a:latin typeface="Roboto"/>
                <a:ea typeface="Roboto"/>
                <a:cs typeface="Roboto"/>
                <a:sym typeface="Roboto"/>
              </a:rPr>
              <a:t>Stockage des données (Amazon S3) :</a:t>
            </a:r>
            <a:endParaRPr b="1" sz="16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1600">
                <a:solidFill>
                  <a:srgbClr val="0F1115"/>
                </a:solidFill>
                <a:highlight>
                  <a:srgbClr val="FFFFFF"/>
                </a:highlight>
                <a:latin typeface="Roboto"/>
                <a:ea typeface="Roboto"/>
                <a:cs typeface="Roboto"/>
                <a:sym typeface="Roboto"/>
              </a:rPr>
              <a:t>Création d'un bucket S3 dédié (ex: </a:t>
            </a:r>
            <a:r>
              <a:rPr lang="fr-FR" sz="1450">
                <a:solidFill>
                  <a:srgbClr val="0F1115"/>
                </a:solidFill>
                <a:highlight>
                  <a:srgbClr val="EBEEF2"/>
                </a:highlight>
                <a:latin typeface="Roboto Mono"/>
                <a:ea typeface="Roboto Mono"/>
                <a:cs typeface="Roboto Mono"/>
                <a:sym typeface="Roboto Mono"/>
              </a:rPr>
              <a:t>s3://p8-data/</a:t>
            </a:r>
            <a:r>
              <a:rPr lang="fr-FR" sz="1600">
                <a:solidFill>
                  <a:srgbClr val="0F1115"/>
                </a:solidFill>
                <a:highlight>
                  <a:srgbClr val="FFFFFF"/>
                </a:highlight>
                <a:latin typeface="Roboto"/>
                <a:ea typeface="Roboto"/>
                <a:cs typeface="Roboto"/>
                <a:sym typeface="Roboto"/>
              </a:rPr>
              <a:t> ou le bucket </a:t>
            </a:r>
            <a:r>
              <a:rPr b="1" lang="fr-FR" sz="1600">
                <a:solidFill>
                  <a:srgbClr val="0F1115"/>
                </a:solidFill>
                <a:highlight>
                  <a:srgbClr val="FFFFFF"/>
                </a:highlight>
                <a:latin typeface="Roboto"/>
                <a:ea typeface="Roboto"/>
                <a:cs typeface="Roboto"/>
                <a:sym typeface="Roboto"/>
              </a:rPr>
              <a:t>SageMaker</a:t>
            </a:r>
            <a:r>
              <a:rPr lang="fr-FR" sz="1600">
                <a:solidFill>
                  <a:srgbClr val="0F1115"/>
                </a:solidFill>
                <a:highlight>
                  <a:srgbClr val="FFFFFF"/>
                </a:highlight>
                <a:latin typeface="Roboto"/>
                <a:ea typeface="Roboto"/>
                <a:cs typeface="Roboto"/>
                <a:sym typeface="Roboto"/>
              </a:rPr>
              <a:t> par défaut).</a:t>
            </a:r>
            <a:endParaRPr sz="16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1600">
                <a:solidFill>
                  <a:srgbClr val="0F1115"/>
                </a:solidFill>
                <a:highlight>
                  <a:srgbClr val="FFFFFF"/>
                </a:highlight>
                <a:latin typeface="Roboto"/>
                <a:ea typeface="Roboto"/>
                <a:cs typeface="Roboto"/>
                <a:sym typeface="Roboto"/>
              </a:rPr>
              <a:t>Upload des données d'entrée (dossier </a:t>
            </a:r>
            <a:r>
              <a:rPr lang="fr-FR" sz="1450">
                <a:solidFill>
                  <a:srgbClr val="0F1115"/>
                </a:solidFill>
                <a:highlight>
                  <a:srgbClr val="EBEEF2"/>
                </a:highlight>
                <a:latin typeface="Roboto Mono"/>
                <a:ea typeface="Roboto Mono"/>
                <a:cs typeface="Roboto Mono"/>
                <a:sym typeface="Roboto Mono"/>
              </a:rPr>
              <a:t>Test</a:t>
            </a:r>
            <a:r>
              <a:rPr lang="fr-FR" sz="1600">
                <a:solidFill>
                  <a:srgbClr val="0F1115"/>
                </a:solidFill>
                <a:highlight>
                  <a:srgbClr val="FFFFFF"/>
                </a:highlight>
                <a:latin typeface="Roboto"/>
                <a:ea typeface="Roboto"/>
                <a:cs typeface="Roboto"/>
                <a:sym typeface="Roboto"/>
              </a:rPr>
              <a:t>) dans </a:t>
            </a:r>
            <a:r>
              <a:rPr lang="fr-FR" sz="1450">
                <a:solidFill>
                  <a:srgbClr val="0F1115"/>
                </a:solidFill>
                <a:highlight>
                  <a:srgbClr val="EBEEF2"/>
                </a:highlight>
                <a:latin typeface="Roboto Mono"/>
                <a:ea typeface="Roboto Mono"/>
                <a:cs typeface="Roboto Mono"/>
                <a:sym typeface="Roboto Mono"/>
              </a:rPr>
              <a:t>s3://p8-data/Test/</a:t>
            </a:r>
            <a:r>
              <a:rPr lang="fr-FR" sz="1600">
                <a:solidFill>
                  <a:srgbClr val="0F1115"/>
                </a:solidFill>
                <a:highlight>
                  <a:srgbClr val="FFFFFF"/>
                </a:highlight>
                <a:latin typeface="Roboto"/>
                <a:ea typeface="Roboto"/>
                <a:cs typeface="Roboto"/>
                <a:sym typeface="Roboto"/>
              </a:rPr>
              <a:t> via la commande </a:t>
            </a:r>
            <a:r>
              <a:rPr lang="fr-FR" sz="1450">
                <a:solidFill>
                  <a:srgbClr val="0F1115"/>
                </a:solidFill>
                <a:highlight>
                  <a:srgbClr val="EBEEF2"/>
                </a:highlight>
                <a:latin typeface="Roboto Mono"/>
                <a:ea typeface="Roboto Mono"/>
                <a:cs typeface="Roboto Mono"/>
                <a:sym typeface="Roboto Mono"/>
              </a:rPr>
              <a:t>aws s3 sync</a:t>
            </a:r>
            <a:r>
              <a:rPr lang="fr-FR" sz="1600">
                <a:solidFill>
                  <a:srgbClr val="0F1115"/>
                </a:solidFill>
                <a:highlight>
                  <a:srgbClr val="FFFFFF"/>
                </a:highlight>
                <a:latin typeface="Roboto"/>
                <a:ea typeface="Roboto"/>
                <a:cs typeface="Roboto"/>
                <a:sym typeface="Roboto"/>
              </a:rPr>
              <a:t> ou l'interface web.</a:t>
            </a:r>
            <a:endParaRPr sz="16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1600">
                <a:solidFill>
                  <a:srgbClr val="0F1115"/>
                </a:solidFill>
                <a:highlight>
                  <a:srgbClr val="FFFFFF"/>
                </a:highlight>
                <a:latin typeface="Roboto"/>
                <a:ea typeface="Roboto"/>
                <a:cs typeface="Roboto"/>
                <a:sym typeface="Roboto"/>
              </a:rPr>
              <a:t>Les résultats du traitement seront enregistrés dans </a:t>
            </a:r>
            <a:r>
              <a:rPr lang="fr-FR" sz="1450">
                <a:solidFill>
                  <a:srgbClr val="0F1115"/>
                </a:solidFill>
                <a:highlight>
                  <a:srgbClr val="EBEEF2"/>
                </a:highlight>
                <a:latin typeface="Roboto Mono"/>
                <a:ea typeface="Roboto Mono"/>
                <a:cs typeface="Roboto Mono"/>
                <a:sym typeface="Roboto Mono"/>
              </a:rPr>
              <a:t>s3://p8-data/results/</a:t>
            </a:r>
            <a:r>
              <a:rPr lang="fr-FR" sz="1600">
                <a:solidFill>
                  <a:srgbClr val="0F1115"/>
                </a:solidFill>
                <a:highlight>
                  <a:srgbClr val="FFFFFF"/>
                </a:highlight>
                <a:latin typeface="Roboto"/>
                <a:ea typeface="Roboto"/>
                <a:cs typeface="Roboto"/>
                <a:sym typeface="Roboto"/>
              </a:rPr>
              <a:t>.</a:t>
            </a:r>
            <a:endParaRPr sz="1600">
              <a:solidFill>
                <a:srgbClr val="0F1115"/>
              </a:solidFill>
              <a:highlight>
                <a:srgbClr val="FFFFFF"/>
              </a:highlight>
              <a:latin typeface="Roboto"/>
              <a:ea typeface="Roboto"/>
              <a:cs typeface="Roboto"/>
              <a:sym typeface="Roboto"/>
            </a:endParaRPr>
          </a:p>
          <a:p>
            <a:pPr indent="-330200" lvl="0" marL="457200" rtl="0" algn="l">
              <a:lnSpc>
                <a:spcPct val="115000"/>
              </a:lnSpc>
              <a:spcBef>
                <a:spcPts val="0"/>
              </a:spcBef>
              <a:spcAft>
                <a:spcPts val="0"/>
              </a:spcAft>
              <a:buClr>
                <a:srgbClr val="0F1115"/>
              </a:buClr>
              <a:buSzPts val="1600"/>
              <a:buFont typeface="Roboto"/>
              <a:buChar char="●"/>
            </a:pPr>
            <a:r>
              <a:rPr b="1" lang="fr-FR" sz="1600">
                <a:solidFill>
                  <a:srgbClr val="0F1115"/>
                </a:solidFill>
                <a:highlight>
                  <a:srgbClr val="FFFFFF"/>
                </a:highlight>
                <a:latin typeface="Roboto"/>
                <a:ea typeface="Roboto"/>
                <a:cs typeface="Roboto"/>
                <a:sym typeface="Roboto"/>
              </a:rPr>
              <a:t>Configuration du cluster (AWS EMR) :</a:t>
            </a:r>
            <a:endParaRPr b="1" sz="16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b="1" lang="fr-FR" sz="1600">
                <a:solidFill>
                  <a:srgbClr val="0F1115"/>
                </a:solidFill>
                <a:highlight>
                  <a:srgbClr val="FFFFFF"/>
                </a:highlight>
                <a:latin typeface="Roboto"/>
                <a:ea typeface="Roboto"/>
                <a:cs typeface="Roboto"/>
                <a:sym typeface="Roboto"/>
              </a:rPr>
              <a:t>Matériel : </a:t>
            </a:r>
            <a:r>
              <a:rPr lang="fr-FR" sz="1600">
                <a:solidFill>
                  <a:srgbClr val="0F1115"/>
                </a:solidFill>
                <a:highlight>
                  <a:srgbClr val="FFFFFF"/>
                </a:highlight>
                <a:latin typeface="Roboto"/>
                <a:ea typeface="Roboto"/>
                <a:cs typeface="Roboto"/>
                <a:sym typeface="Roboto"/>
              </a:rPr>
              <a:t>3 instances de type </a:t>
            </a:r>
            <a:r>
              <a:rPr lang="fr-FR" sz="1450">
                <a:solidFill>
                  <a:srgbClr val="0F1115"/>
                </a:solidFill>
                <a:highlight>
                  <a:srgbClr val="EBEEF2"/>
                </a:highlight>
                <a:latin typeface="Roboto Mono"/>
                <a:ea typeface="Roboto Mono"/>
                <a:cs typeface="Roboto Mono"/>
                <a:sym typeface="Roboto Mono"/>
              </a:rPr>
              <a:t>m5.xlarge</a:t>
            </a:r>
            <a:r>
              <a:rPr lang="fr-FR" sz="1600">
                <a:solidFill>
                  <a:srgbClr val="0F1115"/>
                </a:solidFill>
                <a:highlight>
                  <a:srgbClr val="FFFFFF"/>
                </a:highlight>
                <a:latin typeface="Roboto"/>
                <a:ea typeface="Roboto"/>
                <a:cs typeface="Roboto"/>
                <a:sym typeface="Roboto"/>
              </a:rPr>
              <a:t> (1 master, 2 core). Ce type d'instance offre un bon équilibre entre mémoire et CPU.</a:t>
            </a:r>
            <a:endParaRPr sz="1600">
              <a:solidFill>
                <a:srgbClr val="0F1115"/>
              </a:solidFill>
              <a:highlight>
                <a:srgbClr val="FFFFFF"/>
              </a:highlight>
              <a:latin typeface="Roboto"/>
              <a:ea typeface="Roboto"/>
              <a:cs typeface="Roboto"/>
              <a:sym typeface="Roboto"/>
            </a:endParaRPr>
          </a:p>
          <a:p>
            <a:pPr indent="-330200" lvl="1" marL="914400" rtl="0" algn="l">
              <a:lnSpc>
                <a:spcPct val="115000"/>
              </a:lnSpc>
              <a:spcBef>
                <a:spcPts val="0"/>
              </a:spcBef>
              <a:spcAft>
                <a:spcPts val="0"/>
              </a:spcAft>
              <a:buClr>
                <a:srgbClr val="0F1115"/>
              </a:buClr>
              <a:buSzPts val="1600"/>
              <a:buFont typeface="Roboto"/>
              <a:buChar char="○"/>
            </a:pPr>
            <a:r>
              <a:rPr b="1" lang="fr-FR" sz="1600">
                <a:solidFill>
                  <a:srgbClr val="0F1115"/>
                </a:solidFill>
                <a:highlight>
                  <a:srgbClr val="FFFFFF"/>
                </a:highlight>
                <a:latin typeface="Roboto"/>
                <a:ea typeface="Roboto"/>
                <a:cs typeface="Roboto"/>
                <a:sym typeface="Roboto"/>
              </a:rPr>
              <a:t>Système d'exploitation : </a:t>
            </a:r>
            <a:r>
              <a:rPr lang="fr-FR" sz="1600">
                <a:solidFill>
                  <a:srgbClr val="0F1115"/>
                </a:solidFill>
                <a:highlight>
                  <a:srgbClr val="FFFFFF"/>
                </a:highlight>
                <a:latin typeface="Roboto"/>
                <a:ea typeface="Roboto"/>
                <a:cs typeface="Roboto"/>
                <a:sym typeface="Roboto"/>
              </a:rPr>
              <a:t>Amazon Linux 2 (ou Ubuntu Server 18.04).</a:t>
            </a:r>
            <a:endParaRPr sz="1600">
              <a:solidFill>
                <a:srgbClr val="0F1115"/>
              </a:solidFill>
              <a:highlight>
                <a:srgbClr val="FFFFFF"/>
              </a:highlight>
              <a:latin typeface="Roboto"/>
              <a:ea typeface="Roboto"/>
              <a:cs typeface="Roboto"/>
              <a:sym typeface="Roboto"/>
            </a:endParaRPr>
          </a:p>
          <a:p>
            <a:pPr indent="-330200" lvl="1" marL="914400" rtl="0" algn="l">
              <a:lnSpc>
                <a:spcPct val="115000"/>
              </a:lnSpc>
              <a:spcBef>
                <a:spcPts val="0"/>
              </a:spcBef>
              <a:spcAft>
                <a:spcPts val="0"/>
              </a:spcAft>
              <a:buClr>
                <a:srgbClr val="0F1115"/>
              </a:buClr>
              <a:buSzPts val="1600"/>
              <a:buFont typeface="Roboto"/>
              <a:buChar char="○"/>
            </a:pPr>
            <a:r>
              <a:rPr b="1" lang="fr-FR" sz="1600">
                <a:solidFill>
                  <a:srgbClr val="0F1115"/>
                </a:solidFill>
                <a:highlight>
                  <a:srgbClr val="FFFFFF"/>
                </a:highlight>
                <a:latin typeface="Roboto"/>
                <a:ea typeface="Roboto"/>
                <a:cs typeface="Roboto"/>
                <a:sym typeface="Roboto"/>
              </a:rPr>
              <a:t>Logiciels installés (lors de la création du cluster) :</a:t>
            </a:r>
            <a:endParaRPr b="1" sz="1600">
              <a:solidFill>
                <a:srgbClr val="0F1115"/>
              </a:solidFill>
              <a:highlight>
                <a:srgbClr val="FFFFFF"/>
              </a:highlight>
              <a:latin typeface="Roboto"/>
              <a:ea typeface="Roboto"/>
              <a:cs typeface="Roboto"/>
              <a:sym typeface="Roboto"/>
            </a:endParaRPr>
          </a:p>
          <a:p>
            <a:pPr indent="-330200" lvl="2" marL="1371600" rtl="0" algn="l">
              <a:lnSpc>
                <a:spcPct val="115000"/>
              </a:lnSpc>
              <a:spcBef>
                <a:spcPts val="0"/>
              </a:spcBef>
              <a:spcAft>
                <a:spcPts val="0"/>
              </a:spcAft>
              <a:buClr>
                <a:srgbClr val="0F1115"/>
              </a:buClr>
              <a:buSzPts val="1600"/>
              <a:buFont typeface="Roboto"/>
              <a:buChar char="■"/>
            </a:pPr>
            <a:r>
              <a:rPr lang="fr-FR" sz="1600">
                <a:solidFill>
                  <a:srgbClr val="0F1115"/>
                </a:solidFill>
                <a:highlight>
                  <a:srgbClr val="FFFFFF"/>
                </a:highlight>
                <a:latin typeface="Roboto"/>
                <a:ea typeface="Roboto"/>
                <a:cs typeface="Roboto"/>
                <a:sym typeface="Roboto"/>
              </a:rPr>
              <a:t>Hadoop, Spark, TensorFlow, JupyterHub.</a:t>
            </a:r>
            <a:endParaRPr sz="1600">
              <a:solidFill>
                <a:srgbClr val="0F1115"/>
              </a:solidFill>
              <a:highlight>
                <a:srgbClr val="FFFFFF"/>
              </a:highlight>
              <a:latin typeface="Roboto"/>
              <a:ea typeface="Roboto"/>
              <a:cs typeface="Roboto"/>
              <a:sym typeface="Roboto"/>
            </a:endParaRPr>
          </a:p>
          <a:p>
            <a:pPr indent="-330200" lvl="1" marL="914400" rtl="0" algn="l">
              <a:lnSpc>
                <a:spcPct val="115000"/>
              </a:lnSpc>
              <a:spcBef>
                <a:spcPts val="0"/>
              </a:spcBef>
              <a:spcAft>
                <a:spcPts val="0"/>
              </a:spcAft>
              <a:buClr>
                <a:srgbClr val="0F1115"/>
              </a:buClr>
              <a:buSzPts val="1600"/>
              <a:buFont typeface="Roboto"/>
              <a:buChar char="○"/>
            </a:pPr>
            <a:r>
              <a:rPr b="1" lang="fr-FR" sz="1600">
                <a:solidFill>
                  <a:srgbClr val="0F1115"/>
                </a:solidFill>
                <a:highlight>
                  <a:srgbClr val="FFFFFF"/>
                </a:highlight>
                <a:latin typeface="Roboto"/>
                <a:ea typeface="Roboto"/>
                <a:cs typeface="Roboto"/>
                <a:sym typeface="Roboto"/>
              </a:rPr>
              <a:t>Configuration personnalisée (via script Bootstrap) :</a:t>
            </a:r>
            <a:endParaRPr b="1" sz="1600">
              <a:solidFill>
                <a:srgbClr val="0F1115"/>
              </a:solidFill>
              <a:highlight>
                <a:srgbClr val="FFFFFF"/>
              </a:highlight>
              <a:latin typeface="Roboto"/>
              <a:ea typeface="Roboto"/>
              <a:cs typeface="Roboto"/>
              <a:sym typeface="Roboto"/>
            </a:endParaRPr>
          </a:p>
          <a:p>
            <a:pPr indent="-304800" lvl="2" marL="1371600" rtl="0" algn="l">
              <a:lnSpc>
                <a:spcPct val="115000"/>
              </a:lnSpc>
              <a:spcBef>
                <a:spcPts val="0"/>
              </a:spcBef>
              <a:spcAft>
                <a:spcPts val="0"/>
              </a:spcAft>
              <a:buClr>
                <a:srgbClr val="0F1115"/>
              </a:buClr>
              <a:buSzPts val="1200"/>
              <a:buFont typeface="Roboto"/>
              <a:buChar char="■"/>
            </a:pPr>
            <a:r>
              <a:rPr lang="fr-FR" sz="1600">
                <a:solidFill>
                  <a:srgbClr val="0F1115"/>
                </a:solidFill>
                <a:highlight>
                  <a:srgbClr val="FFFFFF"/>
                </a:highlight>
                <a:latin typeface="Roboto"/>
                <a:ea typeface="Roboto"/>
                <a:cs typeface="Roboto"/>
                <a:sym typeface="Roboto"/>
              </a:rPr>
              <a:t>Un script shell (</a:t>
            </a:r>
            <a:r>
              <a:rPr lang="fr-FR" sz="1450">
                <a:solidFill>
                  <a:srgbClr val="0F1115"/>
                </a:solidFill>
                <a:highlight>
                  <a:srgbClr val="EBEEF2"/>
                </a:highlight>
                <a:latin typeface="Roboto Mono"/>
                <a:ea typeface="Roboto Mono"/>
                <a:cs typeface="Roboto Mono"/>
                <a:sym typeface="Roboto Mono"/>
              </a:rPr>
              <a:t>bootstrap-emr.sh</a:t>
            </a:r>
            <a:r>
              <a:rPr lang="fr-FR" sz="1600">
                <a:solidFill>
                  <a:srgbClr val="0F1115"/>
                </a:solidFill>
                <a:highlight>
                  <a:srgbClr val="FFFFFF"/>
                </a:highlight>
                <a:latin typeface="Roboto"/>
                <a:ea typeface="Roboto"/>
                <a:cs typeface="Roboto"/>
                <a:sym typeface="Roboto"/>
              </a:rPr>
              <a:t>) est exécuté sur toutes les instances pour installer les bibliothèques Python nécessaires : </a:t>
            </a:r>
            <a:r>
              <a:rPr lang="fr-FR" sz="1450">
                <a:solidFill>
                  <a:srgbClr val="0F1115"/>
                </a:solidFill>
                <a:highlight>
                  <a:srgbClr val="EBEEF2"/>
                </a:highlight>
                <a:latin typeface="Roboto Mono"/>
                <a:ea typeface="Roboto Mono"/>
                <a:cs typeface="Roboto Mono"/>
                <a:sym typeface="Roboto Mono"/>
              </a:rPr>
              <a:t>pandas</a:t>
            </a:r>
            <a:r>
              <a:rPr lang="fr-FR" sz="1600">
                <a:solidFill>
                  <a:srgbClr val="0F1115"/>
                </a:solidFill>
                <a:highlight>
                  <a:srgbClr val="FFFFFF"/>
                </a:highlight>
                <a:latin typeface="Roboto"/>
                <a:ea typeface="Roboto"/>
                <a:cs typeface="Roboto"/>
                <a:sym typeface="Roboto"/>
              </a:rPr>
              <a:t>, </a:t>
            </a:r>
            <a:r>
              <a:rPr lang="fr-FR" sz="1450">
                <a:solidFill>
                  <a:srgbClr val="0F1115"/>
                </a:solidFill>
                <a:highlight>
                  <a:srgbClr val="EBEEF2"/>
                </a:highlight>
                <a:latin typeface="Roboto Mono"/>
                <a:ea typeface="Roboto Mono"/>
                <a:cs typeface="Roboto Mono"/>
                <a:sym typeface="Roboto Mono"/>
              </a:rPr>
              <a:t>pillow</a:t>
            </a:r>
            <a:r>
              <a:rPr lang="fr-FR" sz="1600">
                <a:solidFill>
                  <a:srgbClr val="0F1115"/>
                </a:solidFill>
                <a:highlight>
                  <a:srgbClr val="FFFFFF"/>
                </a:highlight>
                <a:latin typeface="Roboto"/>
                <a:ea typeface="Roboto"/>
                <a:cs typeface="Roboto"/>
                <a:sym typeface="Roboto"/>
              </a:rPr>
              <a:t>, </a:t>
            </a:r>
            <a:r>
              <a:rPr lang="fr-FR" sz="1450">
                <a:solidFill>
                  <a:srgbClr val="0F1115"/>
                </a:solidFill>
                <a:highlight>
                  <a:srgbClr val="EBEEF2"/>
                </a:highlight>
                <a:latin typeface="Roboto Mono"/>
                <a:ea typeface="Roboto Mono"/>
                <a:cs typeface="Roboto Mono"/>
                <a:sym typeface="Roboto Mono"/>
              </a:rPr>
              <a:t>pyarrow</a:t>
            </a:r>
            <a:r>
              <a:rPr lang="fr-FR" sz="1600">
                <a:solidFill>
                  <a:srgbClr val="0F1115"/>
                </a:solidFill>
                <a:highlight>
                  <a:srgbClr val="FFFFFF"/>
                </a:highlight>
                <a:latin typeface="Roboto"/>
                <a:ea typeface="Roboto"/>
                <a:cs typeface="Roboto"/>
                <a:sym typeface="Roboto"/>
              </a:rPr>
              <a:t> (avec des versions spécifiques pour garantir la compatibilité). Le script inclut la mise à jour de </a:t>
            </a:r>
            <a:r>
              <a:rPr lang="fr-FR" sz="1450">
                <a:solidFill>
                  <a:srgbClr val="0F1115"/>
                </a:solidFill>
                <a:highlight>
                  <a:srgbClr val="EBEEF2"/>
                </a:highlight>
                <a:latin typeface="Roboto Mono"/>
                <a:ea typeface="Roboto Mono"/>
                <a:cs typeface="Roboto Mono"/>
                <a:sym typeface="Roboto Mono"/>
              </a:rPr>
              <a:t>setuptools</a:t>
            </a:r>
            <a:r>
              <a:rPr lang="fr-FR" sz="1600">
                <a:solidFill>
                  <a:srgbClr val="0F1115"/>
                </a:solidFill>
                <a:highlight>
                  <a:srgbClr val="FFFFFF"/>
                </a:highlight>
                <a:latin typeface="Roboto"/>
                <a:ea typeface="Roboto"/>
                <a:cs typeface="Roboto"/>
                <a:sym typeface="Roboto"/>
              </a:rPr>
              <a:t> et </a:t>
            </a:r>
            <a:r>
              <a:rPr lang="fr-FR" sz="1450">
                <a:solidFill>
                  <a:srgbClr val="0F1115"/>
                </a:solidFill>
                <a:highlight>
                  <a:srgbClr val="EBEEF2"/>
                </a:highlight>
                <a:latin typeface="Roboto Mono"/>
                <a:ea typeface="Roboto Mono"/>
                <a:cs typeface="Roboto Mono"/>
                <a:sym typeface="Roboto Mono"/>
              </a:rPr>
              <a:t>pip</a:t>
            </a:r>
            <a:r>
              <a:rPr lang="fr-FR" sz="1600">
                <a:solidFill>
                  <a:srgbClr val="0F1115"/>
                </a:solidFill>
                <a:highlight>
                  <a:srgbClr val="FFFFFF"/>
                </a:highlight>
                <a:latin typeface="Roboto"/>
                <a:ea typeface="Roboto"/>
                <a:cs typeface="Roboto"/>
                <a:sym typeface="Roboto"/>
              </a:rPr>
              <a:t>.</a:t>
            </a:r>
            <a:endParaRPr sz="16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b="1" lang="fr-FR" sz="1600">
                <a:solidFill>
                  <a:srgbClr val="0F1115"/>
                </a:solidFill>
                <a:highlight>
                  <a:srgbClr val="FFFFFF"/>
                </a:highlight>
                <a:latin typeface="Roboto"/>
                <a:ea typeface="Roboto"/>
                <a:cs typeface="Roboto"/>
                <a:sym typeface="Roboto"/>
              </a:rPr>
              <a:t>Persistance : </a:t>
            </a:r>
            <a:r>
              <a:rPr lang="fr-FR" sz="1600">
                <a:solidFill>
                  <a:srgbClr val="0F1115"/>
                </a:solidFill>
                <a:highlight>
                  <a:srgbClr val="FFFFFF"/>
                </a:highlight>
                <a:latin typeface="Roboto"/>
                <a:ea typeface="Roboto"/>
                <a:cs typeface="Roboto"/>
                <a:sym typeface="Roboto"/>
              </a:rPr>
              <a:t>Configuration de JupyterHub pour enregistrer les notebooks directement sur S3 (</a:t>
            </a:r>
            <a:r>
              <a:rPr lang="fr-FR" sz="1450">
                <a:solidFill>
                  <a:srgbClr val="0F1115"/>
                </a:solidFill>
                <a:highlight>
                  <a:srgbClr val="EBEEF2"/>
                </a:highlight>
                <a:latin typeface="Roboto Mono"/>
                <a:ea typeface="Roboto Mono"/>
                <a:cs typeface="Roboto Mono"/>
                <a:sym typeface="Roboto Mono"/>
              </a:rPr>
              <a:t>s3.persistence.enabled=true</a:t>
            </a:r>
            <a:r>
              <a:rPr lang="fr-FR" sz="1600">
                <a:solidFill>
                  <a:srgbClr val="0F1115"/>
                </a:solidFill>
                <a:highlight>
                  <a:srgbClr val="FFFFFF"/>
                </a:highlight>
                <a:latin typeface="Roboto"/>
                <a:ea typeface="Roboto"/>
                <a:cs typeface="Roboto"/>
                <a:sym typeface="Roboto"/>
              </a:rPr>
              <a:t>, </a:t>
            </a:r>
            <a:r>
              <a:rPr lang="fr-FR" sz="1450">
                <a:solidFill>
                  <a:srgbClr val="0F1115"/>
                </a:solidFill>
                <a:highlight>
                  <a:srgbClr val="EBEEF2"/>
                </a:highlight>
                <a:latin typeface="Roboto Mono"/>
                <a:ea typeface="Roboto Mono"/>
                <a:cs typeface="Roboto Mono"/>
                <a:sym typeface="Roboto Mono"/>
              </a:rPr>
              <a:t>s3.persistence.bucket=p8-data</a:t>
            </a:r>
            <a:r>
              <a:rPr lang="fr-FR" sz="1600">
                <a:solidFill>
                  <a:srgbClr val="0F1115"/>
                </a:solidFill>
                <a:highlight>
                  <a:srgbClr val="FFFFFF"/>
                </a:highlight>
                <a:latin typeface="Roboto"/>
                <a:ea typeface="Roboto"/>
                <a:cs typeface="Roboto"/>
                <a:sym typeface="Roboto"/>
              </a:rPr>
              <a:t>).</a:t>
            </a:r>
            <a:endParaRPr sz="1600">
              <a:solidFill>
                <a:srgbClr val="0F1115"/>
              </a:solidFill>
              <a:highlight>
                <a:srgbClr val="FFFFFF"/>
              </a:highlight>
              <a:latin typeface="Roboto"/>
              <a:ea typeface="Roboto"/>
              <a:cs typeface="Roboto"/>
              <a:sym typeface="Roboto"/>
            </a:endParaRPr>
          </a:p>
          <a:p>
            <a:pPr indent="-330200" lvl="0" marL="457200" rtl="0" algn="l">
              <a:lnSpc>
                <a:spcPct val="115000"/>
              </a:lnSpc>
              <a:spcBef>
                <a:spcPts val="0"/>
              </a:spcBef>
              <a:spcAft>
                <a:spcPts val="0"/>
              </a:spcAft>
              <a:buClr>
                <a:srgbClr val="0F1115"/>
              </a:buClr>
              <a:buSzPts val="1600"/>
              <a:buFont typeface="Roboto"/>
              <a:buChar char="●"/>
            </a:pPr>
            <a:r>
              <a:rPr b="1" lang="fr-FR" sz="1600">
                <a:solidFill>
                  <a:srgbClr val="0F1115"/>
                </a:solidFill>
                <a:highlight>
                  <a:srgbClr val="FFFFFF"/>
                </a:highlight>
                <a:latin typeface="Roboto"/>
                <a:ea typeface="Roboto"/>
                <a:cs typeface="Roboto"/>
                <a:sym typeface="Roboto"/>
              </a:rPr>
              <a:t>Accès et exécution :</a:t>
            </a:r>
            <a:endParaRPr b="1" sz="16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1600">
                <a:solidFill>
                  <a:srgbClr val="0F1115"/>
                </a:solidFill>
                <a:highlight>
                  <a:srgbClr val="FFFFFF"/>
                </a:highlight>
                <a:latin typeface="Roboto"/>
                <a:ea typeface="Roboto"/>
                <a:cs typeface="Roboto"/>
                <a:sym typeface="Roboto"/>
              </a:rPr>
              <a:t>Connexion SSH à l'instance master en utilisant la clé EC2 préalablement créée (ex: </a:t>
            </a:r>
            <a:r>
              <a:rPr lang="fr-FR" sz="1450">
                <a:solidFill>
                  <a:srgbClr val="0F1115"/>
                </a:solidFill>
                <a:highlight>
                  <a:srgbClr val="EBEEF2"/>
                </a:highlight>
                <a:latin typeface="Roboto Mono"/>
                <a:ea typeface="Roboto Mono"/>
                <a:cs typeface="Roboto Mono"/>
                <a:sym typeface="Roboto Mono"/>
              </a:rPr>
              <a:t>ssh -i ~/.ssh/p8-ec2.pem hadoop@...</a:t>
            </a:r>
            <a:r>
              <a:rPr lang="fr-FR" sz="1600">
                <a:solidFill>
                  <a:srgbClr val="0F1115"/>
                </a:solidFill>
                <a:highlight>
                  <a:srgbClr val="FFFFFF"/>
                </a:highlight>
                <a:latin typeface="Roboto"/>
                <a:ea typeface="Roboto"/>
                <a:cs typeface="Roboto"/>
                <a:sym typeface="Roboto"/>
              </a:rPr>
              <a:t>).</a:t>
            </a:r>
            <a:endParaRPr sz="1600">
              <a:solidFill>
                <a:srgbClr val="0F1115"/>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F1115"/>
              </a:buClr>
              <a:buSzPts val="1200"/>
              <a:buFont typeface="Roboto"/>
              <a:buChar char="○"/>
            </a:pPr>
            <a:r>
              <a:rPr lang="fr-FR" sz="1600">
                <a:solidFill>
                  <a:srgbClr val="0F1115"/>
                </a:solidFill>
                <a:highlight>
                  <a:srgbClr val="FFFFFF"/>
                </a:highlight>
                <a:latin typeface="Roboto"/>
                <a:ea typeface="Roboto"/>
                <a:cs typeface="Roboto"/>
                <a:sym typeface="Roboto"/>
              </a:rPr>
              <a:t>Mise en place d'un tunnel SSH (ex: sur le port </a:t>
            </a:r>
            <a:r>
              <a:rPr lang="fr-FR" sz="1450">
                <a:solidFill>
                  <a:srgbClr val="0F1115"/>
                </a:solidFill>
                <a:highlight>
                  <a:srgbClr val="EBEEF2"/>
                </a:highlight>
                <a:latin typeface="Roboto Mono"/>
                <a:ea typeface="Roboto Mono"/>
                <a:cs typeface="Roboto Mono"/>
                <a:sym typeface="Roboto Mono"/>
              </a:rPr>
              <a:t>5555</a:t>
            </a:r>
            <a:r>
              <a:rPr lang="fr-FR" sz="1600">
                <a:solidFill>
                  <a:srgbClr val="0F1115"/>
                </a:solidFill>
                <a:highlight>
                  <a:srgbClr val="FFFFFF"/>
                </a:highlight>
                <a:latin typeface="Roboto"/>
                <a:ea typeface="Roboto"/>
                <a:cs typeface="Roboto"/>
                <a:sym typeface="Roboto"/>
              </a:rPr>
              <a:t>) et configuration de FoxyProxy dans le navigateur pour accéder à l'interface Web de JupyterHub et au serveur d'historique Spark.</a:t>
            </a:r>
            <a:endParaRPr sz="1600">
              <a:solidFill>
                <a:srgbClr val="0F1115"/>
              </a:solidFill>
              <a:highlight>
                <a:srgbClr val="FFFFFF"/>
              </a:highlight>
              <a:latin typeface="Roboto"/>
              <a:ea typeface="Roboto"/>
              <a:cs typeface="Roboto"/>
              <a:sym typeface="Roboto"/>
            </a:endParaRPr>
          </a:p>
          <a:p>
            <a:pPr indent="-330200" lvl="1" marL="914400" rtl="0" algn="l">
              <a:lnSpc>
                <a:spcPct val="115000"/>
              </a:lnSpc>
              <a:spcBef>
                <a:spcPts val="0"/>
              </a:spcBef>
              <a:spcAft>
                <a:spcPts val="0"/>
              </a:spcAft>
              <a:buClr>
                <a:srgbClr val="0F1115"/>
              </a:buClr>
              <a:buSzPts val="1600"/>
              <a:buFont typeface="Roboto"/>
              <a:buChar char="○"/>
            </a:pPr>
            <a:r>
              <a:rPr lang="fr-FR" sz="1600">
                <a:solidFill>
                  <a:srgbClr val="0F1115"/>
                </a:solidFill>
                <a:highlight>
                  <a:srgbClr val="FFFFFF"/>
                </a:highlight>
                <a:latin typeface="Roboto"/>
                <a:ea typeface="Roboto"/>
                <a:cs typeface="Roboto"/>
                <a:sym typeface="Roboto"/>
              </a:rPr>
              <a:t>Le notebook de traitement est exécuté directement sur le cluster depuis JupyterHub.</a:t>
            </a:r>
            <a:endParaRPr sz="1600">
              <a:solidFill>
                <a:srgbClr val="0F1115"/>
              </a:solidFill>
              <a:highlight>
                <a:srgbClr val="FFFFFF"/>
              </a:highlight>
              <a:latin typeface="Roboto"/>
              <a:ea typeface="Roboto"/>
              <a:cs typeface="Roboto"/>
              <a:sym typeface="Roboto"/>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7"/>
          <p:cNvSpPr txBox="1"/>
          <p:nvPr>
            <p:ph idx="4294967295" type="body"/>
          </p:nvPr>
        </p:nvSpPr>
        <p:spPr>
          <a:xfrm>
            <a:off x="456480" y="529200"/>
            <a:ext cx="11128680" cy="5806800"/>
          </a:xfrm>
          <a:prstGeom prst="rect">
            <a:avLst/>
          </a:prstGeom>
          <a:noFill/>
          <a:ln>
            <a:noFill/>
          </a:ln>
        </p:spPr>
        <p:txBody>
          <a:bodyPr anchorCtr="0" anchor="t" bIns="45000" lIns="90000" spcFirstLastPara="1" rIns="90000" wrap="square" tIns="45000">
            <a:normAutofit/>
          </a:bodyPr>
          <a:lstStyle/>
          <a:p>
            <a:pPr indent="-228600" lvl="0" marL="228600" marR="0" rtl="0" algn="l">
              <a:lnSpc>
                <a:spcPct val="90000"/>
              </a:lnSpc>
              <a:spcBef>
                <a:spcPts val="0"/>
              </a:spcBef>
              <a:spcAft>
                <a:spcPts val="0"/>
              </a:spcAft>
              <a:buClr>
                <a:srgbClr val="00B050"/>
              </a:buClr>
              <a:buSzPts val="2800"/>
              <a:buFont typeface="Arial"/>
              <a:buChar char="•"/>
            </a:pPr>
            <a:r>
              <a:rPr b="1" i="1" lang="fr-FR" sz="2800" u="none" cap="none" strike="noStrike">
                <a:solidFill>
                  <a:srgbClr val="00B050"/>
                </a:solidFill>
                <a:latin typeface="Calibri"/>
                <a:ea typeface="Calibri"/>
                <a:cs typeface="Calibri"/>
                <a:sym typeface="Calibri"/>
              </a:rPr>
              <a:t>Stockage : système de fichiers distribué (ex : HDFS)</a:t>
            </a:r>
            <a:endParaRPr b="0" i="0" sz="28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00B050"/>
              </a:buClr>
              <a:buSzPts val="2800"/>
              <a:buFont typeface="Arial"/>
              <a:buChar char="•"/>
            </a:pPr>
            <a:r>
              <a:rPr b="1" i="1" lang="fr-FR" sz="2800" u="none" cap="none" strike="noStrike">
                <a:solidFill>
                  <a:srgbClr val="00B050"/>
                </a:solidFill>
                <a:latin typeface="Calibri"/>
                <a:ea typeface="Calibri"/>
                <a:cs typeface="Calibri"/>
                <a:sym typeface="Calibri"/>
              </a:rPr>
              <a:t>Tolérance aux pannes</a:t>
            </a:r>
            <a:endParaRPr b="0" i="0" sz="28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00B050"/>
              </a:buClr>
              <a:buSzPts val="2800"/>
              <a:buFont typeface="Arial"/>
              <a:buChar char="•"/>
            </a:pPr>
            <a:r>
              <a:rPr b="1" i="1" lang="fr-FR" sz="2800" u="none" cap="none" strike="noStrike">
                <a:solidFill>
                  <a:srgbClr val="00B050"/>
                </a:solidFill>
                <a:latin typeface="Calibri"/>
                <a:ea typeface="Calibri"/>
                <a:cs typeface="Calibri"/>
                <a:sym typeface="Calibri"/>
              </a:rPr>
              <a:t>Utilisation d'ensembles de données distribués résilients (RDD)</a:t>
            </a:r>
            <a:endParaRPr b="0" i="0" sz="28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00B050"/>
              </a:buClr>
              <a:buSzPts val="2800"/>
              <a:buFont typeface="Arial"/>
              <a:buChar char="•"/>
            </a:pPr>
            <a:r>
              <a:rPr b="1" i="1" lang="fr-FR" sz="2800" u="none" cap="none" strike="noStrike">
                <a:solidFill>
                  <a:srgbClr val="00B050"/>
                </a:solidFill>
                <a:latin typeface="Calibri"/>
                <a:ea typeface="Calibri"/>
                <a:cs typeface="Calibri"/>
                <a:sym typeface="Calibri"/>
              </a:rPr>
              <a:t>Duplication des données (c’est mon architecture (3 machines par défaut))</a:t>
            </a:r>
            <a:endParaRPr b="0" i="0" sz="28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00B050"/>
              </a:buClr>
              <a:buSzPts val="2800"/>
              <a:buFont typeface="Arial"/>
              <a:buChar char="•"/>
            </a:pPr>
            <a:r>
              <a:rPr b="1" i="1" lang="fr-FR" sz="2800" u="none" cap="none" strike="noStrike">
                <a:solidFill>
                  <a:srgbClr val="00B050"/>
                </a:solidFill>
                <a:latin typeface="Calibri"/>
                <a:ea typeface="Calibri"/>
                <a:cs typeface="Calibri"/>
                <a:sym typeface="Calibri"/>
              </a:rPr>
              <a:t>Division des données en partitions </a:t>
            </a:r>
            <a:endParaRPr b="0" i="0" sz="28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00B050"/>
              </a:buClr>
              <a:buSzPts val="2800"/>
              <a:buFont typeface="Arial"/>
              <a:buChar char="•"/>
            </a:pPr>
            <a:r>
              <a:rPr b="1" i="1" lang="fr-FR" sz="2800" u="none" cap="none" strike="noStrike">
                <a:solidFill>
                  <a:srgbClr val="00B050"/>
                </a:solidFill>
                <a:latin typeface="Calibri"/>
                <a:ea typeface="Calibri"/>
                <a:cs typeface="Calibri"/>
                <a:sym typeface="Calibri"/>
              </a:rPr>
              <a:t>Répartition : régénération à partir des nœuds parents</a:t>
            </a:r>
            <a:endParaRPr b="0" i="0" sz="28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00B050"/>
              </a:buClr>
              <a:buSzPts val="2800"/>
              <a:buFont typeface="Arial"/>
              <a:buChar char="•"/>
            </a:pPr>
            <a:r>
              <a:rPr b="1" i="1" lang="fr-FR" sz="2800" u="none" cap="none" strike="noStrike">
                <a:solidFill>
                  <a:srgbClr val="00B050"/>
                </a:solidFill>
                <a:latin typeface="Calibri"/>
                <a:ea typeface="Calibri"/>
                <a:cs typeface="Calibri"/>
                <a:sym typeface="Calibri"/>
              </a:rPr>
              <a:t>Nœuds (RDD ou Résultats) : liés par des actions et des transformations</a:t>
            </a:r>
            <a:endParaRPr b="0" i="0" sz="2800" u="none" cap="none" strike="noStrike">
              <a:latin typeface="Arial"/>
              <a:ea typeface="Arial"/>
              <a:cs typeface="Arial"/>
              <a:sym typeface="Arial"/>
            </a:endParaRPr>
          </a:p>
        </p:txBody>
      </p:sp>
      <p:pic>
        <p:nvPicPr>
          <p:cNvPr id="139" name="Google Shape;139;p17"/>
          <p:cNvPicPr preferRelativeResize="0"/>
          <p:nvPr/>
        </p:nvPicPr>
        <p:blipFill rotWithShape="1">
          <a:blip r:embed="rId3">
            <a:alphaModFix/>
          </a:blip>
          <a:srcRect b="0" l="0" r="0" t="0"/>
          <a:stretch/>
        </p:blipFill>
        <p:spPr>
          <a:xfrm>
            <a:off x="281880" y="4416480"/>
            <a:ext cx="8770680" cy="1940760"/>
          </a:xfrm>
          <a:prstGeom prst="rect">
            <a:avLst/>
          </a:prstGeom>
          <a:noFill/>
          <a:ln>
            <a:noFill/>
          </a:ln>
        </p:spPr>
      </p:pic>
    </p:spTree>
  </p:cSld>
  <p:clrMapOvr>
    <a:masterClrMapping/>
  </p:clrMapOvr>
  <p:transition spd="slow" p14:dur="1500">
    <p:random/>
  </p:transition>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pic>
        <p:nvPicPr>
          <p:cNvPr id="145" name="Google Shape;145;p19"/>
          <p:cNvPicPr preferRelativeResize="0"/>
          <p:nvPr/>
        </p:nvPicPr>
        <p:blipFill rotWithShape="1">
          <a:blip r:embed="rId3">
            <a:alphaModFix/>
          </a:blip>
          <a:srcRect b="0" l="0" r="0" t="0"/>
          <a:stretch/>
        </p:blipFill>
        <p:spPr>
          <a:xfrm>
            <a:off x="9093960" y="2356920"/>
            <a:ext cx="2428200" cy="1199160"/>
          </a:xfrm>
          <a:prstGeom prst="rect">
            <a:avLst/>
          </a:prstGeom>
          <a:noFill/>
          <a:ln>
            <a:noFill/>
          </a:ln>
        </p:spPr>
      </p:pic>
      <p:pic>
        <p:nvPicPr>
          <p:cNvPr id="146" name="Google Shape;146;p19"/>
          <p:cNvPicPr preferRelativeResize="0"/>
          <p:nvPr/>
        </p:nvPicPr>
        <p:blipFill rotWithShape="1">
          <a:blip r:embed="rId4">
            <a:alphaModFix/>
          </a:blip>
          <a:srcRect b="0" l="0" r="0" t="0"/>
          <a:stretch/>
        </p:blipFill>
        <p:spPr>
          <a:xfrm>
            <a:off x="3461040" y="2356920"/>
            <a:ext cx="4398480" cy="1097280"/>
          </a:xfrm>
          <a:prstGeom prst="rect">
            <a:avLst/>
          </a:prstGeom>
          <a:noFill/>
          <a:ln>
            <a:noFill/>
          </a:ln>
        </p:spPr>
      </p:pic>
      <p:pic>
        <p:nvPicPr>
          <p:cNvPr id="147" name="Google Shape;147;p19"/>
          <p:cNvPicPr preferRelativeResize="0"/>
          <p:nvPr/>
        </p:nvPicPr>
        <p:blipFill rotWithShape="1">
          <a:blip r:embed="rId5">
            <a:alphaModFix/>
          </a:blip>
          <a:srcRect b="0" l="0" r="0" t="0"/>
          <a:stretch/>
        </p:blipFill>
        <p:spPr>
          <a:xfrm>
            <a:off x="426240" y="2795040"/>
            <a:ext cx="1380600" cy="811440"/>
          </a:xfrm>
          <a:prstGeom prst="rect">
            <a:avLst/>
          </a:prstGeom>
          <a:noFill/>
          <a:ln>
            <a:noFill/>
          </a:ln>
        </p:spPr>
      </p:pic>
      <p:sp>
        <p:nvSpPr>
          <p:cNvPr id="148" name="Google Shape;148;p19"/>
          <p:cNvSpPr/>
          <p:nvPr/>
        </p:nvSpPr>
        <p:spPr>
          <a:xfrm>
            <a:off x="2748600" y="3205800"/>
            <a:ext cx="5347440" cy="2625840"/>
          </a:xfrm>
          <a:prstGeom prst="rect">
            <a:avLst/>
          </a:prstGeom>
          <a:solidFill>
            <a:schemeClr val="accent3"/>
          </a:solidFill>
          <a:ln cap="flat" cmpd="sng" w="12700">
            <a:solidFill>
              <a:srgbClr val="787878"/>
            </a:solidFill>
            <a:prstDash val="solid"/>
            <a:miter lim="8000"/>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9"/>
          <p:cNvSpPr/>
          <p:nvPr/>
        </p:nvSpPr>
        <p:spPr>
          <a:xfrm>
            <a:off x="118440" y="3566160"/>
            <a:ext cx="1948320" cy="1856880"/>
          </a:xfrm>
          <a:prstGeom prst="roundRect">
            <a:avLst>
              <a:gd fmla="val 16667" name="adj"/>
            </a:avLst>
          </a:prstGeom>
          <a:solidFill>
            <a:schemeClr val="accent1"/>
          </a:solidFill>
          <a:ln cap="flat" cmpd="sng" w="12700">
            <a:solidFill>
              <a:srgbClr val="3C5E26"/>
            </a:solidFill>
            <a:prstDash val="solid"/>
            <a:miter lim="8000"/>
            <a:headEnd len="sm" w="sm" type="none"/>
            <a:tailEnd len="sm" w="sm" type="none"/>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fr-FR" sz="1800" u="none" cap="none" strike="noStrike">
                <a:solidFill>
                  <a:srgbClr val="FFFFFF"/>
                </a:solidFill>
                <a:latin typeface="Calibri"/>
                <a:ea typeface="Calibri"/>
                <a:cs typeface="Calibri"/>
                <a:sym typeface="Calibri"/>
              </a:rPr>
              <a:t>Stockage des données sur un système pouvant être mis à l’échelle </a:t>
            </a:r>
            <a:endParaRPr b="0" i="0" sz="1800" u="none" cap="none" strike="noStrike">
              <a:latin typeface="Arial"/>
              <a:ea typeface="Arial"/>
              <a:cs typeface="Arial"/>
              <a:sym typeface="Arial"/>
            </a:endParaRPr>
          </a:p>
        </p:txBody>
      </p:sp>
      <p:sp>
        <p:nvSpPr>
          <p:cNvPr id="150" name="Google Shape;150;p19"/>
          <p:cNvSpPr/>
          <p:nvPr/>
        </p:nvSpPr>
        <p:spPr>
          <a:xfrm>
            <a:off x="2861640" y="3539160"/>
            <a:ext cx="2249280" cy="1905120"/>
          </a:xfrm>
          <a:prstGeom prst="roundRect">
            <a:avLst>
              <a:gd fmla="val 16667" name="adj"/>
            </a:avLst>
          </a:prstGeom>
          <a:solidFill>
            <a:schemeClr val="accent1"/>
          </a:solidFill>
          <a:ln cap="flat" cmpd="sng" w="12700">
            <a:solidFill>
              <a:srgbClr val="3C5E26"/>
            </a:solidFill>
            <a:prstDash val="solid"/>
            <a:miter lim="8000"/>
            <a:headEnd len="sm" w="sm" type="none"/>
            <a:tailEnd len="sm" w="sm" type="none"/>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fr-FR" sz="1800" u="none" cap="none" strike="noStrike">
                <a:solidFill>
                  <a:srgbClr val="FFFFFF"/>
                </a:solidFill>
                <a:latin typeface="Calibri"/>
                <a:ea typeface="Calibri"/>
                <a:cs typeface="Calibri"/>
                <a:sym typeface="Calibri"/>
              </a:rPr>
              <a:t>Chargement des données dans un format structuré</a:t>
            </a:r>
            <a:endParaRPr b="0" i="0" sz="1800" u="none" cap="none" strike="noStrike">
              <a:latin typeface="Arial"/>
              <a:ea typeface="Arial"/>
              <a:cs typeface="Arial"/>
              <a:sym typeface="Arial"/>
            </a:endParaRPr>
          </a:p>
        </p:txBody>
      </p:sp>
      <p:sp>
        <p:nvSpPr>
          <p:cNvPr id="151" name="Google Shape;151;p19"/>
          <p:cNvSpPr/>
          <p:nvPr/>
        </p:nvSpPr>
        <p:spPr>
          <a:xfrm>
            <a:off x="5470200" y="3539160"/>
            <a:ext cx="2469960" cy="1905120"/>
          </a:xfrm>
          <a:prstGeom prst="roundRect">
            <a:avLst>
              <a:gd fmla="val 16667" name="adj"/>
            </a:avLst>
          </a:prstGeom>
          <a:solidFill>
            <a:schemeClr val="accent1"/>
          </a:solidFill>
          <a:ln cap="flat" cmpd="sng" w="12700">
            <a:solidFill>
              <a:srgbClr val="3C5E26"/>
            </a:solidFill>
            <a:prstDash val="solid"/>
            <a:miter lim="8000"/>
            <a:headEnd len="sm" w="sm" type="none"/>
            <a:tailEnd len="sm" w="sm" type="none"/>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fr-FR" sz="1800" u="none" cap="none" strike="noStrike">
                <a:solidFill>
                  <a:srgbClr val="FFFFFF"/>
                </a:solidFill>
                <a:latin typeface="Calibri"/>
                <a:ea typeface="Calibri"/>
                <a:cs typeface="Calibri"/>
                <a:sym typeface="Calibri"/>
              </a:rPr>
              <a:t>Prétraitement des données par calcul distribué</a:t>
            </a:r>
            <a:endParaRPr b="0" i="0" sz="1800" u="none" cap="none" strike="noStrike">
              <a:latin typeface="Arial"/>
              <a:ea typeface="Arial"/>
              <a:cs typeface="Arial"/>
              <a:sym typeface="Arial"/>
            </a:endParaRPr>
          </a:p>
        </p:txBody>
      </p:sp>
      <p:sp>
        <p:nvSpPr>
          <p:cNvPr id="152" name="Google Shape;152;p19"/>
          <p:cNvSpPr/>
          <p:nvPr/>
        </p:nvSpPr>
        <p:spPr>
          <a:xfrm>
            <a:off x="9063360" y="3463920"/>
            <a:ext cx="2459160" cy="2319480"/>
          </a:xfrm>
          <a:prstGeom prst="roundRect">
            <a:avLst>
              <a:gd fmla="val 16667" name="adj"/>
            </a:avLst>
          </a:prstGeom>
          <a:solidFill>
            <a:schemeClr val="accent1"/>
          </a:solidFill>
          <a:ln cap="flat" cmpd="sng" w="12700">
            <a:solidFill>
              <a:srgbClr val="3C5E26"/>
            </a:solidFill>
            <a:prstDash val="solid"/>
            <a:miter lim="8000"/>
            <a:headEnd len="sm" w="sm" type="none"/>
            <a:tailEnd len="sm" w="sm" type="none"/>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fr-FR" sz="1800" u="none" cap="none" strike="noStrike">
                <a:solidFill>
                  <a:srgbClr val="FFFFFF"/>
                </a:solidFill>
                <a:latin typeface="Calibri"/>
                <a:ea typeface="Calibri"/>
                <a:cs typeface="Calibri"/>
                <a:sym typeface="Calibri"/>
              </a:rPr>
              <a:t>Stockage des résultats du prétraitement</a:t>
            </a:r>
            <a:endParaRPr b="0" i="0" sz="1800" u="none" cap="none" strike="noStrike">
              <a:latin typeface="Arial"/>
              <a:ea typeface="Arial"/>
              <a:cs typeface="Arial"/>
              <a:sym typeface="Arial"/>
            </a:endParaRPr>
          </a:p>
        </p:txBody>
      </p:sp>
      <p:sp>
        <p:nvSpPr>
          <p:cNvPr id="153" name="Google Shape;153;p19"/>
          <p:cNvSpPr/>
          <p:nvPr/>
        </p:nvSpPr>
        <p:spPr>
          <a:xfrm>
            <a:off x="2100600" y="4472640"/>
            <a:ext cx="360" cy="360"/>
          </a:xfrm>
          <a:custGeom>
            <a:rect b="b" l="l" r="r" t="t"/>
            <a:pathLst>
              <a:path extrusionOk="0" h="21600" w="21600">
                <a:moveTo>
                  <a:pt x="0" y="0"/>
                </a:moveTo>
                <a:lnTo>
                  <a:pt x="21600" y="21600"/>
                </a:lnTo>
              </a:path>
            </a:pathLst>
          </a:custGeom>
          <a:noFill/>
          <a:ln cap="flat" cmpd="sng" w="9525">
            <a:solidFill>
              <a:srgbClr val="538135"/>
            </a:solidFill>
            <a:prstDash val="solid"/>
            <a:miter lim="8000"/>
            <a:headEnd len="sm" w="sm" type="none"/>
            <a:tailEnd len="med" w="med" type="triangle"/>
          </a:ln>
        </p:spPr>
      </p:sp>
      <p:sp>
        <p:nvSpPr>
          <p:cNvPr id="154" name="Google Shape;154;p19"/>
          <p:cNvSpPr/>
          <p:nvPr/>
        </p:nvSpPr>
        <p:spPr>
          <a:xfrm>
            <a:off x="2146320" y="4496760"/>
            <a:ext cx="560520" cy="360"/>
          </a:xfrm>
          <a:custGeom>
            <a:rect b="b" l="l" r="r" t="t"/>
            <a:pathLst>
              <a:path extrusionOk="0" h="21600" w="21600">
                <a:moveTo>
                  <a:pt x="0" y="0"/>
                </a:moveTo>
                <a:lnTo>
                  <a:pt x="21600" y="21600"/>
                </a:lnTo>
              </a:path>
            </a:pathLst>
          </a:custGeom>
          <a:noFill/>
          <a:ln cap="flat" cmpd="sng" w="57150">
            <a:solidFill>
              <a:srgbClr val="538135"/>
            </a:solidFill>
            <a:prstDash val="solid"/>
            <a:miter lim="8000"/>
            <a:headEnd len="sm" w="sm" type="none"/>
            <a:tailEnd len="med" w="med" type="triangle"/>
          </a:ln>
        </p:spPr>
      </p:sp>
      <p:sp>
        <p:nvSpPr>
          <p:cNvPr id="155" name="Google Shape;155;p19"/>
          <p:cNvSpPr/>
          <p:nvPr/>
        </p:nvSpPr>
        <p:spPr>
          <a:xfrm>
            <a:off x="8156160" y="4496760"/>
            <a:ext cx="560520" cy="360"/>
          </a:xfrm>
          <a:custGeom>
            <a:rect b="b" l="l" r="r" t="t"/>
            <a:pathLst>
              <a:path extrusionOk="0" h="21600" w="21600">
                <a:moveTo>
                  <a:pt x="0" y="0"/>
                </a:moveTo>
                <a:lnTo>
                  <a:pt x="21600" y="21600"/>
                </a:lnTo>
              </a:path>
            </a:pathLst>
          </a:custGeom>
          <a:noFill/>
          <a:ln cap="flat" cmpd="sng" w="57150">
            <a:solidFill>
              <a:srgbClr val="538135"/>
            </a:solidFill>
            <a:prstDash val="solid"/>
            <a:miter lim="8000"/>
            <a:headEnd len="sm" w="sm" type="none"/>
            <a:tailEnd len="med" w="med" type="triangle"/>
          </a:ln>
        </p:spPr>
      </p:sp>
      <p:sp>
        <p:nvSpPr>
          <p:cNvPr id="156" name="Google Shape;156;p19"/>
          <p:cNvSpPr/>
          <p:nvPr/>
        </p:nvSpPr>
        <p:spPr>
          <a:xfrm>
            <a:off x="4375080" y="748080"/>
            <a:ext cx="3675960" cy="516240"/>
          </a:xfrm>
          <a:prstGeom prst="rect">
            <a:avLst/>
          </a:prstGeom>
          <a:noFill/>
          <a:ln>
            <a:noFill/>
          </a:ln>
        </p:spPr>
        <p:txBody>
          <a:bodyPr anchorCtr="0" anchor="t" bIns="45000" lIns="90000" spcFirstLastPara="1" rIns="90000" wrap="square" tIns="45000">
            <a:spAutoFit/>
          </a:bodyPr>
          <a:lstStyle/>
          <a:p>
            <a:pPr indent="0" lvl="0" marL="0" marR="0" rtl="0" algn="ctr">
              <a:lnSpc>
                <a:spcPct val="100000"/>
              </a:lnSpc>
              <a:spcBef>
                <a:spcPts val="0"/>
              </a:spcBef>
              <a:spcAft>
                <a:spcPts val="0"/>
              </a:spcAft>
              <a:buNone/>
            </a:pPr>
            <a:r>
              <a:rPr b="1" i="0" lang="fr-FR" sz="2800" u="none" cap="none" strike="noStrike">
                <a:solidFill>
                  <a:srgbClr val="0F47A6"/>
                </a:solidFill>
                <a:latin typeface="Yeseva One"/>
                <a:ea typeface="Yeseva One"/>
                <a:cs typeface="Yeseva One"/>
                <a:sym typeface="Yeseva One"/>
              </a:rPr>
              <a:t>Méthodologie</a:t>
            </a:r>
            <a:endParaRPr b="0" i="0" sz="2800" u="none" cap="none" strike="noStrike">
              <a:latin typeface="Arial"/>
              <a:ea typeface="Arial"/>
              <a:cs typeface="Arial"/>
              <a:sym typeface="Arial"/>
            </a:endParaRPr>
          </a:p>
        </p:txBody>
      </p:sp>
    </p:spTree>
  </p:cSld>
  <p:clrMapOvr>
    <a:masterClrMapping/>
  </p:clrMapOvr>
  <p:transition spd="slow" p14:dur="1500">
    <p:random/>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6"/>
                                        </p:tgtEl>
                                        <p:attrNameLst>
                                          <p:attrName>style.visibility</p:attrName>
                                        </p:attrNameLst>
                                      </p:cBhvr>
                                      <p:to>
                                        <p:strVal val="visible"/>
                                      </p:to>
                                    </p:set>
                                    <p:animEffect filter="fade" transition="in">
                                      <p:cBhvr>
                                        <p:cTn dur="500"/>
                                        <p:tgtEl>
                                          <p:spTgt spid="1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20"/>
          <p:cNvSpPr/>
          <p:nvPr/>
        </p:nvSpPr>
        <p:spPr>
          <a:xfrm>
            <a:off x="589680" y="1387800"/>
            <a:ext cx="1605600" cy="2238480"/>
          </a:xfrm>
          <a:prstGeom prst="roundRect">
            <a:avLst>
              <a:gd fmla="val 16667" name="adj"/>
            </a:avLst>
          </a:prstGeom>
          <a:solidFill>
            <a:schemeClr val="accent1"/>
          </a:solidFill>
          <a:ln cap="flat" cmpd="sng" w="12700">
            <a:solidFill>
              <a:srgbClr val="3C5E26"/>
            </a:solidFill>
            <a:prstDash val="solid"/>
            <a:miter lim="8000"/>
            <a:headEnd len="sm" w="sm" type="none"/>
            <a:tailEnd len="sm" w="sm" type="none"/>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fr-FR" sz="1800" u="none" cap="none" strike="noStrike">
                <a:solidFill>
                  <a:srgbClr val="FFFFFF"/>
                </a:solidFill>
                <a:latin typeface="Calibri"/>
                <a:ea typeface="Calibri"/>
                <a:cs typeface="Calibri"/>
                <a:sym typeface="Calibri"/>
              </a:rPr>
              <a:t>Création d’un SparkContext </a:t>
            </a:r>
            <a:endParaRPr b="0" i="0" sz="1800" u="none" cap="none" strike="noStrike">
              <a:latin typeface="Arial"/>
              <a:ea typeface="Arial"/>
              <a:cs typeface="Arial"/>
              <a:sym typeface="Arial"/>
            </a:endParaRPr>
          </a:p>
        </p:txBody>
      </p:sp>
      <p:sp>
        <p:nvSpPr>
          <p:cNvPr id="162" name="Google Shape;162;p20"/>
          <p:cNvSpPr/>
          <p:nvPr/>
        </p:nvSpPr>
        <p:spPr>
          <a:xfrm>
            <a:off x="2527920" y="1387800"/>
            <a:ext cx="1566360" cy="2238480"/>
          </a:xfrm>
          <a:prstGeom prst="roundRect">
            <a:avLst>
              <a:gd fmla="val 16667" name="adj"/>
            </a:avLst>
          </a:prstGeom>
          <a:solidFill>
            <a:schemeClr val="accent1"/>
          </a:solidFill>
          <a:ln cap="flat" cmpd="sng" w="12700">
            <a:solidFill>
              <a:srgbClr val="3C5E26"/>
            </a:solidFill>
            <a:prstDash val="solid"/>
            <a:miter lim="8000"/>
            <a:headEnd len="sm" w="sm" type="none"/>
            <a:tailEnd len="sm" w="sm" type="none"/>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fr-FR" sz="1800" u="none" cap="none" strike="noStrike">
                <a:solidFill>
                  <a:srgbClr val="FFFFFF"/>
                </a:solidFill>
                <a:latin typeface="Calibri"/>
                <a:ea typeface="Calibri"/>
                <a:cs typeface="Calibri"/>
                <a:sym typeface="Calibri"/>
              </a:rPr>
              <a:t>Chargement des images dans l’arborescence: stockage dans un spark DataFrame</a:t>
            </a:r>
            <a:endParaRPr b="0" i="0" sz="1800" u="none" cap="none" strike="noStrike">
              <a:latin typeface="Arial"/>
              <a:ea typeface="Arial"/>
              <a:cs typeface="Arial"/>
              <a:sym typeface="Arial"/>
            </a:endParaRPr>
          </a:p>
        </p:txBody>
      </p:sp>
      <p:sp>
        <p:nvSpPr>
          <p:cNvPr id="163" name="Google Shape;163;p20"/>
          <p:cNvSpPr/>
          <p:nvPr/>
        </p:nvSpPr>
        <p:spPr>
          <a:xfrm>
            <a:off x="4466160" y="1330200"/>
            <a:ext cx="1566360" cy="2238480"/>
          </a:xfrm>
          <a:prstGeom prst="roundRect">
            <a:avLst>
              <a:gd fmla="val 16667" name="adj"/>
            </a:avLst>
          </a:prstGeom>
          <a:solidFill>
            <a:schemeClr val="accent1"/>
          </a:solidFill>
          <a:ln cap="flat" cmpd="sng" w="12700">
            <a:solidFill>
              <a:srgbClr val="3C5E26"/>
            </a:solidFill>
            <a:prstDash val="solid"/>
            <a:miter lim="8000"/>
            <a:headEnd len="sm" w="sm" type="none"/>
            <a:tailEnd len="sm" w="sm" type="none"/>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fr-FR" sz="1800" u="none" cap="none" strike="noStrike">
                <a:solidFill>
                  <a:srgbClr val="FFFFFF"/>
                </a:solidFill>
                <a:latin typeface="Calibri"/>
                <a:ea typeface="Calibri"/>
                <a:cs typeface="Calibri"/>
                <a:sym typeface="Calibri"/>
              </a:rPr>
              <a:t>Extraction du chemin vers chaque fichier</a:t>
            </a:r>
            <a:endParaRPr b="0" i="0" sz="1800" u="none" cap="none" strike="noStrike">
              <a:latin typeface="Arial"/>
              <a:ea typeface="Arial"/>
              <a:cs typeface="Arial"/>
              <a:sym typeface="Arial"/>
            </a:endParaRPr>
          </a:p>
        </p:txBody>
      </p:sp>
      <p:sp>
        <p:nvSpPr>
          <p:cNvPr id="164" name="Google Shape;164;p20"/>
          <p:cNvSpPr/>
          <p:nvPr/>
        </p:nvSpPr>
        <p:spPr>
          <a:xfrm>
            <a:off x="6404400" y="1387800"/>
            <a:ext cx="1566360" cy="2238480"/>
          </a:xfrm>
          <a:prstGeom prst="roundRect">
            <a:avLst>
              <a:gd fmla="val 16667" name="adj"/>
            </a:avLst>
          </a:prstGeom>
          <a:solidFill>
            <a:schemeClr val="accent1"/>
          </a:solidFill>
          <a:ln cap="flat" cmpd="sng" w="12700">
            <a:solidFill>
              <a:srgbClr val="3C5E26"/>
            </a:solidFill>
            <a:prstDash val="solid"/>
            <a:miter lim="8000"/>
            <a:headEnd len="sm" w="sm" type="none"/>
            <a:tailEnd len="sm" w="sm" type="none"/>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fr-FR" sz="1800" u="none" cap="none" strike="noStrike">
                <a:solidFill>
                  <a:srgbClr val="FFFFFF"/>
                </a:solidFill>
                <a:latin typeface="Calibri"/>
                <a:ea typeface="Calibri"/>
                <a:cs typeface="Calibri"/>
                <a:sym typeface="Calibri"/>
              </a:rPr>
              <a:t>Obtention de la catégorie du fruit (split String du nom de dossier)</a:t>
            </a:r>
            <a:endParaRPr b="0" i="0" sz="1800" u="none" cap="none" strike="noStrike">
              <a:latin typeface="Arial"/>
              <a:ea typeface="Arial"/>
              <a:cs typeface="Arial"/>
              <a:sym typeface="Arial"/>
            </a:endParaRPr>
          </a:p>
        </p:txBody>
      </p:sp>
      <p:sp>
        <p:nvSpPr>
          <p:cNvPr id="165" name="Google Shape;165;p20"/>
          <p:cNvSpPr/>
          <p:nvPr/>
        </p:nvSpPr>
        <p:spPr>
          <a:xfrm>
            <a:off x="8342640" y="1387800"/>
            <a:ext cx="1566360" cy="2238480"/>
          </a:xfrm>
          <a:prstGeom prst="roundRect">
            <a:avLst>
              <a:gd fmla="val 16667" name="adj"/>
            </a:avLst>
          </a:prstGeom>
          <a:solidFill>
            <a:schemeClr val="accent1"/>
          </a:solidFill>
          <a:ln cap="flat" cmpd="sng" w="12700">
            <a:solidFill>
              <a:srgbClr val="3C5E26"/>
            </a:solidFill>
            <a:prstDash val="solid"/>
            <a:miter lim="8000"/>
            <a:headEnd len="sm" w="sm" type="none"/>
            <a:tailEnd len="sm" w="sm" type="none"/>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fr-FR" sz="1800" u="none" cap="none" strike="noStrike">
                <a:solidFill>
                  <a:srgbClr val="FFFFFF"/>
                </a:solidFill>
                <a:latin typeface="Calibri"/>
                <a:ea typeface="Calibri"/>
                <a:cs typeface="Calibri"/>
                <a:sym typeface="Calibri"/>
              </a:rPr>
              <a:t>Prétraitement et Réduction Dimensionnelle</a:t>
            </a:r>
            <a:endParaRPr b="0" i="0" sz="1800" u="none" cap="none" strike="noStrike">
              <a:latin typeface="Arial"/>
              <a:ea typeface="Arial"/>
              <a:cs typeface="Arial"/>
              <a:sym typeface="Arial"/>
            </a:endParaRPr>
          </a:p>
        </p:txBody>
      </p:sp>
      <p:sp>
        <p:nvSpPr>
          <p:cNvPr id="166" name="Google Shape;166;p20"/>
          <p:cNvSpPr/>
          <p:nvPr/>
        </p:nvSpPr>
        <p:spPr>
          <a:xfrm>
            <a:off x="10280880" y="1359000"/>
            <a:ext cx="1566360" cy="2238480"/>
          </a:xfrm>
          <a:prstGeom prst="roundRect">
            <a:avLst>
              <a:gd fmla="val 16667" name="adj"/>
            </a:avLst>
          </a:prstGeom>
          <a:solidFill>
            <a:schemeClr val="accent1"/>
          </a:solidFill>
          <a:ln cap="flat" cmpd="sng" w="12700">
            <a:solidFill>
              <a:srgbClr val="3C5E26"/>
            </a:solidFill>
            <a:prstDash val="solid"/>
            <a:miter lim="8000"/>
            <a:headEnd len="sm" w="sm" type="none"/>
            <a:tailEnd len="sm" w="sm" type="none"/>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fr-FR" sz="1800" u="none" cap="none" strike="noStrike">
                <a:solidFill>
                  <a:srgbClr val="FFFFFF"/>
                </a:solidFill>
                <a:latin typeface="Calibri"/>
                <a:ea typeface="Calibri"/>
                <a:cs typeface="Calibri"/>
                <a:sym typeface="Calibri"/>
              </a:rPr>
              <a:t>Enregistrement au format « Parquet »</a:t>
            </a:r>
            <a:endParaRPr b="0" i="0" sz="1800" u="none" cap="none" strike="noStrike">
              <a:latin typeface="Arial"/>
              <a:ea typeface="Arial"/>
              <a:cs typeface="Arial"/>
              <a:sym typeface="Arial"/>
            </a:endParaRPr>
          </a:p>
        </p:txBody>
      </p:sp>
      <p:sp>
        <p:nvSpPr>
          <p:cNvPr id="167" name="Google Shape;167;p20"/>
          <p:cNvSpPr/>
          <p:nvPr/>
        </p:nvSpPr>
        <p:spPr>
          <a:xfrm>
            <a:off x="702720" y="4295160"/>
            <a:ext cx="6086160" cy="912600"/>
          </a:xfrm>
          <a:prstGeom prst="rect">
            <a:avLst/>
          </a:prstGeom>
          <a:noFill/>
          <a:ln>
            <a:noFill/>
          </a:ln>
        </p:spPr>
        <p:txBody>
          <a:bodyPr anchorCtr="0" anchor="t" bIns="45000" lIns="90000" spcFirstLastPara="1" rIns="90000" wrap="square" tIns="45000">
            <a:spAutoFit/>
          </a:bodyPr>
          <a:lstStyle/>
          <a:p>
            <a:pPr indent="0" lvl="0" marL="0" marR="0" rtl="0" algn="l">
              <a:lnSpc>
                <a:spcPct val="100000"/>
              </a:lnSpc>
              <a:spcBef>
                <a:spcPts val="0"/>
              </a:spcBef>
              <a:spcAft>
                <a:spcPts val="0"/>
              </a:spcAft>
              <a:buNone/>
            </a:pPr>
            <a:r>
              <a:rPr b="1" i="1" lang="fr-FR" sz="1800" u="none" cap="none" strike="noStrike">
                <a:solidFill>
                  <a:srgbClr val="C00000"/>
                </a:solidFill>
                <a:latin typeface="Calibri"/>
                <a:ea typeface="Calibri"/>
                <a:cs typeface="Calibri"/>
                <a:sym typeface="Calibri"/>
              </a:rPr>
              <a:t>Les calculs ne sont réellement exécutés que lorsqu’une action est réalisée : affichage des données, enregistrement, requête, etc…</a:t>
            </a:r>
            <a:endParaRPr b="0" i="0" sz="1800" u="none" cap="none" strike="noStrike">
              <a:latin typeface="Arial"/>
              <a:ea typeface="Arial"/>
              <a:cs typeface="Arial"/>
              <a:sym typeface="Arial"/>
            </a:endParaRPr>
          </a:p>
        </p:txBody>
      </p:sp>
      <p:pic>
        <p:nvPicPr>
          <p:cNvPr id="168" name="Google Shape;168;p20"/>
          <p:cNvPicPr preferRelativeResize="0"/>
          <p:nvPr/>
        </p:nvPicPr>
        <p:blipFill rotWithShape="1">
          <a:blip r:embed="rId3">
            <a:alphaModFix/>
          </a:blip>
          <a:srcRect b="0" l="0" r="0" t="0"/>
          <a:stretch/>
        </p:blipFill>
        <p:spPr>
          <a:xfrm>
            <a:off x="2527920" y="5059800"/>
            <a:ext cx="1765800" cy="1609560"/>
          </a:xfrm>
          <a:prstGeom prst="rect">
            <a:avLst/>
          </a:prstGeom>
          <a:noFill/>
          <a:ln>
            <a:noFill/>
          </a:ln>
        </p:spPr>
      </p:pic>
      <p:pic>
        <p:nvPicPr>
          <p:cNvPr id="169" name="Google Shape;169;p20"/>
          <p:cNvPicPr preferRelativeResize="0"/>
          <p:nvPr/>
        </p:nvPicPr>
        <p:blipFill rotWithShape="1">
          <a:blip r:embed="rId4">
            <a:alphaModFix/>
          </a:blip>
          <a:srcRect b="0" l="0" r="0" t="0"/>
          <a:stretch/>
        </p:blipFill>
        <p:spPr>
          <a:xfrm>
            <a:off x="6790320" y="4813920"/>
            <a:ext cx="4952520" cy="1724760"/>
          </a:xfrm>
          <a:prstGeom prst="rect">
            <a:avLst/>
          </a:prstGeom>
          <a:noFill/>
          <a:ln>
            <a:noFill/>
          </a:ln>
        </p:spPr>
      </p:pic>
      <p:sp>
        <p:nvSpPr>
          <p:cNvPr id="170" name="Google Shape;170;p20"/>
          <p:cNvSpPr/>
          <p:nvPr/>
        </p:nvSpPr>
        <p:spPr>
          <a:xfrm>
            <a:off x="702720" y="3551400"/>
            <a:ext cx="1566360" cy="638280"/>
          </a:xfrm>
          <a:prstGeom prst="rect">
            <a:avLst/>
          </a:prstGeom>
          <a:noFill/>
          <a:ln>
            <a:noFill/>
          </a:ln>
        </p:spPr>
        <p:txBody>
          <a:bodyPr anchorCtr="0" anchor="t" bIns="45000" lIns="90000" spcFirstLastPara="1" rIns="90000" wrap="square" tIns="45000">
            <a:spAutoFit/>
          </a:bodyPr>
          <a:lstStyle/>
          <a:p>
            <a:pPr indent="0" lvl="0" marL="0" marR="0" rtl="0" algn="l">
              <a:lnSpc>
                <a:spcPct val="100000"/>
              </a:lnSpc>
              <a:spcBef>
                <a:spcPts val="0"/>
              </a:spcBef>
              <a:spcAft>
                <a:spcPts val="0"/>
              </a:spcAft>
              <a:buNone/>
            </a:pPr>
            <a:r>
              <a:rPr b="0" i="0" lang="fr-FR" sz="1800" u="none" cap="none" strike="noStrike">
                <a:solidFill>
                  <a:srgbClr val="000000"/>
                </a:solidFill>
                <a:latin typeface="Calibri"/>
                <a:ea typeface="Calibri"/>
                <a:cs typeface="Calibri"/>
                <a:sym typeface="Calibri"/>
              </a:rPr>
              <a:t>SparkContext. getOrCreate()</a:t>
            </a:r>
            <a:endParaRPr b="0" i="0" sz="1800" u="none" cap="none" strike="noStrike">
              <a:latin typeface="Arial"/>
              <a:ea typeface="Arial"/>
              <a:cs typeface="Arial"/>
              <a:sym typeface="Arial"/>
            </a:endParaRPr>
          </a:p>
        </p:txBody>
      </p:sp>
      <p:sp>
        <p:nvSpPr>
          <p:cNvPr id="171" name="Google Shape;171;p20"/>
          <p:cNvSpPr/>
          <p:nvPr/>
        </p:nvSpPr>
        <p:spPr>
          <a:xfrm>
            <a:off x="4948560" y="5681520"/>
            <a:ext cx="1571760" cy="360"/>
          </a:xfrm>
          <a:custGeom>
            <a:rect b="b" l="l" r="r" t="t"/>
            <a:pathLst>
              <a:path extrusionOk="0" h="21600" w="21600">
                <a:moveTo>
                  <a:pt x="0" y="0"/>
                </a:moveTo>
                <a:lnTo>
                  <a:pt x="21600" y="21600"/>
                </a:lnTo>
              </a:path>
            </a:pathLst>
          </a:custGeom>
          <a:noFill/>
          <a:ln cap="flat" cmpd="sng" w="76200">
            <a:solidFill>
              <a:srgbClr val="538135"/>
            </a:solidFill>
            <a:prstDash val="solid"/>
            <a:miter lim="8000"/>
            <a:headEnd len="sm" w="sm" type="none"/>
            <a:tailEnd len="med" w="med" type="triangle"/>
          </a:ln>
        </p:spPr>
      </p:sp>
      <p:sp>
        <p:nvSpPr>
          <p:cNvPr id="172" name="Google Shape;172;p20"/>
          <p:cNvSpPr/>
          <p:nvPr/>
        </p:nvSpPr>
        <p:spPr>
          <a:xfrm>
            <a:off x="2731680" y="3692520"/>
            <a:ext cx="1358280" cy="363960"/>
          </a:xfrm>
          <a:prstGeom prst="rect">
            <a:avLst/>
          </a:prstGeom>
          <a:noFill/>
          <a:ln>
            <a:noFill/>
          </a:ln>
        </p:spPr>
        <p:txBody>
          <a:bodyPr anchorCtr="0" anchor="t" bIns="45000" lIns="90000" spcFirstLastPara="1" rIns="90000" wrap="square" tIns="45000">
            <a:spAutoFit/>
          </a:bodyPr>
          <a:lstStyle/>
          <a:p>
            <a:pPr indent="0" lvl="0" marL="0" marR="0" rtl="0" algn="l">
              <a:lnSpc>
                <a:spcPct val="100000"/>
              </a:lnSpc>
              <a:spcBef>
                <a:spcPts val="0"/>
              </a:spcBef>
              <a:spcAft>
                <a:spcPts val="0"/>
              </a:spcAft>
              <a:buNone/>
            </a:pPr>
            <a:r>
              <a:rPr b="0" i="0" lang="fr-FR" sz="1800" u="none" cap="none" strike="noStrike">
                <a:solidFill>
                  <a:srgbClr val="000000"/>
                </a:solidFill>
                <a:latin typeface="Calibri"/>
                <a:ea typeface="Calibri"/>
                <a:cs typeface="Calibri"/>
                <a:sym typeface="Calibri"/>
              </a:rPr>
              <a:t>spark.read() </a:t>
            </a:r>
            <a:endParaRPr b="0" i="0" sz="1800" u="none" cap="none" strike="noStrike">
              <a:latin typeface="Arial"/>
              <a:ea typeface="Arial"/>
              <a:cs typeface="Arial"/>
              <a:sym typeface="Arial"/>
            </a:endParaRPr>
          </a:p>
        </p:txBody>
      </p:sp>
      <p:sp>
        <p:nvSpPr>
          <p:cNvPr id="173" name="Google Shape;173;p20"/>
          <p:cNvSpPr/>
          <p:nvPr/>
        </p:nvSpPr>
        <p:spPr>
          <a:xfrm>
            <a:off x="4370400" y="3690000"/>
            <a:ext cx="1870920" cy="363960"/>
          </a:xfrm>
          <a:prstGeom prst="rect">
            <a:avLst/>
          </a:prstGeom>
          <a:noFill/>
          <a:ln>
            <a:noFill/>
          </a:ln>
        </p:spPr>
        <p:txBody>
          <a:bodyPr anchorCtr="0" anchor="t" bIns="45000" lIns="90000" spcFirstLastPara="1" rIns="90000" wrap="square" tIns="45000">
            <a:spAutoFit/>
          </a:bodyPr>
          <a:lstStyle/>
          <a:p>
            <a:pPr indent="0" lvl="0" marL="0" marR="0" rtl="0" algn="l">
              <a:lnSpc>
                <a:spcPct val="100000"/>
              </a:lnSpc>
              <a:spcBef>
                <a:spcPts val="0"/>
              </a:spcBef>
              <a:spcAft>
                <a:spcPts val="0"/>
              </a:spcAft>
              <a:buNone/>
            </a:pPr>
            <a:r>
              <a:rPr b="0" i="0" lang="fr-FR" sz="1800" u="none" cap="none" strike="noStrike">
                <a:solidFill>
                  <a:srgbClr val="000000"/>
                </a:solidFill>
                <a:latin typeface="Calibri"/>
                <a:ea typeface="Calibri"/>
                <a:cs typeface="Calibri"/>
                <a:sym typeface="Calibri"/>
              </a:rPr>
              <a:t>Input_file_name()</a:t>
            </a:r>
            <a:endParaRPr b="0" i="0" sz="1800" u="none" cap="none" strike="noStrike">
              <a:latin typeface="Arial"/>
              <a:ea typeface="Arial"/>
              <a:cs typeface="Arial"/>
              <a:sym typeface="Arial"/>
            </a:endParaRPr>
          </a:p>
        </p:txBody>
      </p:sp>
      <p:sp>
        <p:nvSpPr>
          <p:cNvPr id="174" name="Google Shape;174;p20"/>
          <p:cNvSpPr/>
          <p:nvPr/>
        </p:nvSpPr>
        <p:spPr>
          <a:xfrm>
            <a:off x="6956640" y="3694680"/>
            <a:ext cx="570960" cy="638280"/>
          </a:xfrm>
          <a:prstGeom prst="rect">
            <a:avLst/>
          </a:prstGeom>
          <a:noFill/>
          <a:ln>
            <a:noFill/>
          </a:ln>
        </p:spPr>
        <p:txBody>
          <a:bodyPr anchorCtr="0" anchor="t" bIns="45000" lIns="90000" spcFirstLastPara="1" rIns="90000" wrap="square" tIns="45000">
            <a:spAutoFit/>
          </a:bodyPr>
          <a:lstStyle/>
          <a:p>
            <a:pPr indent="0" lvl="0" marL="0" marR="0" rtl="0" algn="l">
              <a:lnSpc>
                <a:spcPct val="100000"/>
              </a:lnSpc>
              <a:spcBef>
                <a:spcPts val="0"/>
              </a:spcBef>
              <a:spcAft>
                <a:spcPts val="0"/>
              </a:spcAft>
              <a:buNone/>
            </a:pPr>
            <a:r>
              <a:rPr b="0" i="0" lang="fr-FR" sz="1800" u="none" cap="none" strike="noStrike">
                <a:solidFill>
                  <a:srgbClr val="000000"/>
                </a:solidFill>
                <a:latin typeface="Calibri"/>
                <a:ea typeface="Calibri"/>
                <a:cs typeface="Calibri"/>
                <a:sym typeface="Calibri"/>
              </a:rPr>
              <a:t>UDF</a:t>
            </a:r>
            <a:endParaRPr b="0" i="0" sz="1800" u="none" cap="none" strike="noStrike">
              <a:latin typeface="Arial"/>
              <a:ea typeface="Arial"/>
              <a:cs typeface="Arial"/>
              <a:sym typeface="Arial"/>
            </a:endParaRPr>
          </a:p>
        </p:txBody>
      </p:sp>
      <p:sp>
        <p:nvSpPr>
          <p:cNvPr id="175" name="Google Shape;175;p20"/>
          <p:cNvSpPr/>
          <p:nvPr/>
        </p:nvSpPr>
        <p:spPr>
          <a:xfrm>
            <a:off x="8588160" y="3690000"/>
            <a:ext cx="1075320" cy="363960"/>
          </a:xfrm>
          <a:prstGeom prst="rect">
            <a:avLst/>
          </a:prstGeom>
          <a:noFill/>
          <a:ln>
            <a:noFill/>
          </a:ln>
        </p:spPr>
        <p:txBody>
          <a:bodyPr anchorCtr="0" anchor="t" bIns="45000" lIns="90000" spcFirstLastPara="1" rIns="90000" wrap="square" tIns="45000">
            <a:spAutoFit/>
          </a:bodyPr>
          <a:lstStyle/>
          <a:p>
            <a:pPr indent="0" lvl="0" marL="0" marR="0" rtl="0" algn="l">
              <a:lnSpc>
                <a:spcPct val="100000"/>
              </a:lnSpc>
              <a:spcBef>
                <a:spcPts val="0"/>
              </a:spcBef>
              <a:spcAft>
                <a:spcPts val="0"/>
              </a:spcAft>
              <a:buNone/>
            </a:pPr>
            <a:r>
              <a:rPr b="0" i="0" lang="fr-FR" sz="1800" u="none" cap="none" strike="noStrike">
                <a:solidFill>
                  <a:srgbClr val="000000"/>
                </a:solidFill>
                <a:latin typeface="Calibri"/>
                <a:ea typeface="Calibri"/>
                <a:cs typeface="Calibri"/>
                <a:sym typeface="Calibri"/>
              </a:rPr>
              <a:t>ResNet50</a:t>
            </a:r>
            <a:endParaRPr b="0" i="0" sz="1800" u="none" cap="none" strike="noStrike">
              <a:latin typeface="Arial"/>
              <a:ea typeface="Arial"/>
              <a:cs typeface="Arial"/>
              <a:sym typeface="Arial"/>
            </a:endParaRPr>
          </a:p>
        </p:txBody>
      </p:sp>
      <p:sp>
        <p:nvSpPr>
          <p:cNvPr id="176" name="Google Shape;176;p20"/>
          <p:cNvSpPr/>
          <p:nvPr/>
        </p:nvSpPr>
        <p:spPr>
          <a:xfrm>
            <a:off x="10573920" y="3690000"/>
            <a:ext cx="1169280" cy="363960"/>
          </a:xfrm>
          <a:prstGeom prst="rect">
            <a:avLst/>
          </a:prstGeom>
          <a:noFill/>
          <a:ln>
            <a:noFill/>
          </a:ln>
        </p:spPr>
        <p:txBody>
          <a:bodyPr anchorCtr="0" anchor="t" bIns="45000" lIns="90000" spcFirstLastPara="1" rIns="90000" wrap="square" tIns="45000">
            <a:spAutoFit/>
          </a:bodyPr>
          <a:lstStyle/>
          <a:p>
            <a:pPr indent="0" lvl="0" marL="0" marR="0" rtl="0" algn="l">
              <a:lnSpc>
                <a:spcPct val="100000"/>
              </a:lnSpc>
              <a:spcBef>
                <a:spcPts val="0"/>
              </a:spcBef>
              <a:spcAft>
                <a:spcPts val="0"/>
              </a:spcAft>
              <a:buNone/>
            </a:pPr>
            <a:r>
              <a:rPr b="0" i="0" lang="fr-FR" sz="1800" u="none" cap="none" strike="noStrike">
                <a:solidFill>
                  <a:srgbClr val="000000"/>
                </a:solidFill>
                <a:latin typeface="Calibri"/>
                <a:ea typeface="Calibri"/>
                <a:cs typeface="Calibri"/>
                <a:sym typeface="Calibri"/>
              </a:rPr>
              <a:t>Spark.save</a:t>
            </a:r>
            <a:endParaRPr b="0" i="0" sz="1800" u="none" cap="none" strike="noStrike">
              <a:latin typeface="Arial"/>
              <a:ea typeface="Arial"/>
              <a:cs typeface="Arial"/>
              <a:sym typeface="Arial"/>
            </a:endParaRPr>
          </a:p>
        </p:txBody>
      </p:sp>
      <p:sp>
        <p:nvSpPr>
          <p:cNvPr id="177" name="Google Shape;177;p20"/>
          <p:cNvSpPr/>
          <p:nvPr/>
        </p:nvSpPr>
        <p:spPr>
          <a:xfrm>
            <a:off x="2442345" y="692580"/>
            <a:ext cx="6009900" cy="516300"/>
          </a:xfrm>
          <a:prstGeom prst="rect">
            <a:avLst/>
          </a:prstGeom>
          <a:noFill/>
          <a:ln>
            <a:noFill/>
          </a:ln>
        </p:spPr>
        <p:txBody>
          <a:bodyPr anchorCtr="0" anchor="t" bIns="45000" lIns="90000" spcFirstLastPara="1" rIns="90000" wrap="square" tIns="45000">
            <a:spAutoFit/>
          </a:bodyPr>
          <a:lstStyle/>
          <a:p>
            <a:pPr indent="0" lvl="0" marL="0" marR="0" rtl="0" algn="ctr">
              <a:lnSpc>
                <a:spcPct val="100000"/>
              </a:lnSpc>
              <a:spcBef>
                <a:spcPts val="0"/>
              </a:spcBef>
              <a:spcAft>
                <a:spcPts val="0"/>
              </a:spcAft>
              <a:buNone/>
            </a:pPr>
            <a:r>
              <a:rPr b="1" i="0" lang="fr-FR" sz="2800" u="none" cap="none" strike="noStrike">
                <a:solidFill>
                  <a:srgbClr val="0F47A6"/>
                </a:solidFill>
                <a:latin typeface="Yeseva One"/>
                <a:ea typeface="Yeseva One"/>
                <a:cs typeface="Yeseva One"/>
                <a:sym typeface="Yeseva One"/>
              </a:rPr>
              <a:t> instance Spark </a:t>
            </a:r>
            <a:endParaRPr b="0" i="0" sz="2800" u="none" cap="none" strike="noStrike">
              <a:latin typeface="Arial"/>
              <a:ea typeface="Arial"/>
              <a:cs typeface="Arial"/>
              <a:sym typeface="Arial"/>
            </a:endParaRPr>
          </a:p>
        </p:txBody>
      </p:sp>
    </p:spTree>
  </p:cSld>
  <p:clrMapOvr>
    <a:masterClrMapping/>
  </p:clrMapOvr>
  <p:transition spd="slow" p14:dur="1500">
    <p:random/>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77"/>
                                        </p:tgtEl>
                                        <p:attrNameLst>
                                          <p:attrName>style.visibility</p:attrName>
                                        </p:attrNameLst>
                                      </p:cBhvr>
                                      <p:to>
                                        <p:strVal val="visible"/>
                                      </p:to>
                                    </p:set>
                                    <p:animEffect filter="fade" transition="in">
                                      <p:cBhvr>
                                        <p:cTn dur="500"/>
                                        <p:tgtEl>
                                          <p:spTgt spid="17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21"/>
          <p:cNvSpPr txBox="1"/>
          <p:nvPr>
            <p:ph idx="4294967295" type="body"/>
          </p:nvPr>
        </p:nvSpPr>
        <p:spPr>
          <a:xfrm>
            <a:off x="838080" y="1825560"/>
            <a:ext cx="10505880" cy="4341600"/>
          </a:xfrm>
          <a:prstGeom prst="rect">
            <a:avLst/>
          </a:prstGeom>
          <a:noFill/>
          <a:ln>
            <a:noFill/>
          </a:ln>
        </p:spPr>
        <p:txBody>
          <a:bodyPr anchorCtr="0" anchor="t" bIns="45000" lIns="90000" spcFirstLastPara="1" rIns="90000" wrap="square" tIns="45000">
            <a:normAutofit/>
          </a:bodyPr>
          <a:lstStyle/>
          <a:p>
            <a:pPr indent="0" lvl="0" marL="0" marR="0" rtl="0" algn="l">
              <a:lnSpc>
                <a:spcPct val="90000"/>
              </a:lnSpc>
              <a:spcBef>
                <a:spcPts val="0"/>
              </a:spcBef>
              <a:spcAft>
                <a:spcPts val="0"/>
              </a:spcAft>
              <a:buNone/>
            </a:pPr>
            <a:r>
              <a:rPr b="1" i="1" lang="fr-FR" sz="2800" u="none" cap="none" strike="noStrike">
                <a:solidFill>
                  <a:srgbClr val="00B050"/>
                </a:solidFill>
                <a:latin typeface="Calibri"/>
                <a:ea typeface="Calibri"/>
                <a:cs typeface="Calibri"/>
                <a:sym typeface="Calibri"/>
              </a:rPr>
              <a:t>Réseau RESNET50 : </a:t>
            </a:r>
            <a:endParaRPr b="0" i="0" sz="28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00B050"/>
              </a:buClr>
              <a:buSzPts val="2800"/>
              <a:buFont typeface="Arial"/>
              <a:buChar char="•"/>
            </a:pPr>
            <a:r>
              <a:rPr b="1" i="1" lang="fr-FR" sz="2800" u="none" cap="none" strike="noStrike">
                <a:solidFill>
                  <a:srgbClr val="00B050"/>
                </a:solidFill>
                <a:latin typeface="Calibri"/>
                <a:ea typeface="Calibri"/>
                <a:cs typeface="Calibri"/>
                <a:sym typeface="Calibri"/>
              </a:rPr>
              <a:t>Approche Transfer Learning </a:t>
            </a:r>
            <a:endParaRPr b="0" i="0" sz="28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00B050"/>
              </a:buClr>
              <a:buSzPts val="2800"/>
              <a:buFont typeface="Arial"/>
              <a:buChar char="•"/>
            </a:pPr>
            <a:r>
              <a:rPr b="1" i="1" lang="fr-FR" sz="2800" u="none" cap="none" strike="noStrike">
                <a:solidFill>
                  <a:srgbClr val="00B050"/>
                </a:solidFill>
                <a:latin typeface="Calibri"/>
                <a:ea typeface="Calibri"/>
                <a:cs typeface="Calibri"/>
                <a:sym typeface="Calibri"/>
              </a:rPr>
              <a:t>23 Millions de paramètres pré entraînés </a:t>
            </a:r>
            <a:endParaRPr b="0" i="0" sz="28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00B050"/>
              </a:buClr>
              <a:buSzPts val="2800"/>
              <a:buFont typeface="Arial"/>
              <a:buChar char="•"/>
            </a:pPr>
            <a:r>
              <a:rPr b="1" i="1" lang="fr-FR" sz="2800" u="none" cap="none" strike="noStrike">
                <a:solidFill>
                  <a:srgbClr val="00B050"/>
                </a:solidFill>
                <a:latin typeface="Calibri"/>
                <a:ea typeface="Calibri"/>
                <a:cs typeface="Calibri"/>
                <a:sym typeface="Calibri"/>
              </a:rPr>
              <a:t>50 couches de neurones</a:t>
            </a:r>
            <a:endParaRPr b="0" i="0" sz="28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00B050"/>
              </a:buClr>
              <a:buSzPts val="2800"/>
              <a:buFont typeface="Arial"/>
              <a:buChar char="•"/>
            </a:pPr>
            <a:r>
              <a:rPr b="1" i="1" lang="fr-FR" sz="2800" u="none" cap="none" strike="noStrike">
                <a:solidFill>
                  <a:srgbClr val="00B050"/>
                </a:solidFill>
                <a:latin typeface="Calibri"/>
                <a:ea typeface="Calibri"/>
                <a:cs typeface="Calibri"/>
                <a:sym typeface="Calibri"/>
              </a:rPr>
              <a:t>Combine prétraitement et </a:t>
            </a:r>
            <a:endParaRPr b="0" i="0" sz="28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00B050"/>
              </a:buClr>
              <a:buSzPts val="2800"/>
              <a:buFont typeface="Arial"/>
              <a:buChar char="•"/>
            </a:pPr>
            <a:r>
              <a:rPr b="1" i="1" lang="fr-FR" sz="2800" u="none" cap="none" strike="noStrike">
                <a:solidFill>
                  <a:srgbClr val="00B050"/>
                </a:solidFill>
                <a:latin typeface="Calibri"/>
                <a:ea typeface="Calibri"/>
                <a:cs typeface="Calibri"/>
                <a:sym typeface="Calibri"/>
              </a:rPr>
              <a:t>la réduction de dimension</a:t>
            </a:r>
            <a:endParaRPr b="0" i="0" sz="2800" u="none" cap="none" strike="noStrike">
              <a:latin typeface="Arial"/>
              <a:ea typeface="Arial"/>
              <a:cs typeface="Arial"/>
              <a:sym typeface="Arial"/>
            </a:endParaRPr>
          </a:p>
        </p:txBody>
      </p:sp>
      <p:pic>
        <p:nvPicPr>
          <p:cNvPr descr="File:ResNet50.png - Wikimedia Commons" id="183" name="Google Shape;183;p21"/>
          <p:cNvPicPr preferRelativeResize="0"/>
          <p:nvPr/>
        </p:nvPicPr>
        <p:blipFill rotWithShape="1">
          <a:blip r:embed="rId3">
            <a:alphaModFix/>
          </a:blip>
          <a:srcRect b="0" l="0" r="0" t="0"/>
          <a:stretch/>
        </p:blipFill>
        <p:spPr>
          <a:xfrm>
            <a:off x="4789800" y="4473720"/>
            <a:ext cx="7392600" cy="2374560"/>
          </a:xfrm>
          <a:prstGeom prst="rect">
            <a:avLst/>
          </a:prstGeom>
          <a:noFill/>
          <a:ln>
            <a:noFill/>
          </a:ln>
        </p:spPr>
      </p:pic>
      <p:sp>
        <p:nvSpPr>
          <p:cNvPr id="184" name="Google Shape;184;p21"/>
          <p:cNvSpPr/>
          <p:nvPr/>
        </p:nvSpPr>
        <p:spPr>
          <a:xfrm>
            <a:off x="2119680" y="795240"/>
            <a:ext cx="8052120" cy="516240"/>
          </a:xfrm>
          <a:prstGeom prst="rect">
            <a:avLst/>
          </a:prstGeom>
          <a:noFill/>
          <a:ln>
            <a:noFill/>
          </a:ln>
        </p:spPr>
        <p:txBody>
          <a:bodyPr anchorCtr="0" anchor="t" bIns="45000" lIns="90000" spcFirstLastPara="1" rIns="90000" wrap="square" tIns="45000">
            <a:spAutoFit/>
          </a:bodyPr>
          <a:lstStyle/>
          <a:p>
            <a:pPr indent="0" lvl="0" marL="0" marR="0" rtl="0" algn="ctr">
              <a:lnSpc>
                <a:spcPct val="100000"/>
              </a:lnSpc>
              <a:spcBef>
                <a:spcPts val="0"/>
              </a:spcBef>
              <a:spcAft>
                <a:spcPts val="0"/>
              </a:spcAft>
              <a:buNone/>
            </a:pPr>
            <a:r>
              <a:rPr b="1" i="0" lang="fr-FR" sz="2800" u="none" cap="none" strike="noStrike">
                <a:solidFill>
                  <a:srgbClr val="0F47A6"/>
                </a:solidFill>
                <a:latin typeface="Yeseva One"/>
                <a:ea typeface="Yeseva One"/>
                <a:cs typeface="Yeseva One"/>
                <a:sym typeface="Yeseva One"/>
              </a:rPr>
              <a:t>Le prétraitement en détail </a:t>
            </a:r>
            <a:endParaRPr b="0" i="0" sz="2800" u="none" cap="none" strike="noStrike">
              <a:latin typeface="Arial"/>
              <a:ea typeface="Arial"/>
              <a:cs typeface="Arial"/>
              <a:sym typeface="Arial"/>
            </a:endParaRPr>
          </a:p>
        </p:txBody>
      </p:sp>
    </p:spTree>
  </p:cSld>
  <p:clrMapOvr>
    <a:masterClrMapping/>
  </p:clrMapOvr>
  <p:transition spd="slow" p14:dur="1500">
    <p:random/>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84"/>
                                        </p:tgtEl>
                                        <p:attrNameLst>
                                          <p:attrName>style.visibility</p:attrName>
                                        </p:attrNameLst>
                                      </p:cBhvr>
                                      <p:to>
                                        <p:strVal val="visible"/>
                                      </p:to>
                                    </p:set>
                                    <p:animEffect filter="fade" transition="in">
                                      <p:cBhvr>
                                        <p:cTn dur="500"/>
                                        <p:tgtEl>
                                          <p:spTgt spid="18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23"/>
          <p:cNvSpPr txBox="1"/>
          <p:nvPr>
            <p:ph idx="1" type="body"/>
          </p:nvPr>
        </p:nvSpPr>
        <p:spPr>
          <a:xfrm>
            <a:off x="609475" y="644050"/>
            <a:ext cx="11582400" cy="6213900"/>
          </a:xfrm>
          <a:prstGeom prst="rect">
            <a:avLst/>
          </a:prstGeom>
          <a:noFill/>
          <a:ln>
            <a:noFill/>
          </a:ln>
        </p:spPr>
        <p:txBody>
          <a:bodyPr anchorCtr="0" anchor="t" bIns="45000" lIns="90000" spcFirstLastPara="1" rIns="90000" wrap="square" tIns="45000">
            <a:noAutofit/>
          </a:bodyPr>
          <a:lstStyle/>
          <a:p>
            <a:pPr indent="0" lvl="0" marL="0" marR="0" rtl="0" algn="l">
              <a:lnSpc>
                <a:spcPct val="90000"/>
              </a:lnSpc>
              <a:spcBef>
                <a:spcPts val="0"/>
              </a:spcBef>
              <a:spcAft>
                <a:spcPts val="0"/>
              </a:spcAft>
              <a:buNone/>
            </a:pPr>
            <a:r>
              <a:rPr b="1" i="1" lang="fr-FR" sz="2400" u="none" cap="none" strike="noStrike">
                <a:solidFill>
                  <a:srgbClr val="FF0000"/>
                </a:solidFill>
                <a:latin typeface="Calibri"/>
                <a:ea typeface="Calibri"/>
                <a:cs typeface="Calibri"/>
                <a:sym typeface="Calibri"/>
              </a:rPr>
              <a:t>Stockage fichiers sur S3 </a:t>
            </a:r>
            <a:endParaRPr b="0" i="0" sz="24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FF0000"/>
              </a:buClr>
              <a:buSzPts val="2400"/>
              <a:buFont typeface="Arial"/>
              <a:buChar char="•"/>
            </a:pPr>
            <a:r>
              <a:rPr b="0" i="1" lang="fr-FR" sz="2400" u="none" cap="none" strike="noStrike">
                <a:solidFill>
                  <a:srgbClr val="FF0000"/>
                </a:solidFill>
                <a:latin typeface="Calibri"/>
                <a:ea typeface="Calibri"/>
                <a:cs typeface="Calibri"/>
                <a:sym typeface="Calibri"/>
              </a:rPr>
              <a:t>upload via AWS CLI ou Interface Web</a:t>
            </a:r>
            <a:endParaRPr b="0" i="0" sz="24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FF0000"/>
              </a:buClr>
              <a:buSzPts val="2400"/>
              <a:buFont typeface="Arial"/>
              <a:buChar char="•"/>
            </a:pPr>
            <a:r>
              <a:rPr b="0" i="1" lang="fr-FR" sz="2400" u="none" cap="none" strike="noStrike">
                <a:solidFill>
                  <a:srgbClr val="FF0000"/>
                </a:solidFill>
                <a:latin typeface="Calibri"/>
                <a:ea typeface="Calibri"/>
                <a:cs typeface="Calibri"/>
                <a:sym typeface="Calibri"/>
              </a:rPr>
              <a:t>Lecture des fichiers depuis Spark</a:t>
            </a:r>
            <a:endParaRPr b="0" i="0" sz="24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FF0000"/>
              </a:buClr>
              <a:buSzPts val="2400"/>
              <a:buFont typeface="Arial"/>
              <a:buChar char="•"/>
            </a:pPr>
            <a:r>
              <a:rPr b="0" i="1" lang="fr-FR" sz="2400" u="none" cap="none" strike="noStrike">
                <a:solidFill>
                  <a:srgbClr val="FF0000"/>
                </a:solidFill>
                <a:latin typeface="Calibri"/>
                <a:ea typeface="Calibri"/>
                <a:cs typeface="Calibri"/>
                <a:sym typeface="Calibri"/>
              </a:rPr>
              <a:t>Enregistrement de fichier depuis </a:t>
            </a:r>
            <a:endParaRPr b="0" i="1" sz="2400" u="none" cap="none" strike="noStrike">
              <a:solidFill>
                <a:srgbClr val="FF0000"/>
              </a:solidFill>
              <a:latin typeface="Calibri"/>
              <a:ea typeface="Calibri"/>
              <a:cs typeface="Calibri"/>
              <a:sym typeface="Calibri"/>
            </a:endParaRPr>
          </a:p>
          <a:p>
            <a:pPr indent="-228600" lvl="0" marL="228600" marR="0" rtl="0" algn="l">
              <a:lnSpc>
                <a:spcPct val="90000"/>
              </a:lnSpc>
              <a:spcBef>
                <a:spcPts val="1001"/>
              </a:spcBef>
              <a:spcAft>
                <a:spcPts val="0"/>
              </a:spcAft>
              <a:buClr>
                <a:srgbClr val="FF0000"/>
              </a:buClr>
              <a:buSzPts val="2400"/>
              <a:buFont typeface="Arial"/>
              <a:buChar char="•"/>
            </a:pPr>
            <a:r>
              <a:rPr b="0" i="1" lang="fr-FR" sz="2400" u="none" cap="none" strike="noStrike">
                <a:solidFill>
                  <a:srgbClr val="FF0000"/>
                </a:solidFill>
                <a:latin typeface="Calibri"/>
                <a:ea typeface="Calibri"/>
                <a:cs typeface="Calibri"/>
                <a:sym typeface="Calibri"/>
              </a:rPr>
              <a:t>spark vers S3</a:t>
            </a:r>
            <a:endParaRPr b="0" i="0" sz="2400" u="none" cap="none" strike="noStrike">
              <a:latin typeface="Arial"/>
              <a:ea typeface="Arial"/>
              <a:cs typeface="Arial"/>
              <a:sym typeface="Arial"/>
            </a:endParaRPr>
          </a:p>
          <a:p>
            <a:pPr indent="0" lvl="0" marL="0" marR="0" rtl="0" algn="l">
              <a:lnSpc>
                <a:spcPct val="90000"/>
              </a:lnSpc>
              <a:spcBef>
                <a:spcPts val="1001"/>
              </a:spcBef>
              <a:spcAft>
                <a:spcPts val="0"/>
              </a:spcAft>
              <a:buNone/>
            </a:pPr>
            <a:r>
              <a:rPr b="1" i="1" lang="fr-FR" sz="2400" u="none" cap="none" strike="noStrike">
                <a:solidFill>
                  <a:srgbClr val="FF0000"/>
                </a:solidFill>
                <a:latin typeface="Calibri"/>
                <a:ea typeface="Calibri"/>
                <a:cs typeface="Calibri"/>
                <a:sym typeface="Calibri"/>
              </a:rPr>
              <a:t>Instance EC2 (T2.xlarge) / </a:t>
            </a:r>
            <a:endParaRPr b="1" i="1" sz="2400" u="none" cap="none" strike="noStrike">
              <a:solidFill>
                <a:srgbClr val="FF0000"/>
              </a:solidFill>
              <a:latin typeface="Calibri"/>
              <a:ea typeface="Calibri"/>
              <a:cs typeface="Calibri"/>
              <a:sym typeface="Calibri"/>
            </a:endParaRPr>
          </a:p>
          <a:p>
            <a:pPr indent="0" lvl="0" marL="0" marR="0" rtl="0" algn="l">
              <a:lnSpc>
                <a:spcPct val="90000"/>
              </a:lnSpc>
              <a:spcBef>
                <a:spcPts val="1001"/>
              </a:spcBef>
              <a:spcAft>
                <a:spcPts val="0"/>
              </a:spcAft>
              <a:buNone/>
            </a:pPr>
            <a:r>
              <a:rPr b="1" i="1" lang="fr-FR" sz="2400">
                <a:solidFill>
                  <a:srgbClr val="FF0000"/>
                </a:solidFill>
                <a:latin typeface="Calibri"/>
                <a:ea typeface="Calibri"/>
                <a:cs typeface="Calibri"/>
                <a:sym typeface="Calibri"/>
              </a:rPr>
              <a:t>/ </a:t>
            </a:r>
            <a:r>
              <a:rPr b="1" i="1" lang="fr-FR" sz="2400" u="none" cap="none" strike="noStrike">
                <a:solidFill>
                  <a:srgbClr val="FF0000"/>
                </a:solidFill>
                <a:latin typeface="Calibri"/>
                <a:ea typeface="Calibri"/>
                <a:cs typeface="Calibri"/>
                <a:sym typeface="Calibri"/>
              </a:rPr>
              <a:t>OS Ubuntu Server 18.04 </a:t>
            </a:r>
            <a:endParaRPr b="0" i="0" sz="2400" u="none" cap="none" strike="noStrike">
              <a:latin typeface="Arial"/>
              <a:ea typeface="Arial"/>
              <a:cs typeface="Arial"/>
              <a:sym typeface="Arial"/>
            </a:endParaRPr>
          </a:p>
          <a:p>
            <a:pPr indent="0" lvl="0" marL="0" marR="0" rtl="0" algn="l">
              <a:lnSpc>
                <a:spcPct val="90000"/>
              </a:lnSpc>
              <a:spcBef>
                <a:spcPts val="1001"/>
              </a:spcBef>
              <a:spcAft>
                <a:spcPts val="0"/>
              </a:spcAft>
              <a:buNone/>
            </a:pPr>
            <a:r>
              <a:rPr b="1" i="1" lang="fr-FR" sz="2400" u="none" cap="none" strike="noStrike">
                <a:solidFill>
                  <a:srgbClr val="FF0000"/>
                </a:solidFill>
                <a:latin typeface="Calibri"/>
                <a:ea typeface="Calibri"/>
                <a:cs typeface="Calibri"/>
                <a:sym typeface="Calibri"/>
              </a:rPr>
              <a:t>Configuration :</a:t>
            </a:r>
            <a:endParaRPr b="0" i="0" sz="24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FF0000"/>
              </a:buClr>
              <a:buSzPts val="2400"/>
              <a:buFont typeface="Arial"/>
              <a:buChar char="•"/>
            </a:pPr>
            <a:r>
              <a:rPr b="0" i="1" lang="fr-FR" sz="2400" u="none" cap="none" strike="noStrike">
                <a:solidFill>
                  <a:srgbClr val="FF0000"/>
                </a:solidFill>
                <a:latin typeface="Calibri"/>
                <a:ea typeface="Calibri"/>
                <a:cs typeface="Calibri"/>
                <a:sym typeface="Calibri"/>
              </a:rPr>
              <a:t>Python 3 / Java 8 / Spark / </a:t>
            </a:r>
            <a:endParaRPr b="0" i="1" sz="2400" u="none" cap="none" strike="noStrike">
              <a:solidFill>
                <a:srgbClr val="FF0000"/>
              </a:solidFill>
              <a:latin typeface="Calibri"/>
              <a:ea typeface="Calibri"/>
              <a:cs typeface="Calibri"/>
              <a:sym typeface="Calibri"/>
            </a:endParaRPr>
          </a:p>
          <a:p>
            <a:pPr indent="-228600" lvl="0" marL="228600" marR="0" rtl="0" algn="l">
              <a:lnSpc>
                <a:spcPct val="90000"/>
              </a:lnSpc>
              <a:spcBef>
                <a:spcPts val="1001"/>
              </a:spcBef>
              <a:spcAft>
                <a:spcPts val="0"/>
              </a:spcAft>
              <a:buClr>
                <a:srgbClr val="FF0000"/>
              </a:buClr>
              <a:buSzPts val="2400"/>
              <a:buFont typeface="Arial"/>
              <a:buChar char="•"/>
            </a:pPr>
            <a:r>
              <a:rPr b="0" i="1" lang="fr-FR" sz="2400" u="none" cap="none" strike="noStrike">
                <a:solidFill>
                  <a:srgbClr val="FF0000"/>
                </a:solidFill>
                <a:latin typeface="Calibri"/>
                <a:ea typeface="Calibri"/>
                <a:cs typeface="Calibri"/>
                <a:sym typeface="Calibri"/>
              </a:rPr>
              <a:t>Hadoop-AWS/ Spark MLLib / Pillow</a:t>
            </a:r>
            <a:endParaRPr b="0" i="0" sz="2400" u="none" cap="none" strike="noStrike">
              <a:latin typeface="Arial"/>
              <a:ea typeface="Arial"/>
              <a:cs typeface="Arial"/>
              <a:sym typeface="Arial"/>
            </a:endParaRPr>
          </a:p>
          <a:p>
            <a:pPr indent="0" lvl="0" marL="0" marR="0" rtl="0" algn="l">
              <a:lnSpc>
                <a:spcPct val="90000"/>
              </a:lnSpc>
              <a:spcBef>
                <a:spcPts val="1001"/>
              </a:spcBef>
              <a:spcAft>
                <a:spcPts val="0"/>
              </a:spcAft>
              <a:buNone/>
            </a:pPr>
            <a:r>
              <a:rPr b="1" i="1" lang="fr-FR" sz="2400" u="none" cap="none" strike="noStrike">
                <a:solidFill>
                  <a:srgbClr val="FF0000"/>
                </a:solidFill>
                <a:latin typeface="Calibri"/>
                <a:ea typeface="Calibri"/>
                <a:cs typeface="Calibri"/>
                <a:sym typeface="Calibri"/>
              </a:rPr>
              <a:t>Configuration sur machine distante : </a:t>
            </a:r>
            <a:endParaRPr b="1" i="1" sz="2400">
              <a:solidFill>
                <a:srgbClr val="FF0000"/>
              </a:solidFill>
              <a:latin typeface="Calibri"/>
              <a:ea typeface="Calibri"/>
              <a:cs typeface="Calibri"/>
              <a:sym typeface="Calibri"/>
            </a:endParaRPr>
          </a:p>
          <a:p>
            <a:pPr indent="0" lvl="0" marL="0" marR="0" rtl="0" algn="l">
              <a:lnSpc>
                <a:spcPct val="90000"/>
              </a:lnSpc>
              <a:spcBef>
                <a:spcPts val="1001"/>
              </a:spcBef>
              <a:spcAft>
                <a:spcPts val="0"/>
              </a:spcAft>
              <a:buNone/>
            </a:pPr>
            <a:r>
              <a:rPr b="0" i="1" lang="fr-FR" sz="2400" u="none" cap="none" strike="noStrike">
                <a:solidFill>
                  <a:srgbClr val="FF0000"/>
                </a:solidFill>
                <a:latin typeface="Calibri"/>
                <a:ea typeface="Calibri"/>
                <a:cs typeface="Calibri"/>
                <a:sym typeface="Calibri"/>
              </a:rPr>
              <a:t>accès via tunnel SSH , Chargement clés IAM / AWS</a:t>
            </a:r>
            <a:endParaRPr b="0" i="0" sz="2400" u="none" cap="none" strike="noStrike">
              <a:latin typeface="Arial"/>
              <a:ea typeface="Arial"/>
              <a:cs typeface="Arial"/>
              <a:sym typeface="Arial"/>
            </a:endParaRPr>
          </a:p>
          <a:p>
            <a:pPr indent="-228600" lvl="0" marL="228600" marR="0" rtl="0" algn="l">
              <a:lnSpc>
                <a:spcPct val="90000"/>
              </a:lnSpc>
              <a:spcBef>
                <a:spcPts val="1001"/>
              </a:spcBef>
              <a:spcAft>
                <a:spcPts val="0"/>
              </a:spcAft>
              <a:buClr>
                <a:srgbClr val="FF0000"/>
              </a:buClr>
              <a:buSzPts val="2400"/>
              <a:buFont typeface="Arial"/>
              <a:buChar char="•"/>
            </a:pPr>
            <a:r>
              <a:rPr b="0" i="1" lang="fr-FR" sz="2400" u="none" cap="none" strike="noStrike">
                <a:solidFill>
                  <a:srgbClr val="FF0000"/>
                </a:solidFill>
                <a:latin typeface="Calibri"/>
                <a:ea typeface="Calibri"/>
                <a:cs typeface="Calibri"/>
                <a:sym typeface="Calibri"/>
              </a:rPr>
              <a:t>Installation des logiciels et packages, Mise en place Jupyter Notebook accessible à distance pour exécution du code / analyse des résultats</a:t>
            </a:r>
            <a:r>
              <a:rPr b="1" i="1" lang="fr-FR" sz="2400" u="none" cap="none" strike="noStrike">
                <a:solidFill>
                  <a:srgbClr val="FF0000"/>
                </a:solidFill>
                <a:latin typeface="Calibri"/>
                <a:ea typeface="Calibri"/>
                <a:cs typeface="Calibri"/>
                <a:sym typeface="Calibri"/>
              </a:rPr>
              <a:t> </a:t>
            </a:r>
            <a:endParaRPr b="0" i="0" sz="2400" u="none" cap="none" strike="noStrike">
              <a:latin typeface="Arial"/>
              <a:ea typeface="Arial"/>
              <a:cs typeface="Arial"/>
              <a:sym typeface="Arial"/>
            </a:endParaRPr>
          </a:p>
        </p:txBody>
      </p:sp>
      <p:sp>
        <p:nvSpPr>
          <p:cNvPr id="190" name="Google Shape;190;p23"/>
          <p:cNvSpPr/>
          <p:nvPr/>
        </p:nvSpPr>
        <p:spPr>
          <a:xfrm>
            <a:off x="3458520" y="127800"/>
            <a:ext cx="5356440" cy="516240"/>
          </a:xfrm>
          <a:prstGeom prst="rect">
            <a:avLst/>
          </a:prstGeom>
          <a:noFill/>
          <a:ln>
            <a:noFill/>
          </a:ln>
        </p:spPr>
        <p:txBody>
          <a:bodyPr anchorCtr="0" anchor="t" bIns="45000" lIns="90000" spcFirstLastPara="1" rIns="90000" wrap="square" tIns="45000">
            <a:spAutoFit/>
          </a:bodyPr>
          <a:lstStyle/>
          <a:p>
            <a:pPr indent="0" lvl="0" marL="0" marR="0" rtl="0" algn="ctr">
              <a:lnSpc>
                <a:spcPct val="100000"/>
              </a:lnSpc>
              <a:spcBef>
                <a:spcPts val="0"/>
              </a:spcBef>
              <a:spcAft>
                <a:spcPts val="0"/>
              </a:spcAft>
              <a:buNone/>
            </a:pPr>
            <a:r>
              <a:rPr b="1" i="1" lang="fr-FR" sz="2800" u="none" cap="none" strike="noStrike">
                <a:solidFill>
                  <a:srgbClr val="0F47A6"/>
                </a:solidFill>
                <a:latin typeface="Yeseva One"/>
                <a:ea typeface="Yeseva One"/>
                <a:cs typeface="Yeseva One"/>
                <a:sym typeface="Yeseva One"/>
              </a:rPr>
              <a:t>Déploiement sur AWS</a:t>
            </a:r>
            <a:endParaRPr b="0" i="0" sz="2800" u="none" cap="none" strike="noStrike">
              <a:latin typeface="Arial"/>
              <a:ea typeface="Arial"/>
              <a:cs typeface="Arial"/>
              <a:sym typeface="Arial"/>
            </a:endParaRPr>
          </a:p>
        </p:txBody>
      </p:sp>
      <p:sp>
        <p:nvSpPr>
          <p:cNvPr id="191" name="Google Shape;191;p23"/>
          <p:cNvSpPr txBox="1"/>
          <p:nvPr>
            <p:ph type="title"/>
          </p:nvPr>
        </p:nvSpPr>
        <p:spPr>
          <a:xfrm>
            <a:off x="752350" y="-258925"/>
            <a:ext cx="10972500" cy="833400"/>
          </a:xfrm>
          <a:prstGeom prst="rect">
            <a:avLst/>
          </a:prstGeom>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2" name="Google Shape;192;p23"/>
          <p:cNvSpPr txBox="1"/>
          <p:nvPr>
            <p:ph idx="2" type="body"/>
          </p:nvPr>
        </p:nvSpPr>
        <p:spPr>
          <a:xfrm>
            <a:off x="6227575" y="734276"/>
            <a:ext cx="5354400" cy="4840800"/>
          </a:xfrm>
          <a:prstGeom prst="rect">
            <a:avLst/>
          </a:prstGeom>
        </p:spPr>
        <p:txBody>
          <a:bodyPr anchorCtr="0" anchor="t" bIns="0" lIns="0" spcFirstLastPara="1" rIns="0" wrap="square" tIns="0">
            <a:normAutofit/>
          </a:bodyPr>
          <a:lstStyle/>
          <a:p>
            <a:pPr indent="0" lvl="0" marL="0" rtl="0" algn="l">
              <a:lnSpc>
                <a:spcPct val="70000"/>
              </a:lnSpc>
              <a:spcBef>
                <a:spcPts val="0"/>
              </a:spcBef>
              <a:spcAft>
                <a:spcPts val="0"/>
              </a:spcAft>
              <a:buClr>
                <a:schemeClr val="dk1"/>
              </a:buClr>
              <a:buFont typeface="Arial"/>
              <a:buNone/>
            </a:pPr>
            <a:r>
              <a:rPr b="1" i="1" lang="fr-FR" sz="2500">
                <a:solidFill>
                  <a:srgbClr val="00B050"/>
                </a:solidFill>
                <a:latin typeface="Calibri"/>
                <a:ea typeface="Calibri"/>
                <a:cs typeface="Calibri"/>
                <a:sym typeface="Calibri"/>
              </a:rPr>
              <a:t>Dans ce projet, nous avons appris :</a:t>
            </a:r>
            <a:endParaRPr sz="2500">
              <a:solidFill>
                <a:schemeClr val="dk1"/>
              </a:solidFill>
            </a:endParaRPr>
          </a:p>
          <a:p>
            <a:pPr indent="-184150" lvl="0" marL="228600" rtl="0" algn="l">
              <a:lnSpc>
                <a:spcPct val="70000"/>
              </a:lnSpc>
              <a:spcBef>
                <a:spcPts val="1001"/>
              </a:spcBef>
              <a:spcAft>
                <a:spcPts val="0"/>
              </a:spcAft>
              <a:buClr>
                <a:srgbClr val="00B050"/>
              </a:buClr>
              <a:buSzPts val="2500"/>
              <a:buChar char="•"/>
            </a:pPr>
            <a:r>
              <a:rPr b="1" i="1" lang="fr-FR" sz="2500">
                <a:solidFill>
                  <a:srgbClr val="00B050"/>
                </a:solidFill>
                <a:latin typeface="Calibri"/>
                <a:ea typeface="Calibri"/>
                <a:cs typeface="Calibri"/>
                <a:sym typeface="Calibri"/>
              </a:rPr>
              <a:t>Comment utiliser pyspark ?</a:t>
            </a:r>
            <a:endParaRPr sz="2500">
              <a:solidFill>
                <a:schemeClr val="dk1"/>
              </a:solidFill>
            </a:endParaRPr>
          </a:p>
          <a:p>
            <a:pPr indent="-184150" lvl="0" marL="228600" rtl="0" algn="l">
              <a:lnSpc>
                <a:spcPct val="70000"/>
              </a:lnSpc>
              <a:spcBef>
                <a:spcPts val="1001"/>
              </a:spcBef>
              <a:spcAft>
                <a:spcPts val="0"/>
              </a:spcAft>
              <a:buClr>
                <a:srgbClr val="00B050"/>
              </a:buClr>
              <a:buSzPts val="2500"/>
              <a:buChar char="•"/>
            </a:pPr>
            <a:r>
              <a:rPr b="1" i="1" lang="fr-FR" sz="2500">
                <a:solidFill>
                  <a:srgbClr val="00B050"/>
                </a:solidFill>
                <a:latin typeface="Calibri"/>
                <a:ea typeface="Calibri"/>
                <a:cs typeface="Calibri"/>
                <a:sym typeface="Calibri"/>
              </a:rPr>
              <a:t>Découverte du </a:t>
            </a:r>
            <a:endParaRPr b="1" i="1" sz="2500">
              <a:solidFill>
                <a:srgbClr val="00B050"/>
              </a:solidFill>
              <a:latin typeface="Calibri"/>
              <a:ea typeface="Calibri"/>
              <a:cs typeface="Calibri"/>
              <a:sym typeface="Calibri"/>
            </a:endParaRPr>
          </a:p>
          <a:p>
            <a:pPr indent="-184150" lvl="0" marL="228600" rtl="0" algn="l">
              <a:lnSpc>
                <a:spcPct val="70000"/>
              </a:lnSpc>
              <a:spcBef>
                <a:spcPts val="1001"/>
              </a:spcBef>
              <a:spcAft>
                <a:spcPts val="0"/>
              </a:spcAft>
              <a:buClr>
                <a:srgbClr val="00B050"/>
              </a:buClr>
              <a:buSzPts val="2500"/>
              <a:buChar char="•"/>
            </a:pPr>
            <a:r>
              <a:rPr b="1" i="1" lang="fr-FR" sz="2500">
                <a:solidFill>
                  <a:srgbClr val="00B050"/>
                </a:solidFill>
                <a:latin typeface="Calibri"/>
                <a:ea typeface="Calibri"/>
                <a:cs typeface="Calibri"/>
                <a:sym typeface="Calibri"/>
              </a:rPr>
              <a:t>format parquet </a:t>
            </a:r>
            <a:endParaRPr b="1" i="1" sz="2500">
              <a:solidFill>
                <a:srgbClr val="00B050"/>
              </a:solidFill>
              <a:latin typeface="Calibri"/>
              <a:ea typeface="Calibri"/>
              <a:cs typeface="Calibri"/>
              <a:sym typeface="Calibri"/>
            </a:endParaRPr>
          </a:p>
          <a:p>
            <a:pPr indent="-184150" lvl="0" marL="228600" rtl="0" algn="l">
              <a:lnSpc>
                <a:spcPct val="70000"/>
              </a:lnSpc>
              <a:spcBef>
                <a:spcPts val="1001"/>
              </a:spcBef>
              <a:spcAft>
                <a:spcPts val="0"/>
              </a:spcAft>
              <a:buClr>
                <a:srgbClr val="00B050"/>
              </a:buClr>
              <a:buSzPts val="2500"/>
              <a:buChar char="•"/>
            </a:pPr>
            <a:r>
              <a:rPr b="1" i="1" lang="fr-FR" sz="2500">
                <a:solidFill>
                  <a:srgbClr val="00B050"/>
                </a:solidFill>
                <a:latin typeface="Calibri"/>
                <a:ea typeface="Calibri"/>
                <a:cs typeface="Calibri"/>
                <a:sym typeface="Calibri"/>
              </a:rPr>
              <a:t>distribué.</a:t>
            </a:r>
            <a:endParaRPr sz="2500">
              <a:solidFill>
                <a:schemeClr val="dk1"/>
              </a:solidFill>
            </a:endParaRPr>
          </a:p>
          <a:p>
            <a:pPr indent="-184150" lvl="0" marL="228600" rtl="0" algn="l">
              <a:lnSpc>
                <a:spcPct val="70000"/>
              </a:lnSpc>
              <a:spcBef>
                <a:spcPts val="1001"/>
              </a:spcBef>
              <a:spcAft>
                <a:spcPts val="0"/>
              </a:spcAft>
              <a:buClr>
                <a:srgbClr val="00B050"/>
              </a:buClr>
              <a:buSzPts val="2500"/>
              <a:buChar char="•"/>
            </a:pPr>
            <a:r>
              <a:rPr b="1" i="1" lang="fr-FR" sz="2500">
                <a:solidFill>
                  <a:srgbClr val="00B050"/>
                </a:solidFill>
                <a:latin typeface="Calibri"/>
                <a:ea typeface="Calibri"/>
                <a:cs typeface="Calibri"/>
                <a:sym typeface="Calibri"/>
              </a:rPr>
              <a:t>Écosystème AWS.</a:t>
            </a:r>
            <a:endParaRPr sz="2500">
              <a:solidFill>
                <a:schemeClr val="dk1"/>
              </a:solidFill>
            </a:endParaRPr>
          </a:p>
          <a:p>
            <a:pPr indent="-184150" lvl="0" marL="228600" rtl="0" algn="l">
              <a:lnSpc>
                <a:spcPct val="70000"/>
              </a:lnSpc>
              <a:spcBef>
                <a:spcPts val="1001"/>
              </a:spcBef>
              <a:spcAft>
                <a:spcPts val="0"/>
              </a:spcAft>
              <a:buClr>
                <a:srgbClr val="00B050"/>
              </a:buClr>
              <a:buSzPts val="2500"/>
              <a:buChar char="•"/>
            </a:pPr>
            <a:r>
              <a:rPr b="1" i="1" lang="fr-FR" sz="2500">
                <a:solidFill>
                  <a:srgbClr val="00B050"/>
                </a:solidFill>
                <a:latin typeface="Calibri"/>
                <a:ea typeface="Calibri"/>
                <a:cs typeface="Calibri"/>
                <a:sym typeface="Calibri"/>
              </a:rPr>
              <a:t>Déploiement dans </a:t>
            </a:r>
            <a:endParaRPr b="1" i="1" sz="2500">
              <a:solidFill>
                <a:srgbClr val="00B050"/>
              </a:solidFill>
              <a:latin typeface="Calibri"/>
              <a:ea typeface="Calibri"/>
              <a:cs typeface="Calibri"/>
              <a:sym typeface="Calibri"/>
            </a:endParaRPr>
          </a:p>
          <a:p>
            <a:pPr indent="-184150" lvl="0" marL="228600" rtl="0" algn="l">
              <a:lnSpc>
                <a:spcPct val="70000"/>
              </a:lnSpc>
              <a:spcBef>
                <a:spcPts val="1001"/>
              </a:spcBef>
              <a:spcAft>
                <a:spcPts val="0"/>
              </a:spcAft>
              <a:buClr>
                <a:srgbClr val="00B050"/>
              </a:buClr>
              <a:buSzPts val="2500"/>
              <a:buChar char="•"/>
            </a:pPr>
            <a:r>
              <a:rPr b="1" i="1" lang="fr-FR" sz="2500">
                <a:solidFill>
                  <a:srgbClr val="00B050"/>
                </a:solidFill>
                <a:latin typeface="Calibri"/>
                <a:ea typeface="Calibri"/>
                <a:cs typeface="Calibri"/>
                <a:sym typeface="Calibri"/>
              </a:rPr>
              <a:t>AWS et connexion </a:t>
            </a:r>
            <a:endParaRPr b="1" i="1" sz="2500">
              <a:solidFill>
                <a:srgbClr val="00B050"/>
              </a:solidFill>
              <a:latin typeface="Calibri"/>
              <a:ea typeface="Calibri"/>
              <a:cs typeface="Calibri"/>
              <a:sym typeface="Calibri"/>
            </a:endParaRPr>
          </a:p>
          <a:p>
            <a:pPr indent="-184150" lvl="0" marL="228600" rtl="0" algn="l">
              <a:lnSpc>
                <a:spcPct val="70000"/>
              </a:lnSpc>
              <a:spcBef>
                <a:spcPts val="1001"/>
              </a:spcBef>
              <a:spcAft>
                <a:spcPts val="0"/>
              </a:spcAft>
              <a:buClr>
                <a:srgbClr val="00B050"/>
              </a:buClr>
              <a:buSzPts val="2500"/>
              <a:buChar char="•"/>
            </a:pPr>
            <a:r>
              <a:rPr b="1" i="1" lang="fr-FR" sz="2500">
                <a:solidFill>
                  <a:srgbClr val="00B050"/>
                </a:solidFill>
                <a:latin typeface="Calibri"/>
                <a:ea typeface="Calibri"/>
                <a:cs typeface="Calibri"/>
                <a:sym typeface="Calibri"/>
              </a:rPr>
              <a:t>avec tunnel SSH en </a:t>
            </a:r>
            <a:endParaRPr b="1" i="1" sz="2500">
              <a:solidFill>
                <a:srgbClr val="00B050"/>
              </a:solidFill>
              <a:latin typeface="Calibri"/>
              <a:ea typeface="Calibri"/>
              <a:cs typeface="Calibri"/>
              <a:sym typeface="Calibri"/>
            </a:endParaRPr>
          </a:p>
          <a:p>
            <a:pPr indent="-184150" lvl="0" marL="228600" rtl="0" algn="l">
              <a:lnSpc>
                <a:spcPct val="70000"/>
              </a:lnSpc>
              <a:spcBef>
                <a:spcPts val="1001"/>
              </a:spcBef>
              <a:spcAft>
                <a:spcPts val="0"/>
              </a:spcAft>
              <a:buClr>
                <a:srgbClr val="00B050"/>
              </a:buClr>
              <a:buSzPts val="2500"/>
              <a:buChar char="•"/>
            </a:pPr>
            <a:r>
              <a:rPr b="1" i="1" lang="fr-FR" sz="2500">
                <a:solidFill>
                  <a:srgbClr val="00B050"/>
                </a:solidFill>
                <a:latin typeface="Calibri"/>
                <a:ea typeface="Calibri"/>
                <a:cs typeface="Calibri"/>
                <a:sym typeface="Calibri"/>
              </a:rPr>
              <a:t>utilisant le </a:t>
            </a:r>
            <a:endParaRPr b="1" i="1" sz="2500">
              <a:solidFill>
                <a:srgbClr val="00B050"/>
              </a:solidFill>
              <a:latin typeface="Calibri"/>
              <a:ea typeface="Calibri"/>
              <a:cs typeface="Calibri"/>
              <a:sym typeface="Calibri"/>
            </a:endParaRPr>
          </a:p>
          <a:p>
            <a:pPr indent="-184150" lvl="0" marL="228600" rtl="0" algn="l">
              <a:lnSpc>
                <a:spcPct val="70000"/>
              </a:lnSpc>
              <a:spcBef>
                <a:spcPts val="1001"/>
              </a:spcBef>
              <a:spcAft>
                <a:spcPts val="0"/>
              </a:spcAft>
              <a:buClr>
                <a:srgbClr val="00B050"/>
              </a:buClr>
              <a:buSzPts val="2500"/>
              <a:buChar char="•"/>
            </a:pPr>
            <a:r>
              <a:rPr b="1" i="1" lang="fr-FR" sz="2500">
                <a:solidFill>
                  <a:srgbClr val="00B050"/>
                </a:solidFill>
                <a:latin typeface="Calibri"/>
                <a:ea typeface="Calibri"/>
                <a:cs typeface="Calibri"/>
                <a:sym typeface="Calibri"/>
              </a:rPr>
              <a:t>système linux.</a:t>
            </a:r>
            <a:endParaRPr sz="2500">
              <a:solidFill>
                <a:schemeClr val="dk1"/>
              </a:solidFill>
            </a:endParaRPr>
          </a:p>
          <a:p>
            <a:pPr indent="0" lvl="0" marL="0" rtl="0" algn="l">
              <a:lnSpc>
                <a:spcPct val="80000"/>
              </a:lnSpc>
              <a:spcBef>
                <a:spcPts val="0"/>
              </a:spcBef>
              <a:spcAft>
                <a:spcPts val="0"/>
              </a:spcAft>
              <a:buNone/>
            </a:pPr>
            <a:r>
              <a:t/>
            </a:r>
            <a:endParaRPr sz="1100"/>
          </a:p>
        </p:txBody>
      </p:sp>
      <p:pic>
        <p:nvPicPr>
          <p:cNvPr id="193" name="Google Shape;193;p23"/>
          <p:cNvPicPr preferRelativeResize="0"/>
          <p:nvPr/>
        </p:nvPicPr>
        <p:blipFill rotWithShape="1">
          <a:blip r:embed="rId3">
            <a:alphaModFix/>
          </a:blip>
          <a:srcRect b="0" l="0" r="0" t="0"/>
          <a:stretch/>
        </p:blipFill>
        <p:spPr>
          <a:xfrm>
            <a:off x="9116280" y="1615680"/>
            <a:ext cx="2395440" cy="4605839"/>
          </a:xfrm>
          <a:prstGeom prst="rect">
            <a:avLst/>
          </a:prstGeom>
          <a:noFill/>
          <a:ln>
            <a:noFill/>
          </a:ln>
        </p:spPr>
      </p:pic>
    </p:spTree>
  </p:cSld>
  <p:clrMapOvr>
    <a:masterClrMapping/>
  </p:clrMapOvr>
  <p:transition spd="slow" p14:dur="1500">
    <p:random/>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0"/>
                                        </p:tgtEl>
                                        <p:attrNameLst>
                                          <p:attrName>style.visibility</p:attrName>
                                        </p:attrNameLst>
                                      </p:cBhvr>
                                      <p:to>
                                        <p:strVal val="visible"/>
                                      </p:to>
                                    </p:set>
                                    <p:animEffect filter="fade" transition="in">
                                      <p:cBhvr>
                                        <p:cTn dur="500"/>
                                        <p:tgtEl>
                                          <p:spTgt spid="19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g39588013f93_8_8"/>
          <p:cNvSpPr txBox="1"/>
          <p:nvPr/>
        </p:nvSpPr>
        <p:spPr>
          <a:xfrm>
            <a:off x="0" y="0"/>
            <a:ext cx="12192000" cy="6520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i="1" lang="fr-FR" sz="2200">
                <a:solidFill>
                  <a:srgbClr val="FF0000"/>
                </a:solidFill>
                <a:highlight>
                  <a:srgbClr val="FFFFFF"/>
                </a:highlight>
                <a:latin typeface="Roboto"/>
                <a:ea typeface="Roboto"/>
                <a:cs typeface="Roboto"/>
                <a:sym typeface="Roboto"/>
              </a:rPr>
              <a:t>Analyse des Résultats &amp; Conclusion</a:t>
            </a:r>
            <a:endParaRPr b="1" i="1" sz="2200">
              <a:solidFill>
                <a:srgbClr val="FF0000"/>
              </a:solidFill>
              <a:highlight>
                <a:srgbClr val="FFFFFF"/>
              </a:highlight>
              <a:latin typeface="Roboto"/>
              <a:ea typeface="Roboto"/>
              <a:cs typeface="Roboto"/>
              <a:sym typeface="Roboto"/>
            </a:endParaRPr>
          </a:p>
          <a:p>
            <a:pPr indent="-349250" lvl="0" marL="457200" rtl="0" algn="l">
              <a:lnSpc>
                <a:spcPct val="115000"/>
              </a:lnSpc>
              <a:spcBef>
                <a:spcPts val="1200"/>
              </a:spcBef>
              <a:spcAft>
                <a:spcPts val="0"/>
              </a:spcAft>
              <a:buClr>
                <a:srgbClr val="FF0000"/>
              </a:buClr>
              <a:buSzPts val="1900"/>
              <a:buFont typeface="Roboto"/>
              <a:buChar char="●"/>
            </a:pPr>
            <a:r>
              <a:rPr b="1" i="1" lang="fr-FR" sz="1900">
                <a:solidFill>
                  <a:srgbClr val="FF0000"/>
                </a:solidFill>
                <a:highlight>
                  <a:srgbClr val="FFFFFF"/>
                </a:highlight>
                <a:latin typeface="Roboto"/>
                <a:ea typeface="Roboto"/>
                <a:cs typeface="Roboto"/>
                <a:sym typeface="Roboto"/>
              </a:rPr>
              <a:t>Preuve de Concept Validée :</a:t>
            </a:r>
            <a:endParaRPr b="1" i="1" sz="1900">
              <a:solidFill>
                <a:srgbClr val="FF0000"/>
              </a:solidFill>
              <a:highlight>
                <a:srgbClr val="FFFFFF"/>
              </a:highlight>
              <a:latin typeface="Roboto"/>
              <a:ea typeface="Roboto"/>
              <a:cs typeface="Roboto"/>
              <a:sym typeface="Roboto"/>
            </a:endParaRPr>
          </a:p>
          <a:p>
            <a:pPr indent="-349250" lvl="1" marL="914400" rtl="0" algn="l">
              <a:lnSpc>
                <a:spcPct val="115000"/>
              </a:lnSpc>
              <a:spcBef>
                <a:spcPts val="0"/>
              </a:spcBef>
              <a:spcAft>
                <a:spcPts val="0"/>
              </a:spcAft>
              <a:buClr>
                <a:srgbClr val="FF00FF"/>
              </a:buClr>
              <a:buSzPts val="1900"/>
              <a:buFont typeface="Roboto"/>
              <a:buChar char="○"/>
            </a:pPr>
            <a:r>
              <a:rPr i="1" lang="fr-FR" sz="1900">
                <a:solidFill>
                  <a:srgbClr val="FF00FF"/>
                </a:solidFill>
                <a:highlight>
                  <a:srgbClr val="FFFFFF"/>
                </a:highlight>
                <a:latin typeface="Roboto"/>
                <a:ea typeface="Roboto"/>
                <a:cs typeface="Roboto"/>
                <a:sym typeface="Roboto"/>
              </a:rPr>
              <a:t>Le pipeline a été testé avec succès </a:t>
            </a:r>
            <a:r>
              <a:rPr b="1" i="1" lang="fr-FR" sz="1900">
                <a:solidFill>
                  <a:srgbClr val="FF0000"/>
                </a:solidFill>
                <a:highlight>
                  <a:srgbClr val="FFFFFF"/>
                </a:highlight>
                <a:latin typeface="Roboto"/>
                <a:ea typeface="Roboto"/>
                <a:cs typeface="Roboto"/>
                <a:sym typeface="Roboto"/>
              </a:rPr>
              <a:t>en local</a:t>
            </a:r>
            <a:r>
              <a:rPr i="1" lang="fr-FR" sz="1900">
                <a:solidFill>
                  <a:srgbClr val="FF00FF"/>
                </a:solidFill>
                <a:highlight>
                  <a:srgbClr val="FFFFFF"/>
                </a:highlight>
                <a:latin typeface="Roboto"/>
                <a:ea typeface="Roboto"/>
                <a:cs typeface="Roboto"/>
                <a:sym typeface="Roboto"/>
              </a:rPr>
              <a:t> sur un environnement Windows (malgré les défis techniques), validant la logique métier.</a:t>
            </a:r>
            <a:endParaRPr i="1" sz="1900">
              <a:solidFill>
                <a:srgbClr val="FF00FF"/>
              </a:solidFill>
              <a:highlight>
                <a:srgbClr val="FFFFFF"/>
              </a:highlight>
              <a:latin typeface="Roboto"/>
              <a:ea typeface="Roboto"/>
              <a:cs typeface="Roboto"/>
              <a:sym typeface="Roboto"/>
            </a:endParaRPr>
          </a:p>
          <a:p>
            <a:pPr indent="-349250" lvl="1" marL="914400" rtl="0" algn="l">
              <a:lnSpc>
                <a:spcPct val="115000"/>
              </a:lnSpc>
              <a:spcBef>
                <a:spcPts val="0"/>
              </a:spcBef>
              <a:spcAft>
                <a:spcPts val="0"/>
              </a:spcAft>
              <a:buClr>
                <a:srgbClr val="FF00FF"/>
              </a:buClr>
              <a:buSzPts val="1900"/>
              <a:buFont typeface="Roboto"/>
              <a:buChar char="○"/>
            </a:pPr>
            <a:r>
              <a:rPr i="1" lang="fr-FR" sz="1900">
                <a:solidFill>
                  <a:srgbClr val="FF00FF"/>
                </a:solidFill>
                <a:highlight>
                  <a:srgbClr val="FFFFFF"/>
                </a:highlight>
                <a:latin typeface="Roboto"/>
                <a:ea typeface="Roboto"/>
                <a:cs typeface="Roboto"/>
                <a:sym typeface="Roboto"/>
              </a:rPr>
              <a:t>Il a ensuite été déployé et exécuté sans erreur sur un véritable cluster </a:t>
            </a:r>
            <a:r>
              <a:rPr b="1" i="1" lang="fr-FR" sz="1900">
                <a:solidFill>
                  <a:srgbClr val="FF0000"/>
                </a:solidFill>
                <a:highlight>
                  <a:srgbClr val="FFFFFF"/>
                </a:highlight>
                <a:latin typeface="Roboto"/>
                <a:ea typeface="Roboto"/>
                <a:cs typeface="Roboto"/>
                <a:sym typeface="Roboto"/>
              </a:rPr>
              <a:t>AWS EMR</a:t>
            </a:r>
            <a:r>
              <a:rPr i="1" lang="fr-FR" sz="1900">
                <a:solidFill>
                  <a:srgbClr val="FF00FF"/>
                </a:solidFill>
                <a:highlight>
                  <a:srgbClr val="FFFFFF"/>
                </a:highlight>
                <a:latin typeface="Roboto"/>
                <a:ea typeface="Roboto"/>
                <a:cs typeface="Roboto"/>
                <a:sym typeface="Roboto"/>
              </a:rPr>
              <a:t>, prouvant sa scalabilité.</a:t>
            </a:r>
            <a:endParaRPr i="1" sz="1900">
              <a:solidFill>
                <a:srgbClr val="FF00FF"/>
              </a:solidFill>
              <a:highlight>
                <a:srgbClr val="FFFFFF"/>
              </a:highlight>
              <a:latin typeface="Roboto"/>
              <a:ea typeface="Roboto"/>
              <a:cs typeface="Roboto"/>
              <a:sym typeface="Roboto"/>
            </a:endParaRPr>
          </a:p>
          <a:p>
            <a:pPr indent="-349250" lvl="0" marL="457200" rtl="0" algn="l">
              <a:lnSpc>
                <a:spcPct val="115000"/>
              </a:lnSpc>
              <a:spcBef>
                <a:spcPts val="0"/>
              </a:spcBef>
              <a:spcAft>
                <a:spcPts val="0"/>
              </a:spcAft>
              <a:buClr>
                <a:srgbClr val="FF0000"/>
              </a:buClr>
              <a:buSzPts val="1900"/>
              <a:buFont typeface="Roboto"/>
              <a:buChar char="●"/>
            </a:pPr>
            <a:r>
              <a:rPr b="1" i="1" lang="fr-FR" sz="1900">
                <a:solidFill>
                  <a:srgbClr val="FF0000"/>
                </a:solidFill>
                <a:highlight>
                  <a:srgbClr val="FFFFFF"/>
                </a:highlight>
                <a:latin typeface="Roboto"/>
                <a:ea typeface="Roboto"/>
                <a:cs typeface="Roboto"/>
                <a:sym typeface="Roboto"/>
              </a:rPr>
              <a:t>Résultats du Prototype sur le Cloud :</a:t>
            </a:r>
            <a:endParaRPr b="1" i="1" sz="1900">
              <a:solidFill>
                <a:srgbClr val="FF0000"/>
              </a:solidFill>
              <a:highlight>
                <a:srgbClr val="FFFFFF"/>
              </a:highlight>
              <a:latin typeface="Roboto"/>
              <a:ea typeface="Roboto"/>
              <a:cs typeface="Roboto"/>
              <a:sym typeface="Roboto"/>
            </a:endParaRPr>
          </a:p>
          <a:p>
            <a:pPr indent="-349250" lvl="1" marL="914400" rtl="0" algn="l">
              <a:lnSpc>
                <a:spcPct val="115000"/>
              </a:lnSpc>
              <a:spcBef>
                <a:spcPts val="0"/>
              </a:spcBef>
              <a:spcAft>
                <a:spcPts val="0"/>
              </a:spcAft>
              <a:buClr>
                <a:srgbClr val="FF00FF"/>
              </a:buClr>
              <a:buSzPts val="1900"/>
              <a:buFont typeface="Roboto"/>
              <a:buChar char="○"/>
            </a:pPr>
            <a:r>
              <a:rPr b="1" i="1" lang="fr-FR" sz="1900">
                <a:solidFill>
                  <a:srgbClr val="FF0000"/>
                </a:solidFill>
                <a:highlight>
                  <a:srgbClr val="FFFFFF"/>
                </a:highlight>
                <a:latin typeface="Roboto"/>
                <a:ea typeface="Roboto"/>
                <a:cs typeface="Roboto"/>
                <a:sym typeface="Roboto"/>
              </a:rPr>
              <a:t>100 images</a:t>
            </a:r>
            <a:r>
              <a:rPr i="1" lang="fr-FR" sz="1900">
                <a:solidFill>
                  <a:srgbClr val="FF0000"/>
                </a:solidFill>
                <a:highlight>
                  <a:srgbClr val="FFFFFF"/>
                </a:highlight>
                <a:latin typeface="Roboto"/>
                <a:ea typeface="Roboto"/>
                <a:cs typeface="Roboto"/>
                <a:sym typeface="Roboto"/>
              </a:rPr>
              <a:t> </a:t>
            </a:r>
            <a:r>
              <a:rPr i="1" lang="fr-FR" sz="1900">
                <a:solidFill>
                  <a:srgbClr val="FF00FF"/>
                </a:solidFill>
                <a:highlight>
                  <a:srgbClr val="FFFFFF"/>
                </a:highlight>
                <a:latin typeface="Roboto"/>
                <a:ea typeface="Roboto"/>
                <a:cs typeface="Roboto"/>
                <a:sym typeface="Roboto"/>
              </a:rPr>
              <a:t>du dossier de test (lot de test) ont été traitées avec succès.</a:t>
            </a:r>
            <a:endParaRPr i="1" sz="1900">
              <a:solidFill>
                <a:srgbClr val="FF00FF"/>
              </a:solidFill>
              <a:highlight>
                <a:srgbClr val="FFFFFF"/>
              </a:highlight>
              <a:latin typeface="Roboto"/>
              <a:ea typeface="Roboto"/>
              <a:cs typeface="Roboto"/>
              <a:sym typeface="Roboto"/>
            </a:endParaRPr>
          </a:p>
          <a:p>
            <a:pPr indent="-349250" lvl="1" marL="914400" rtl="0" algn="l">
              <a:lnSpc>
                <a:spcPct val="115000"/>
              </a:lnSpc>
              <a:spcBef>
                <a:spcPts val="0"/>
              </a:spcBef>
              <a:spcAft>
                <a:spcPts val="0"/>
              </a:spcAft>
              <a:buClr>
                <a:srgbClr val="FF00FF"/>
              </a:buClr>
              <a:buSzPts val="1900"/>
              <a:buFont typeface="Roboto"/>
              <a:buChar char="○"/>
            </a:pPr>
            <a:r>
              <a:rPr i="1" lang="fr-FR" sz="1900">
                <a:solidFill>
                  <a:srgbClr val="FF00FF"/>
                </a:solidFill>
                <a:highlight>
                  <a:srgbClr val="FFFFFF"/>
                </a:highlight>
                <a:latin typeface="Roboto"/>
                <a:ea typeface="Roboto"/>
                <a:cs typeface="Roboto"/>
                <a:sym typeface="Roboto"/>
              </a:rPr>
              <a:t>Chaque image a été convertie en un vecteur de caractéristiques de </a:t>
            </a:r>
            <a:r>
              <a:rPr b="1" i="1" lang="fr-FR" sz="1900">
                <a:solidFill>
                  <a:srgbClr val="FF0000"/>
                </a:solidFill>
                <a:highlight>
                  <a:srgbClr val="FFFFFF"/>
                </a:highlight>
                <a:latin typeface="Roboto"/>
                <a:ea typeface="Roboto"/>
                <a:cs typeface="Roboto"/>
                <a:sym typeface="Roboto"/>
              </a:rPr>
              <a:t>1280</a:t>
            </a:r>
            <a:r>
              <a:rPr i="1" lang="fr-FR" sz="1900">
                <a:solidFill>
                  <a:srgbClr val="FF0000"/>
                </a:solidFill>
                <a:highlight>
                  <a:srgbClr val="FFFFFF"/>
                </a:highlight>
                <a:latin typeface="Roboto"/>
                <a:ea typeface="Roboto"/>
                <a:cs typeface="Roboto"/>
                <a:sym typeface="Roboto"/>
              </a:rPr>
              <a:t> </a:t>
            </a:r>
            <a:r>
              <a:rPr b="1" i="1" lang="fr-FR" sz="1900">
                <a:solidFill>
                  <a:srgbClr val="FF0000"/>
                </a:solidFill>
                <a:highlight>
                  <a:srgbClr val="FFFFFF"/>
                </a:highlight>
                <a:latin typeface="Roboto"/>
                <a:ea typeface="Roboto"/>
                <a:cs typeface="Roboto"/>
                <a:sym typeface="Roboto"/>
              </a:rPr>
              <a:t>dimensions</a:t>
            </a:r>
            <a:r>
              <a:rPr i="1" lang="fr-FR" sz="1900">
                <a:solidFill>
                  <a:srgbClr val="FF00FF"/>
                </a:solidFill>
                <a:highlight>
                  <a:srgbClr val="FFFFFF"/>
                </a:highlight>
                <a:latin typeface="Roboto"/>
                <a:ea typeface="Roboto"/>
                <a:cs typeface="Roboto"/>
                <a:sym typeface="Roboto"/>
              </a:rPr>
              <a:t> par le modèle MobileNetV2.</a:t>
            </a:r>
            <a:endParaRPr i="1" sz="1900">
              <a:solidFill>
                <a:srgbClr val="FF00FF"/>
              </a:solidFill>
              <a:highlight>
                <a:srgbClr val="FFFFFF"/>
              </a:highlight>
              <a:latin typeface="Roboto"/>
              <a:ea typeface="Roboto"/>
              <a:cs typeface="Roboto"/>
              <a:sym typeface="Roboto"/>
            </a:endParaRPr>
          </a:p>
          <a:p>
            <a:pPr indent="-349250" lvl="1" marL="914400" rtl="0" algn="l">
              <a:lnSpc>
                <a:spcPct val="115000"/>
              </a:lnSpc>
              <a:spcBef>
                <a:spcPts val="0"/>
              </a:spcBef>
              <a:spcAft>
                <a:spcPts val="0"/>
              </a:spcAft>
              <a:buClr>
                <a:srgbClr val="FF00FF"/>
              </a:buClr>
              <a:buSzPts val="1900"/>
              <a:buFont typeface="Roboto"/>
              <a:buChar char="○"/>
            </a:pPr>
            <a:r>
              <a:rPr i="1" lang="fr-FR" sz="1900">
                <a:solidFill>
                  <a:srgbClr val="FF00FF"/>
                </a:solidFill>
                <a:highlight>
                  <a:srgbClr val="FFFFFF"/>
                </a:highlight>
                <a:latin typeface="Roboto"/>
                <a:ea typeface="Roboto"/>
                <a:cs typeface="Roboto"/>
                <a:sym typeface="Roboto"/>
              </a:rPr>
              <a:t>Les résultats sont stockés dans un format Parquet structuré sur </a:t>
            </a:r>
            <a:r>
              <a:rPr b="1" i="1" lang="fr-FR" sz="1900">
                <a:solidFill>
                  <a:srgbClr val="FF0000"/>
                </a:solidFill>
                <a:highlight>
                  <a:srgbClr val="FFFFFF"/>
                </a:highlight>
                <a:latin typeface="Roboto"/>
                <a:ea typeface="Roboto"/>
                <a:cs typeface="Roboto"/>
                <a:sym typeface="Roboto"/>
              </a:rPr>
              <a:t>S3</a:t>
            </a:r>
            <a:r>
              <a:rPr i="1" lang="fr-FR" sz="1900">
                <a:solidFill>
                  <a:srgbClr val="FF00FF"/>
                </a:solidFill>
                <a:highlight>
                  <a:srgbClr val="FFFFFF"/>
                </a:highlight>
                <a:latin typeface="Roboto"/>
                <a:ea typeface="Roboto"/>
                <a:cs typeface="Roboto"/>
                <a:sym typeface="Roboto"/>
              </a:rPr>
              <a:t>, prêts pour une étape de classification ultérieure.</a:t>
            </a:r>
            <a:endParaRPr i="1" sz="1900">
              <a:solidFill>
                <a:srgbClr val="FF00FF"/>
              </a:solidFill>
              <a:highlight>
                <a:srgbClr val="FFFFFF"/>
              </a:highlight>
              <a:latin typeface="Roboto"/>
              <a:ea typeface="Roboto"/>
              <a:cs typeface="Roboto"/>
              <a:sym typeface="Roboto"/>
            </a:endParaRPr>
          </a:p>
          <a:p>
            <a:pPr indent="-349250" lvl="0" marL="457200" rtl="0" algn="l">
              <a:lnSpc>
                <a:spcPct val="115000"/>
              </a:lnSpc>
              <a:spcBef>
                <a:spcPts val="0"/>
              </a:spcBef>
              <a:spcAft>
                <a:spcPts val="0"/>
              </a:spcAft>
              <a:buClr>
                <a:srgbClr val="FF0000"/>
              </a:buClr>
              <a:buSzPts val="1900"/>
              <a:buFont typeface="Roboto"/>
              <a:buChar char="●"/>
            </a:pPr>
            <a:r>
              <a:rPr b="1" i="1" lang="fr-FR" sz="1900">
                <a:solidFill>
                  <a:srgbClr val="FF0000"/>
                </a:solidFill>
                <a:highlight>
                  <a:srgbClr val="FFFFFF"/>
                </a:highlight>
                <a:latin typeface="Roboto"/>
                <a:ea typeface="Roboto"/>
                <a:cs typeface="Roboto"/>
                <a:sym typeface="Roboto"/>
              </a:rPr>
              <a:t>Conclusion du Projet :</a:t>
            </a:r>
            <a:endParaRPr b="1" i="1" sz="1900">
              <a:solidFill>
                <a:srgbClr val="FF0000"/>
              </a:solidFill>
              <a:highlight>
                <a:srgbClr val="FFFFFF"/>
              </a:highlight>
              <a:latin typeface="Roboto"/>
              <a:ea typeface="Roboto"/>
              <a:cs typeface="Roboto"/>
              <a:sym typeface="Roboto"/>
            </a:endParaRPr>
          </a:p>
          <a:p>
            <a:pPr indent="-349250" lvl="1" marL="914400" rtl="0" algn="l">
              <a:lnSpc>
                <a:spcPct val="115000"/>
              </a:lnSpc>
              <a:spcBef>
                <a:spcPts val="0"/>
              </a:spcBef>
              <a:spcAft>
                <a:spcPts val="0"/>
              </a:spcAft>
              <a:buClr>
                <a:srgbClr val="FF00FF"/>
              </a:buClr>
              <a:buSzPts val="1900"/>
              <a:buFont typeface="Roboto"/>
              <a:buChar char="○"/>
            </a:pPr>
            <a:r>
              <a:rPr i="1" lang="fr-FR" sz="1900">
                <a:solidFill>
                  <a:srgbClr val="FF00FF"/>
                </a:solidFill>
                <a:highlight>
                  <a:srgbClr val="FFFFFF"/>
                </a:highlight>
                <a:latin typeface="Roboto"/>
                <a:ea typeface="Roboto"/>
                <a:cs typeface="Roboto"/>
                <a:sym typeface="Roboto"/>
              </a:rPr>
              <a:t>L'objectif principal est atteint : un pipeline robuste et scalable pour l'extraction de features d'images à grande échelle a été conçu, développé et déployé avec succès sur une infrastructure cloud.</a:t>
            </a:r>
            <a:endParaRPr i="1" sz="1900">
              <a:solidFill>
                <a:srgbClr val="FF00FF"/>
              </a:solidFill>
              <a:highlight>
                <a:srgbClr val="FFFFFF"/>
              </a:highlight>
              <a:latin typeface="Roboto"/>
              <a:ea typeface="Roboto"/>
              <a:cs typeface="Roboto"/>
              <a:sym typeface="Roboto"/>
            </a:endParaRPr>
          </a:p>
          <a:p>
            <a:pPr indent="-349250" lvl="1" marL="914400" rtl="0" algn="l">
              <a:lnSpc>
                <a:spcPct val="115000"/>
              </a:lnSpc>
              <a:spcBef>
                <a:spcPts val="0"/>
              </a:spcBef>
              <a:spcAft>
                <a:spcPts val="0"/>
              </a:spcAft>
              <a:buClr>
                <a:srgbClr val="FF00FF"/>
              </a:buClr>
              <a:buSzPts val="1900"/>
              <a:buFont typeface="Roboto"/>
              <a:buChar char="○"/>
            </a:pPr>
            <a:r>
              <a:rPr i="1" lang="fr-FR" sz="1900">
                <a:solidFill>
                  <a:srgbClr val="FF00FF"/>
                </a:solidFill>
                <a:highlight>
                  <a:srgbClr val="FFFFFF"/>
                </a:highlight>
                <a:latin typeface="Roboto"/>
                <a:ea typeface="Roboto"/>
                <a:cs typeface="Roboto"/>
                <a:sym typeface="Roboto"/>
              </a:rPr>
              <a:t>L'utilisation combinée d'</a:t>
            </a:r>
            <a:r>
              <a:rPr b="1" i="1" lang="fr-FR" sz="1900">
                <a:solidFill>
                  <a:srgbClr val="FF0000"/>
                </a:solidFill>
                <a:highlight>
                  <a:srgbClr val="FFFFFF"/>
                </a:highlight>
                <a:latin typeface="Roboto"/>
                <a:ea typeface="Roboto"/>
                <a:cs typeface="Roboto"/>
                <a:sym typeface="Roboto"/>
              </a:rPr>
              <a:t>AWS EMR</a:t>
            </a:r>
            <a:r>
              <a:rPr i="1" lang="fr-FR" sz="1900">
                <a:solidFill>
                  <a:srgbClr val="FF00FF"/>
                </a:solidFill>
                <a:highlight>
                  <a:srgbClr val="FFFFFF"/>
                </a:highlight>
                <a:latin typeface="Roboto"/>
                <a:ea typeface="Roboto"/>
                <a:cs typeface="Roboto"/>
                <a:sym typeface="Roboto"/>
              </a:rPr>
              <a:t> et </a:t>
            </a:r>
            <a:r>
              <a:rPr b="1" i="1" lang="fr-FR" sz="1900">
                <a:solidFill>
                  <a:srgbClr val="FF0000"/>
                </a:solidFill>
                <a:highlight>
                  <a:srgbClr val="FFFFFF"/>
                </a:highlight>
                <a:latin typeface="Roboto"/>
                <a:ea typeface="Roboto"/>
                <a:cs typeface="Roboto"/>
                <a:sym typeface="Roboto"/>
              </a:rPr>
              <a:t>S3</a:t>
            </a:r>
            <a:r>
              <a:rPr i="1" lang="fr-FR" sz="1900">
                <a:solidFill>
                  <a:srgbClr val="FF00FF"/>
                </a:solidFill>
                <a:highlight>
                  <a:srgbClr val="FFFFFF"/>
                </a:highlight>
                <a:latin typeface="Roboto"/>
                <a:ea typeface="Roboto"/>
                <a:cs typeface="Roboto"/>
                <a:sym typeface="Roboto"/>
              </a:rPr>
              <a:t> a permis de répondre de manière efficace et économique aux exigences de scalabilité et de gestion des données du projet.</a:t>
            </a:r>
            <a:endParaRPr i="1" sz="1900">
              <a:solidFill>
                <a:srgbClr val="FF00FF"/>
              </a:solidFill>
              <a:highlight>
                <a:srgbClr val="FFFFFF"/>
              </a:highlight>
              <a:latin typeface="Roboto"/>
              <a:ea typeface="Roboto"/>
              <a:cs typeface="Roboto"/>
              <a:sym typeface="Roboto"/>
            </a:endParaRPr>
          </a:p>
          <a:p>
            <a:pPr indent="-349250" lvl="1" marL="914400" rtl="0" algn="l">
              <a:lnSpc>
                <a:spcPct val="115000"/>
              </a:lnSpc>
              <a:spcBef>
                <a:spcPts val="0"/>
              </a:spcBef>
              <a:spcAft>
                <a:spcPts val="0"/>
              </a:spcAft>
              <a:buClr>
                <a:srgbClr val="FF00FF"/>
              </a:buClr>
              <a:buSzPts val="1900"/>
              <a:buFont typeface="Roboto"/>
              <a:buChar char="○"/>
            </a:pPr>
            <a:r>
              <a:rPr i="1" lang="fr-FR" sz="1900">
                <a:solidFill>
                  <a:srgbClr val="FF00FF"/>
                </a:solidFill>
                <a:highlight>
                  <a:srgbClr val="FFFFFF"/>
                </a:highlight>
                <a:latin typeface="Roboto"/>
                <a:ea typeface="Roboto"/>
                <a:cs typeface="Roboto"/>
                <a:sym typeface="Roboto"/>
              </a:rPr>
              <a:t>Le passage de la simulation locale à un cluster cloud a été réalisé avec succès, démontrant la flexibilité de la solution.</a:t>
            </a:r>
            <a:endParaRPr i="1" sz="1900">
              <a:solidFill>
                <a:srgbClr val="FF00FF"/>
              </a:solidFill>
              <a:highlight>
                <a:srgbClr val="FFFFFF"/>
              </a:highlight>
              <a:latin typeface="Roboto"/>
              <a:ea typeface="Roboto"/>
              <a:cs typeface="Roboto"/>
              <a:sym typeface="Roboto"/>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g39588013f93_8_13"/>
          <p:cNvSpPr txBox="1"/>
          <p:nvPr/>
        </p:nvSpPr>
        <p:spPr>
          <a:xfrm>
            <a:off x="0" y="0"/>
            <a:ext cx="12192000" cy="61776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2400"/>
              </a:spcBef>
              <a:spcAft>
                <a:spcPts val="0"/>
              </a:spcAft>
              <a:buNone/>
            </a:pPr>
            <a:r>
              <a:rPr b="1" i="1" lang="fr-FR" sz="2000">
                <a:solidFill>
                  <a:srgbClr val="FF0000"/>
                </a:solidFill>
                <a:highlight>
                  <a:srgbClr val="FFFFFF"/>
                </a:highlight>
                <a:latin typeface="Roboto"/>
                <a:ea typeface="Roboto"/>
                <a:cs typeface="Roboto"/>
                <a:sym typeface="Roboto"/>
              </a:rPr>
              <a:t>Apprentissages Clés &amp; Étapes Futures </a:t>
            </a:r>
            <a:endParaRPr b="1" i="1" sz="2000">
              <a:solidFill>
                <a:srgbClr val="FF0000"/>
              </a:solidFill>
              <a:highlight>
                <a:srgbClr val="FFFFFF"/>
              </a:highlight>
              <a:latin typeface="Roboto"/>
              <a:ea typeface="Roboto"/>
              <a:cs typeface="Roboto"/>
              <a:sym typeface="Roboto"/>
            </a:endParaRPr>
          </a:p>
          <a:p>
            <a:pPr indent="-336550" lvl="0" marL="457200" rtl="0" algn="l">
              <a:lnSpc>
                <a:spcPct val="115000"/>
              </a:lnSpc>
              <a:spcBef>
                <a:spcPts val="1200"/>
              </a:spcBef>
              <a:spcAft>
                <a:spcPts val="0"/>
              </a:spcAft>
              <a:buClr>
                <a:srgbClr val="FF0000"/>
              </a:buClr>
              <a:buSzPts val="1700"/>
              <a:buFont typeface="Roboto"/>
              <a:buChar char="●"/>
            </a:pPr>
            <a:r>
              <a:rPr b="1" i="1" lang="fr-FR" sz="1700">
                <a:solidFill>
                  <a:srgbClr val="FF0000"/>
                </a:solidFill>
                <a:highlight>
                  <a:srgbClr val="FFFFFF"/>
                </a:highlight>
                <a:latin typeface="Roboto"/>
                <a:ea typeface="Roboto"/>
                <a:cs typeface="Roboto"/>
                <a:sym typeface="Roboto"/>
              </a:rPr>
              <a:t>Apprentissages Clés :</a:t>
            </a:r>
            <a:endParaRPr b="1" i="1" sz="1700">
              <a:solidFill>
                <a:srgbClr val="FF0000"/>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000FF"/>
              </a:buClr>
              <a:buSzPts val="1200"/>
              <a:buFont typeface="Roboto"/>
              <a:buChar char="○"/>
            </a:pPr>
            <a:r>
              <a:rPr b="1" i="1" lang="fr-FR" sz="1700">
                <a:solidFill>
                  <a:srgbClr val="FF0000"/>
                </a:solidFill>
                <a:highlight>
                  <a:srgbClr val="FFFFFF"/>
                </a:highlight>
                <a:latin typeface="Roboto"/>
                <a:ea typeface="Roboto"/>
                <a:cs typeface="Roboto"/>
                <a:sym typeface="Roboto"/>
              </a:rPr>
              <a:t>Maîtrise de PySpark :</a:t>
            </a:r>
            <a:r>
              <a:rPr b="1" i="1" lang="fr-FR" sz="1700">
                <a:solidFill>
                  <a:srgbClr val="0000FF"/>
                </a:solidFill>
                <a:highlight>
                  <a:srgbClr val="FFFFFF"/>
                </a:highlight>
                <a:latin typeface="Roboto"/>
                <a:ea typeface="Roboto"/>
                <a:cs typeface="Roboto"/>
                <a:sym typeface="Roboto"/>
              </a:rPr>
              <a:t> </a:t>
            </a:r>
            <a:r>
              <a:rPr i="1" lang="fr-FR" sz="1700">
                <a:solidFill>
                  <a:srgbClr val="0000FF"/>
                </a:solidFill>
                <a:highlight>
                  <a:srgbClr val="FFFFFF"/>
                </a:highlight>
                <a:latin typeface="Roboto"/>
                <a:ea typeface="Roboto"/>
                <a:cs typeface="Roboto"/>
                <a:sym typeface="Roboto"/>
              </a:rPr>
              <a:t>Utilisation avancée des DataFrames, gestion des chemins de fichiers avec </a:t>
            </a:r>
            <a:r>
              <a:rPr i="1" lang="fr-FR" sz="1550">
                <a:solidFill>
                  <a:srgbClr val="0000FF"/>
                </a:solidFill>
                <a:highlight>
                  <a:srgbClr val="EBEEF2"/>
                </a:highlight>
                <a:latin typeface="Roboto Mono"/>
                <a:ea typeface="Roboto Mono"/>
                <a:cs typeface="Roboto Mono"/>
                <a:sym typeface="Roboto Mono"/>
              </a:rPr>
              <a:t>input_file_name()</a:t>
            </a:r>
            <a:r>
              <a:rPr i="1" lang="fr-FR" sz="1700">
                <a:solidFill>
                  <a:srgbClr val="0000FF"/>
                </a:solidFill>
                <a:highlight>
                  <a:srgbClr val="FFFFFF"/>
                </a:highlight>
                <a:latin typeface="Roboto"/>
                <a:ea typeface="Roboto"/>
                <a:cs typeface="Roboto"/>
                <a:sym typeface="Roboto"/>
              </a:rPr>
              <a:t>, et surtout, création et déploiement de Pandas UDFs (</a:t>
            </a:r>
            <a:r>
              <a:rPr i="1" lang="fr-FR" sz="1550">
                <a:solidFill>
                  <a:srgbClr val="0000FF"/>
                </a:solidFill>
                <a:highlight>
                  <a:srgbClr val="EBEEF2"/>
                </a:highlight>
                <a:latin typeface="Roboto Mono"/>
                <a:ea typeface="Roboto Mono"/>
                <a:cs typeface="Roboto Mono"/>
                <a:sym typeface="Roboto Mono"/>
              </a:rPr>
              <a:t>SCALAR</a:t>
            </a:r>
            <a:r>
              <a:rPr i="1" lang="fr-FR" sz="1700">
                <a:solidFill>
                  <a:srgbClr val="0000FF"/>
                </a:solidFill>
                <a:highlight>
                  <a:srgbClr val="FFFFFF"/>
                </a:highlight>
                <a:latin typeface="Roboto"/>
                <a:ea typeface="Roboto"/>
                <a:cs typeface="Roboto"/>
                <a:sym typeface="Roboto"/>
              </a:rPr>
              <a:t>) pour le calcul distribué de modèles de deep learning.</a:t>
            </a:r>
            <a:endParaRPr i="1" sz="1700">
              <a:solidFill>
                <a:srgbClr val="0000FF"/>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000FF"/>
              </a:buClr>
              <a:buSzPts val="1200"/>
              <a:buFont typeface="Roboto"/>
              <a:buChar char="○"/>
            </a:pPr>
            <a:r>
              <a:rPr b="1" i="1" lang="fr-FR" sz="1700">
                <a:solidFill>
                  <a:srgbClr val="FF0000"/>
                </a:solidFill>
                <a:highlight>
                  <a:srgbClr val="FFFFFF"/>
                </a:highlight>
                <a:latin typeface="Roboto"/>
                <a:ea typeface="Roboto"/>
                <a:cs typeface="Roboto"/>
                <a:sym typeface="Roboto"/>
              </a:rPr>
              <a:t>Intégration TensorFlow/Spark :</a:t>
            </a:r>
            <a:r>
              <a:rPr b="1" i="1" lang="fr-FR" sz="1700">
                <a:solidFill>
                  <a:srgbClr val="0000FF"/>
                </a:solidFill>
                <a:highlight>
                  <a:srgbClr val="FFFFFF"/>
                </a:highlight>
                <a:latin typeface="Roboto"/>
                <a:ea typeface="Roboto"/>
                <a:cs typeface="Roboto"/>
                <a:sym typeface="Roboto"/>
              </a:rPr>
              <a:t> </a:t>
            </a:r>
            <a:r>
              <a:rPr i="1" lang="fr-FR" sz="1700">
                <a:solidFill>
                  <a:srgbClr val="0000FF"/>
                </a:solidFill>
                <a:highlight>
                  <a:srgbClr val="FFFFFF"/>
                </a:highlight>
                <a:latin typeface="Roboto"/>
                <a:ea typeface="Roboto"/>
                <a:cs typeface="Roboto"/>
                <a:sym typeface="Roboto"/>
              </a:rPr>
              <a:t>Mise en œuvre réussie de l'inférence d'un modèle </a:t>
            </a:r>
            <a:r>
              <a:rPr i="1" lang="fr-FR" sz="1550">
                <a:solidFill>
                  <a:srgbClr val="0000FF"/>
                </a:solidFill>
                <a:highlight>
                  <a:srgbClr val="EBEEF2"/>
                </a:highlight>
                <a:latin typeface="Roboto Mono"/>
                <a:ea typeface="Roboto Mono"/>
                <a:cs typeface="Roboto Mono"/>
                <a:sym typeface="Roboto Mono"/>
              </a:rPr>
              <a:t>MobileNetV2</a:t>
            </a:r>
            <a:r>
              <a:rPr i="1" lang="fr-FR" sz="1700">
                <a:solidFill>
                  <a:srgbClr val="0000FF"/>
                </a:solidFill>
                <a:highlight>
                  <a:srgbClr val="FFFFFF"/>
                </a:highlight>
                <a:latin typeface="Roboto"/>
                <a:ea typeface="Roboto"/>
                <a:cs typeface="Roboto"/>
                <a:sym typeface="Roboto"/>
              </a:rPr>
              <a:t> pré-entraîné sur des données partitionnées par Spark, avec </a:t>
            </a:r>
            <a:r>
              <a:rPr b="1" i="1" lang="fr-FR" sz="1700">
                <a:solidFill>
                  <a:srgbClr val="FF0000"/>
                </a:solidFill>
                <a:highlight>
                  <a:srgbClr val="FFFFFF"/>
                </a:highlight>
                <a:latin typeface="Roboto"/>
                <a:ea typeface="Roboto"/>
                <a:cs typeface="Roboto"/>
                <a:sym typeface="Roboto"/>
              </a:rPr>
              <a:t>broadcast des poids.</a:t>
            </a:r>
            <a:endParaRPr b="1" i="1" sz="1700">
              <a:solidFill>
                <a:srgbClr val="FF0000"/>
              </a:solidFill>
              <a:highlight>
                <a:srgbClr val="FFFFFF"/>
              </a:highlight>
              <a:latin typeface="Roboto"/>
              <a:ea typeface="Roboto"/>
              <a:cs typeface="Roboto"/>
              <a:sym typeface="Roboto"/>
            </a:endParaRPr>
          </a:p>
          <a:p>
            <a:pPr indent="-336550" lvl="1" marL="914400" rtl="0" algn="l">
              <a:lnSpc>
                <a:spcPct val="115000"/>
              </a:lnSpc>
              <a:spcBef>
                <a:spcPts val="0"/>
              </a:spcBef>
              <a:spcAft>
                <a:spcPts val="0"/>
              </a:spcAft>
              <a:buClr>
                <a:srgbClr val="0000FF"/>
              </a:buClr>
              <a:buSzPts val="1700"/>
              <a:buFont typeface="Roboto"/>
              <a:buChar char="○"/>
            </a:pPr>
            <a:r>
              <a:rPr b="1" i="1" lang="fr-FR" sz="1700">
                <a:solidFill>
                  <a:srgbClr val="FF0000"/>
                </a:solidFill>
                <a:highlight>
                  <a:srgbClr val="FFFFFF"/>
                </a:highlight>
                <a:latin typeface="Roboto"/>
                <a:ea typeface="Roboto"/>
                <a:cs typeface="Roboto"/>
                <a:sym typeface="Roboto"/>
              </a:rPr>
              <a:t>Gestion des données distribuées :</a:t>
            </a:r>
            <a:r>
              <a:rPr b="1" i="1" lang="fr-FR" sz="1700">
                <a:solidFill>
                  <a:srgbClr val="0000FF"/>
                </a:solidFill>
                <a:highlight>
                  <a:srgbClr val="FFFFFF"/>
                </a:highlight>
                <a:latin typeface="Roboto"/>
                <a:ea typeface="Roboto"/>
                <a:cs typeface="Roboto"/>
                <a:sym typeface="Roboto"/>
              </a:rPr>
              <a:t> </a:t>
            </a:r>
            <a:r>
              <a:rPr i="1" lang="fr-FR" sz="1700">
                <a:solidFill>
                  <a:srgbClr val="0000FF"/>
                </a:solidFill>
                <a:highlight>
                  <a:srgbClr val="FFFFFF"/>
                </a:highlight>
                <a:latin typeface="Roboto"/>
                <a:ea typeface="Roboto"/>
                <a:cs typeface="Roboto"/>
                <a:sym typeface="Roboto"/>
              </a:rPr>
              <a:t>Découverte et adoption du format </a:t>
            </a:r>
            <a:r>
              <a:rPr b="1" i="1" lang="fr-FR" sz="1700">
                <a:solidFill>
                  <a:srgbClr val="FF0000"/>
                </a:solidFill>
                <a:highlight>
                  <a:srgbClr val="FFFFFF"/>
                </a:highlight>
                <a:latin typeface="Roboto"/>
                <a:ea typeface="Roboto"/>
                <a:cs typeface="Roboto"/>
                <a:sym typeface="Roboto"/>
              </a:rPr>
              <a:t>Parquet</a:t>
            </a:r>
            <a:r>
              <a:rPr i="1" lang="fr-FR" sz="1700">
                <a:solidFill>
                  <a:srgbClr val="0000FF"/>
                </a:solidFill>
                <a:highlight>
                  <a:srgbClr val="FFFFFF"/>
                </a:highlight>
                <a:latin typeface="Roboto"/>
                <a:ea typeface="Roboto"/>
                <a:cs typeface="Roboto"/>
                <a:sym typeface="Roboto"/>
              </a:rPr>
              <a:t> pour un stockage et un accès optimisés, ainsi que la lecture depuis </a:t>
            </a:r>
            <a:r>
              <a:rPr i="1" lang="fr-FR" sz="1700">
                <a:solidFill>
                  <a:srgbClr val="FF0000"/>
                </a:solidFill>
                <a:highlight>
                  <a:srgbClr val="FFFFFF"/>
                </a:highlight>
                <a:latin typeface="Roboto"/>
                <a:ea typeface="Roboto"/>
                <a:cs typeface="Roboto"/>
                <a:sym typeface="Roboto"/>
              </a:rPr>
              <a:t>S3.</a:t>
            </a:r>
            <a:endParaRPr i="1" sz="1700">
              <a:solidFill>
                <a:srgbClr val="FF0000"/>
              </a:solidFill>
              <a:highlight>
                <a:srgbClr val="FFFFFF"/>
              </a:highlight>
              <a:latin typeface="Roboto"/>
              <a:ea typeface="Roboto"/>
              <a:cs typeface="Roboto"/>
              <a:sym typeface="Roboto"/>
            </a:endParaRPr>
          </a:p>
          <a:p>
            <a:pPr indent="-336550" lvl="1" marL="914400" rtl="0" algn="l">
              <a:lnSpc>
                <a:spcPct val="115000"/>
              </a:lnSpc>
              <a:spcBef>
                <a:spcPts val="0"/>
              </a:spcBef>
              <a:spcAft>
                <a:spcPts val="0"/>
              </a:spcAft>
              <a:buClr>
                <a:srgbClr val="0000FF"/>
              </a:buClr>
              <a:buSzPts val="1700"/>
              <a:buFont typeface="Roboto"/>
              <a:buChar char="○"/>
            </a:pPr>
            <a:r>
              <a:rPr b="1" i="1" lang="fr-FR" sz="1700">
                <a:solidFill>
                  <a:srgbClr val="FF0000"/>
                </a:solidFill>
                <a:highlight>
                  <a:srgbClr val="FFFFFF"/>
                </a:highlight>
                <a:latin typeface="Roboto"/>
                <a:ea typeface="Roboto"/>
                <a:cs typeface="Roboto"/>
                <a:sym typeface="Roboto"/>
              </a:rPr>
              <a:t>Écosystème AWS :</a:t>
            </a:r>
            <a:r>
              <a:rPr i="1" lang="fr-FR" sz="1700">
                <a:solidFill>
                  <a:srgbClr val="0000FF"/>
                </a:solidFill>
                <a:highlight>
                  <a:srgbClr val="FFFFFF"/>
                </a:highlight>
                <a:latin typeface="Roboto"/>
                <a:ea typeface="Roboto"/>
                <a:cs typeface="Roboto"/>
                <a:sym typeface="Roboto"/>
              </a:rPr>
              <a:t> Prise en main concrète des services </a:t>
            </a:r>
            <a:r>
              <a:rPr b="1" i="1" lang="fr-FR" sz="1700">
                <a:solidFill>
                  <a:srgbClr val="FF0000"/>
                </a:solidFill>
                <a:highlight>
                  <a:srgbClr val="FFFFFF"/>
                </a:highlight>
                <a:latin typeface="Roboto"/>
                <a:ea typeface="Roboto"/>
                <a:cs typeface="Roboto"/>
                <a:sym typeface="Roboto"/>
              </a:rPr>
              <a:t>EMR</a:t>
            </a:r>
            <a:r>
              <a:rPr i="1" lang="fr-FR" sz="1700">
                <a:solidFill>
                  <a:srgbClr val="0000FF"/>
                </a:solidFill>
                <a:highlight>
                  <a:srgbClr val="FFFFFF"/>
                </a:highlight>
                <a:latin typeface="Roboto"/>
                <a:ea typeface="Roboto"/>
                <a:cs typeface="Roboto"/>
                <a:sym typeface="Roboto"/>
              </a:rPr>
              <a:t> (configuration, bootstrapping, gestion des applications), </a:t>
            </a:r>
            <a:r>
              <a:rPr b="1" i="1" lang="fr-FR" sz="1700">
                <a:solidFill>
                  <a:srgbClr val="FF0000"/>
                </a:solidFill>
                <a:highlight>
                  <a:srgbClr val="FFFFFF"/>
                </a:highlight>
                <a:latin typeface="Roboto"/>
                <a:ea typeface="Roboto"/>
                <a:cs typeface="Roboto"/>
                <a:sym typeface="Roboto"/>
              </a:rPr>
              <a:t>S3</a:t>
            </a:r>
            <a:r>
              <a:rPr b="1" i="1" lang="fr-FR" sz="1700">
                <a:solidFill>
                  <a:srgbClr val="0000FF"/>
                </a:solidFill>
                <a:highlight>
                  <a:srgbClr val="FFFFFF"/>
                </a:highlight>
                <a:latin typeface="Roboto"/>
                <a:ea typeface="Roboto"/>
                <a:cs typeface="Roboto"/>
                <a:sym typeface="Roboto"/>
              </a:rPr>
              <a:t> </a:t>
            </a:r>
            <a:r>
              <a:rPr i="1" lang="fr-FR" sz="1700">
                <a:solidFill>
                  <a:srgbClr val="0000FF"/>
                </a:solidFill>
                <a:highlight>
                  <a:srgbClr val="FFFFFF"/>
                </a:highlight>
                <a:latin typeface="Roboto"/>
                <a:ea typeface="Roboto"/>
                <a:cs typeface="Roboto"/>
                <a:sym typeface="Roboto"/>
              </a:rPr>
              <a:t>(stockage et accès aux données), et configuration réseau avancée (gestion des clés SSH, tunnels, proxy avec FoxyProxy).</a:t>
            </a:r>
            <a:endParaRPr i="1" sz="1700">
              <a:solidFill>
                <a:srgbClr val="0000FF"/>
              </a:solidFill>
              <a:highlight>
                <a:srgbClr val="FFFFFF"/>
              </a:highlight>
              <a:latin typeface="Roboto"/>
              <a:ea typeface="Roboto"/>
              <a:cs typeface="Roboto"/>
              <a:sym typeface="Roboto"/>
            </a:endParaRPr>
          </a:p>
          <a:p>
            <a:pPr indent="-336550" lvl="0" marL="457200" rtl="0" algn="l">
              <a:lnSpc>
                <a:spcPct val="115000"/>
              </a:lnSpc>
              <a:spcBef>
                <a:spcPts val="0"/>
              </a:spcBef>
              <a:spcAft>
                <a:spcPts val="0"/>
              </a:spcAft>
              <a:buClr>
                <a:srgbClr val="FF0000"/>
              </a:buClr>
              <a:buSzPts val="1700"/>
              <a:buFont typeface="Roboto"/>
              <a:buChar char="●"/>
            </a:pPr>
            <a:r>
              <a:rPr b="1" i="1" lang="fr-FR" sz="1700">
                <a:solidFill>
                  <a:srgbClr val="FF0000"/>
                </a:solidFill>
                <a:highlight>
                  <a:srgbClr val="FFFFFF"/>
                </a:highlight>
                <a:latin typeface="Roboto"/>
                <a:ea typeface="Roboto"/>
                <a:cs typeface="Roboto"/>
                <a:sym typeface="Roboto"/>
              </a:rPr>
              <a:t>Étapes Futures :</a:t>
            </a:r>
            <a:endParaRPr b="1" i="1" sz="1700">
              <a:solidFill>
                <a:srgbClr val="FF0000"/>
              </a:solidFill>
              <a:highlight>
                <a:srgbClr val="FFFFFF"/>
              </a:highlight>
              <a:latin typeface="Roboto"/>
              <a:ea typeface="Roboto"/>
              <a:cs typeface="Roboto"/>
              <a:sym typeface="Roboto"/>
            </a:endParaRPr>
          </a:p>
          <a:p>
            <a:pPr indent="-336550" lvl="1" marL="914400" rtl="0" algn="l">
              <a:lnSpc>
                <a:spcPct val="115000"/>
              </a:lnSpc>
              <a:spcBef>
                <a:spcPts val="0"/>
              </a:spcBef>
              <a:spcAft>
                <a:spcPts val="0"/>
              </a:spcAft>
              <a:buClr>
                <a:srgbClr val="0000FF"/>
              </a:buClr>
              <a:buSzPts val="1700"/>
              <a:buFont typeface="Roboto"/>
              <a:buChar char="○"/>
            </a:pPr>
            <a:r>
              <a:rPr b="1" i="1" lang="fr-FR" sz="1700">
                <a:solidFill>
                  <a:srgbClr val="FF0000"/>
                </a:solidFill>
                <a:highlight>
                  <a:srgbClr val="FFFFFF"/>
                </a:highlight>
                <a:latin typeface="Roboto"/>
                <a:ea typeface="Roboto"/>
                <a:cs typeface="Roboto"/>
                <a:sym typeface="Roboto"/>
              </a:rPr>
              <a:t>Traitement à grande échelle :</a:t>
            </a:r>
            <a:r>
              <a:rPr b="1" i="1" lang="fr-FR" sz="1700">
                <a:solidFill>
                  <a:srgbClr val="0000FF"/>
                </a:solidFill>
                <a:highlight>
                  <a:srgbClr val="FFFFFF"/>
                </a:highlight>
                <a:latin typeface="Roboto"/>
                <a:ea typeface="Roboto"/>
                <a:cs typeface="Roboto"/>
                <a:sym typeface="Roboto"/>
              </a:rPr>
              <a:t> </a:t>
            </a:r>
            <a:r>
              <a:rPr i="1" lang="fr-FR" sz="1700">
                <a:solidFill>
                  <a:srgbClr val="0000FF"/>
                </a:solidFill>
                <a:highlight>
                  <a:srgbClr val="FFFFFF"/>
                </a:highlight>
                <a:latin typeface="Roboto"/>
                <a:ea typeface="Roboto"/>
                <a:cs typeface="Roboto"/>
                <a:sym typeface="Roboto"/>
              </a:rPr>
              <a:t>Exécuter le pipeline sur la totalité des 22,688 images du jeu de test.</a:t>
            </a:r>
            <a:endParaRPr i="1" sz="1700">
              <a:solidFill>
                <a:srgbClr val="0000FF"/>
              </a:solidFill>
              <a:highlight>
                <a:srgbClr val="FFFFFF"/>
              </a:highlight>
              <a:latin typeface="Roboto"/>
              <a:ea typeface="Roboto"/>
              <a:cs typeface="Roboto"/>
              <a:sym typeface="Roboto"/>
            </a:endParaRPr>
          </a:p>
          <a:p>
            <a:pPr indent="-336550" lvl="1" marL="914400" rtl="0" algn="l">
              <a:lnSpc>
                <a:spcPct val="115000"/>
              </a:lnSpc>
              <a:spcBef>
                <a:spcPts val="0"/>
              </a:spcBef>
              <a:spcAft>
                <a:spcPts val="0"/>
              </a:spcAft>
              <a:buClr>
                <a:srgbClr val="0000FF"/>
              </a:buClr>
              <a:buSzPts val="1700"/>
              <a:buFont typeface="Roboto"/>
              <a:buChar char="○"/>
            </a:pPr>
            <a:r>
              <a:rPr b="1" i="1" lang="fr-FR" sz="1700">
                <a:solidFill>
                  <a:srgbClr val="FF0000"/>
                </a:solidFill>
                <a:highlight>
                  <a:srgbClr val="FFFFFF"/>
                </a:highlight>
                <a:latin typeface="Roboto"/>
                <a:ea typeface="Roboto"/>
                <a:cs typeface="Roboto"/>
                <a:sym typeface="Roboto"/>
              </a:rPr>
              <a:t>Classification des features :</a:t>
            </a:r>
            <a:r>
              <a:rPr i="1" lang="fr-FR" sz="1700">
                <a:solidFill>
                  <a:srgbClr val="0000FF"/>
                </a:solidFill>
                <a:highlight>
                  <a:srgbClr val="FFFFFF"/>
                </a:highlight>
                <a:latin typeface="Roboto"/>
                <a:ea typeface="Roboto"/>
                <a:cs typeface="Roboto"/>
                <a:sym typeface="Roboto"/>
              </a:rPr>
              <a:t> Utiliser les vecteurs de features extraits pour entraîner un classifieur (ex: régression logistique, forêt aléatoire, SVM) avec </a:t>
            </a:r>
            <a:r>
              <a:rPr b="1" i="1" lang="fr-FR" sz="1700">
                <a:solidFill>
                  <a:srgbClr val="FF0000"/>
                </a:solidFill>
                <a:highlight>
                  <a:srgbClr val="FFFFFF"/>
                </a:highlight>
                <a:latin typeface="Roboto"/>
                <a:ea typeface="Roboto"/>
                <a:cs typeface="Roboto"/>
                <a:sym typeface="Roboto"/>
              </a:rPr>
              <a:t>Spark MLlib</a:t>
            </a:r>
            <a:r>
              <a:rPr i="1" lang="fr-FR" sz="1700">
                <a:solidFill>
                  <a:srgbClr val="0000FF"/>
                </a:solidFill>
                <a:highlight>
                  <a:srgbClr val="FFFFFF"/>
                </a:highlight>
                <a:latin typeface="Roboto"/>
                <a:ea typeface="Roboto"/>
                <a:cs typeface="Roboto"/>
                <a:sym typeface="Roboto"/>
              </a:rPr>
              <a:t> et évaluer ses performances sur un véritable cluster </a:t>
            </a:r>
            <a:r>
              <a:rPr i="1" lang="fr-FR" sz="1700">
                <a:solidFill>
                  <a:srgbClr val="FF0000"/>
                </a:solidFill>
                <a:highlight>
                  <a:srgbClr val="FFFFFF"/>
                </a:highlight>
                <a:latin typeface="Roboto"/>
                <a:ea typeface="Roboto"/>
                <a:cs typeface="Roboto"/>
                <a:sym typeface="Roboto"/>
              </a:rPr>
              <a:t>EMR</a:t>
            </a:r>
            <a:r>
              <a:rPr i="1" lang="fr-FR" sz="1700">
                <a:solidFill>
                  <a:srgbClr val="0000FF"/>
                </a:solidFill>
                <a:highlight>
                  <a:srgbClr val="FFFFFF"/>
                </a:highlight>
                <a:latin typeface="Roboto"/>
                <a:ea typeface="Roboto"/>
                <a:cs typeface="Roboto"/>
                <a:sym typeface="Roboto"/>
              </a:rPr>
              <a:t>.</a:t>
            </a:r>
            <a:endParaRPr i="1" sz="1700">
              <a:solidFill>
                <a:srgbClr val="0000FF"/>
              </a:solidFill>
              <a:highlight>
                <a:srgbClr val="FFFFFF"/>
              </a:highlight>
              <a:latin typeface="Roboto"/>
              <a:ea typeface="Roboto"/>
              <a:cs typeface="Roboto"/>
              <a:sym typeface="Roboto"/>
            </a:endParaRPr>
          </a:p>
          <a:p>
            <a:pPr indent="-304800" lvl="1" marL="914400" rtl="0" algn="l">
              <a:lnSpc>
                <a:spcPct val="115000"/>
              </a:lnSpc>
              <a:spcBef>
                <a:spcPts val="0"/>
              </a:spcBef>
              <a:spcAft>
                <a:spcPts val="0"/>
              </a:spcAft>
              <a:buClr>
                <a:srgbClr val="0000FF"/>
              </a:buClr>
              <a:buSzPts val="1200"/>
              <a:buFont typeface="Roboto"/>
              <a:buChar char="○"/>
            </a:pPr>
            <a:r>
              <a:rPr b="1" i="1" lang="fr-FR" sz="1700">
                <a:solidFill>
                  <a:srgbClr val="FF0000"/>
                </a:solidFill>
                <a:highlight>
                  <a:srgbClr val="FFFFFF"/>
                </a:highlight>
                <a:latin typeface="Roboto"/>
                <a:ea typeface="Roboto"/>
                <a:cs typeface="Roboto"/>
                <a:sym typeface="Roboto"/>
              </a:rPr>
              <a:t>Optimisation des performances :</a:t>
            </a:r>
            <a:r>
              <a:rPr b="1" i="1" lang="fr-FR" sz="1700">
                <a:solidFill>
                  <a:srgbClr val="0000FF"/>
                </a:solidFill>
                <a:highlight>
                  <a:srgbClr val="FFFFFF"/>
                </a:highlight>
                <a:latin typeface="Roboto"/>
                <a:ea typeface="Roboto"/>
                <a:cs typeface="Roboto"/>
                <a:sym typeface="Roboto"/>
              </a:rPr>
              <a:t> </a:t>
            </a:r>
            <a:r>
              <a:rPr i="1" lang="fr-FR" sz="1700">
                <a:solidFill>
                  <a:srgbClr val="0000FF"/>
                </a:solidFill>
                <a:highlight>
                  <a:srgbClr val="FFFFFF"/>
                </a:highlight>
                <a:latin typeface="Roboto"/>
                <a:ea typeface="Roboto"/>
                <a:cs typeface="Roboto"/>
                <a:sym typeface="Roboto"/>
              </a:rPr>
              <a:t>Tester différentes configurations (nombre de partitions, taille des batches avec </a:t>
            </a:r>
            <a:r>
              <a:rPr i="1" lang="fr-FR" sz="1550">
                <a:solidFill>
                  <a:srgbClr val="0000FF"/>
                </a:solidFill>
                <a:highlight>
                  <a:srgbClr val="EBEEF2"/>
                </a:highlight>
                <a:latin typeface="Roboto Mono"/>
                <a:ea typeface="Roboto Mono"/>
                <a:cs typeface="Roboto Mono"/>
                <a:sym typeface="Roboto Mono"/>
              </a:rPr>
              <a:t>spark.sql.execution.arrow.maxRecordsPerBatch</a:t>
            </a:r>
            <a:r>
              <a:rPr i="1" lang="fr-FR" sz="1700">
                <a:solidFill>
                  <a:srgbClr val="0000FF"/>
                </a:solidFill>
                <a:highlight>
                  <a:srgbClr val="FFFFFF"/>
                </a:highlight>
                <a:latin typeface="Roboto"/>
                <a:ea typeface="Roboto"/>
                <a:cs typeface="Roboto"/>
                <a:sym typeface="Roboto"/>
              </a:rPr>
              <a:t>) pour améliorer la vitesse d'exécution sur le cluster.</a:t>
            </a:r>
            <a:endParaRPr i="1" sz="1700">
              <a:solidFill>
                <a:srgbClr val="0000FF"/>
              </a:solidFill>
              <a:highlight>
                <a:srgbClr val="FFFFFF"/>
              </a:highlight>
              <a:latin typeface="Roboto"/>
              <a:ea typeface="Roboto"/>
              <a:cs typeface="Roboto"/>
              <a:sym typeface="Roboto"/>
            </a:endParaRPr>
          </a:p>
          <a:p>
            <a:pPr indent="-336550" lvl="1" marL="914400" rtl="0" algn="l">
              <a:lnSpc>
                <a:spcPct val="115000"/>
              </a:lnSpc>
              <a:spcBef>
                <a:spcPts val="0"/>
              </a:spcBef>
              <a:spcAft>
                <a:spcPts val="0"/>
              </a:spcAft>
              <a:buClr>
                <a:srgbClr val="0000FF"/>
              </a:buClr>
              <a:buSzPts val="1700"/>
              <a:buFont typeface="Roboto"/>
              <a:buChar char="○"/>
            </a:pPr>
            <a:r>
              <a:rPr b="1" i="1" lang="fr-FR" sz="1700">
                <a:solidFill>
                  <a:srgbClr val="FF0000"/>
                </a:solidFill>
                <a:highlight>
                  <a:srgbClr val="FFFFFF"/>
                </a:highlight>
                <a:latin typeface="Roboto"/>
                <a:ea typeface="Roboto"/>
                <a:cs typeface="Roboto"/>
                <a:sym typeface="Roboto"/>
              </a:rPr>
              <a:t>Industrialisation du déploiement :</a:t>
            </a:r>
            <a:r>
              <a:rPr b="1" i="1" lang="fr-FR" sz="1700">
                <a:solidFill>
                  <a:srgbClr val="0000FF"/>
                </a:solidFill>
                <a:highlight>
                  <a:srgbClr val="FFFFFF"/>
                </a:highlight>
                <a:latin typeface="Roboto"/>
                <a:ea typeface="Roboto"/>
                <a:cs typeface="Roboto"/>
                <a:sym typeface="Roboto"/>
              </a:rPr>
              <a:t> </a:t>
            </a:r>
            <a:r>
              <a:rPr i="1" lang="fr-FR" sz="1700">
                <a:solidFill>
                  <a:srgbClr val="0000FF"/>
                </a:solidFill>
                <a:highlight>
                  <a:srgbClr val="FFFFFF"/>
                </a:highlight>
                <a:latin typeface="Roboto"/>
                <a:ea typeface="Roboto"/>
                <a:cs typeface="Roboto"/>
                <a:sym typeface="Roboto"/>
              </a:rPr>
              <a:t>Automatiser la création et la configuration du cluster </a:t>
            </a:r>
            <a:r>
              <a:rPr i="1" lang="fr-FR" sz="1700">
                <a:solidFill>
                  <a:srgbClr val="FF0000"/>
                </a:solidFill>
                <a:highlight>
                  <a:srgbClr val="FFFFFF"/>
                </a:highlight>
                <a:latin typeface="Roboto"/>
                <a:ea typeface="Roboto"/>
                <a:cs typeface="Roboto"/>
                <a:sym typeface="Roboto"/>
              </a:rPr>
              <a:t>EMR</a:t>
            </a:r>
            <a:r>
              <a:rPr i="1" lang="fr-FR" sz="1700">
                <a:solidFill>
                  <a:srgbClr val="0000FF"/>
                </a:solidFill>
                <a:highlight>
                  <a:srgbClr val="FFFFFF"/>
                </a:highlight>
                <a:latin typeface="Roboto"/>
                <a:ea typeface="Roboto"/>
                <a:cs typeface="Roboto"/>
                <a:sym typeface="Roboto"/>
              </a:rPr>
              <a:t> à l'aide d'outils comme </a:t>
            </a:r>
            <a:r>
              <a:rPr b="1" i="1" lang="fr-FR" sz="1700">
                <a:solidFill>
                  <a:srgbClr val="FF0000"/>
                </a:solidFill>
                <a:highlight>
                  <a:srgbClr val="FFFFFF"/>
                </a:highlight>
                <a:latin typeface="Roboto"/>
                <a:ea typeface="Roboto"/>
                <a:cs typeface="Roboto"/>
                <a:sym typeface="Roboto"/>
              </a:rPr>
              <a:t>AWS CloudFormation</a:t>
            </a:r>
            <a:r>
              <a:rPr i="1" lang="fr-FR" sz="1700">
                <a:solidFill>
                  <a:srgbClr val="0000FF"/>
                </a:solidFill>
                <a:highlight>
                  <a:srgbClr val="FFFFFF"/>
                </a:highlight>
                <a:latin typeface="Roboto"/>
                <a:ea typeface="Roboto"/>
                <a:cs typeface="Roboto"/>
                <a:sym typeface="Roboto"/>
              </a:rPr>
              <a:t> ou des scripts pour une reproductibilité parfaite.</a:t>
            </a:r>
            <a:endParaRPr i="1" sz="1700">
              <a:solidFill>
                <a:srgbClr val="0000FF"/>
              </a:solidFill>
              <a:highlight>
                <a:srgbClr val="FFFFFF"/>
              </a:highlight>
              <a:latin typeface="Roboto"/>
              <a:ea typeface="Roboto"/>
              <a:cs typeface="Roboto"/>
              <a:sym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pic>
        <p:nvPicPr>
          <p:cNvPr id="211" name="Google Shape;211;p26"/>
          <p:cNvPicPr preferRelativeResize="0"/>
          <p:nvPr/>
        </p:nvPicPr>
        <p:blipFill rotWithShape="1">
          <a:blip r:embed="rId3">
            <a:alphaModFix/>
          </a:blip>
          <a:srcRect b="0" l="0" r="0" t="0"/>
          <a:stretch/>
        </p:blipFill>
        <p:spPr>
          <a:xfrm>
            <a:off x="0" y="0"/>
            <a:ext cx="12182400" cy="6848282"/>
          </a:xfrm>
          <a:prstGeom prst="rect">
            <a:avLst/>
          </a:prstGeom>
          <a:noFill/>
          <a:ln>
            <a:noFill/>
          </a:ln>
        </p:spPr>
      </p:pic>
      <p:sp>
        <p:nvSpPr>
          <p:cNvPr id="212" name="Google Shape;212;p26"/>
          <p:cNvSpPr/>
          <p:nvPr/>
        </p:nvSpPr>
        <p:spPr>
          <a:xfrm>
            <a:off x="393840" y="2204280"/>
            <a:ext cx="3309900" cy="822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fr-FR" sz="5400" u="none" cap="none" strike="noStrike">
                <a:solidFill>
                  <a:srgbClr val="FFFFFF"/>
                </a:solidFill>
                <a:latin typeface="Yeseva One"/>
                <a:ea typeface="Yeseva One"/>
                <a:cs typeface="Yeseva One"/>
                <a:sym typeface="Yeseva One"/>
              </a:rPr>
              <a:t>THANKS ! </a:t>
            </a:r>
            <a:endParaRPr b="0" i="0" sz="5400" u="none" cap="none" strike="noStrike">
              <a:solidFill>
                <a:srgbClr val="FFFFFF"/>
              </a:solidFill>
              <a:latin typeface="Yeseva One"/>
              <a:ea typeface="Yeseva One"/>
              <a:cs typeface="Yeseva One"/>
              <a:sym typeface="Yeseva One"/>
            </a:endParaRPr>
          </a:p>
          <a:p>
            <a:pPr indent="0" lvl="0" marL="0" marR="0" rtl="0" algn="l">
              <a:lnSpc>
                <a:spcPct val="100000"/>
              </a:lnSpc>
              <a:spcBef>
                <a:spcPts val="0"/>
              </a:spcBef>
              <a:spcAft>
                <a:spcPts val="0"/>
              </a:spcAft>
              <a:buNone/>
            </a:pPr>
            <a:r>
              <a:rPr lang="fr-FR" sz="5400">
                <a:solidFill>
                  <a:srgbClr val="FFFFFF"/>
                </a:solidFill>
                <a:latin typeface="Yeseva One"/>
                <a:ea typeface="Yeseva One"/>
                <a:cs typeface="Yeseva One"/>
                <a:sym typeface="Yeseva One"/>
              </a:rPr>
              <a:t>Merci de votre attention  </a:t>
            </a:r>
            <a:endParaRPr sz="5400">
              <a:solidFill>
                <a:srgbClr val="FFFFFF"/>
              </a:solidFill>
              <a:latin typeface="Yeseva One"/>
              <a:ea typeface="Yeseva One"/>
              <a:cs typeface="Yeseva One"/>
              <a:sym typeface="Yeseva One"/>
            </a:endParaRPr>
          </a:p>
          <a:p>
            <a:pPr indent="0" lvl="0" marL="0" marR="0" rtl="0" algn="l">
              <a:lnSpc>
                <a:spcPct val="100000"/>
              </a:lnSpc>
              <a:spcBef>
                <a:spcPts val="0"/>
              </a:spcBef>
              <a:spcAft>
                <a:spcPts val="0"/>
              </a:spcAft>
              <a:buNone/>
            </a:pPr>
            <a:r>
              <a:t/>
            </a:r>
            <a:endParaRPr sz="5400">
              <a:solidFill>
                <a:srgbClr val="FFFFFF"/>
              </a:solidFill>
              <a:latin typeface="Yeseva One"/>
              <a:ea typeface="Yeseva One"/>
              <a:cs typeface="Yeseva One"/>
              <a:sym typeface="Yeseva One"/>
            </a:endParaRPr>
          </a:p>
        </p:txBody>
      </p:sp>
      <p:sp>
        <p:nvSpPr>
          <p:cNvPr id="213" name="Google Shape;213;p26"/>
          <p:cNvSpPr/>
          <p:nvPr/>
        </p:nvSpPr>
        <p:spPr>
          <a:xfrm>
            <a:off x="155800" y="3026875"/>
            <a:ext cx="6420900" cy="3638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t/>
            </a:r>
            <a:endParaRPr b="0" i="0" sz="1700" u="none" cap="none" strike="noStrike">
              <a:latin typeface="Arial"/>
              <a:ea typeface="Arial"/>
              <a:cs typeface="Arial"/>
              <a:sym typeface="Arial"/>
            </a:endParaRPr>
          </a:p>
        </p:txBody>
      </p:sp>
      <p:sp>
        <p:nvSpPr>
          <p:cNvPr id="214" name="Google Shape;214;p26"/>
          <p:cNvSpPr/>
          <p:nvPr/>
        </p:nvSpPr>
        <p:spPr>
          <a:xfrm>
            <a:off x="412920" y="4172040"/>
            <a:ext cx="3927258" cy="378"/>
          </a:xfrm>
          <a:custGeom>
            <a:rect b="b" l="l" r="r" t="t"/>
            <a:pathLst>
              <a:path extrusionOk="0" h="21600" w="21600">
                <a:moveTo>
                  <a:pt x="0" y="0"/>
                </a:moveTo>
                <a:lnTo>
                  <a:pt x="21600" y="21600"/>
                </a:lnTo>
              </a:path>
            </a:pathLst>
          </a:custGeom>
          <a:noFill/>
          <a:ln cap="flat" cmpd="sng" w="9525">
            <a:solidFill>
              <a:srgbClr val="FFFFFF"/>
            </a:solidFill>
            <a:prstDash val="solid"/>
            <a:round/>
            <a:headEnd len="sm" w="sm" type="none"/>
            <a:tailEnd len="sm" w="sm" type="none"/>
          </a:ln>
        </p:spPr>
      </p:sp>
    </p:spTree>
  </p:cSld>
  <p:clrMapOvr>
    <a:masterClrMapping/>
  </p:clrMapOvr>
  <p:transition spd="slow" p14:dur="1500">
    <p:random/>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1400"/>
                                  </p:stCondLst>
                                  <p:childTnLst>
                                    <p:set>
                                      <p:cBhvr>
                                        <p:cTn dur="1" fill="hold">
                                          <p:stCondLst>
                                            <p:cond delay="0"/>
                                          </p:stCondLst>
                                        </p:cTn>
                                        <p:tgtEl>
                                          <p:spTgt spid="212"/>
                                        </p:tgtEl>
                                        <p:attrNameLst>
                                          <p:attrName>style.visibility</p:attrName>
                                        </p:attrNameLst>
                                      </p:cBhvr>
                                      <p:to>
                                        <p:strVal val="visible"/>
                                      </p:to>
                                    </p:set>
                                    <p:animEffect filter="fade" transition="in">
                                      <p:cBhvr>
                                        <p:cTn dur="750"/>
                                        <p:tgtEl>
                                          <p:spTgt spid="212"/>
                                        </p:tgtEl>
                                      </p:cBhvr>
                                    </p:animEffect>
                                  </p:childTnLst>
                                </p:cTn>
                              </p:par>
                              <p:par>
                                <p:cTn fill="hold" nodeType="withEffect" presetClass="entr" presetID="10" presetSubtype="0">
                                  <p:stCondLst>
                                    <p:cond delay="2200"/>
                                  </p:stCondLst>
                                  <p:childTnLst>
                                    <p:set>
                                      <p:cBhvr>
                                        <p:cTn dur="1" fill="hold">
                                          <p:stCondLst>
                                            <p:cond delay="0"/>
                                          </p:stCondLst>
                                        </p:cTn>
                                        <p:tgtEl>
                                          <p:spTgt spid="213"/>
                                        </p:tgtEl>
                                        <p:attrNameLst>
                                          <p:attrName>style.visibility</p:attrName>
                                        </p:attrNameLst>
                                      </p:cBhvr>
                                      <p:to>
                                        <p:strVal val="visible"/>
                                      </p:to>
                                    </p:set>
                                    <p:animEffect filter="fade" transition="in">
                                      <p:cBhvr>
                                        <p:cTn dur="750"/>
                                        <p:tgtEl>
                                          <p:spTgt spid="213"/>
                                        </p:tgtEl>
                                      </p:cBhvr>
                                    </p:animEffect>
                                  </p:childTnLst>
                                </p:cTn>
                              </p:par>
                              <p:par>
                                <p:cTn fill="hold" nodeType="withEffect" presetClass="entr" presetID="10" presetSubtype="0">
                                  <p:stCondLst>
                                    <p:cond delay="3000"/>
                                  </p:stCondLst>
                                  <p:childTnLst>
                                    <p:set>
                                      <p:cBhvr>
                                        <p:cTn dur="1" fill="hold">
                                          <p:stCondLst>
                                            <p:cond delay="0"/>
                                          </p:stCondLst>
                                        </p:cTn>
                                        <p:tgtEl>
                                          <p:spTgt spid="214"/>
                                        </p:tgtEl>
                                        <p:attrNameLst>
                                          <p:attrName>style.visibility</p:attrName>
                                        </p:attrNameLst>
                                      </p:cBhvr>
                                      <p:to>
                                        <p:strVal val="visible"/>
                                      </p:to>
                                    </p:set>
                                    <p:animEffect filter="fade" transition="in">
                                      <p:cBhvr>
                                        <p:cTn dur="500"/>
                                        <p:tgtEl>
                                          <p:spTgt spid="214"/>
                                        </p:tgtEl>
                                      </p:cBhvr>
                                    </p:animEffect>
                                  </p:childTnLst>
                                </p:cTn>
                              </p:par>
                              <p:par>
                                <p:cTn fill="hold" nodeType="withEffect" presetClass="entr" presetID="23" presetSubtype="16">
                                  <p:stCondLst>
                                    <p:cond delay="0"/>
                                  </p:stCondLst>
                                  <p:childTnLst>
                                    <p:set>
                                      <p:cBhvr>
                                        <p:cTn dur="1" fill="hold">
                                          <p:stCondLst>
                                            <p:cond delay="0"/>
                                          </p:stCondLst>
                                        </p:cTn>
                                        <p:tgtEl>
                                          <p:spTgt spid="211"/>
                                        </p:tgtEl>
                                        <p:attrNameLst>
                                          <p:attrName>style.visibility</p:attrName>
                                        </p:attrNameLst>
                                      </p:cBhvr>
                                      <p:to>
                                        <p:strVal val="visible"/>
                                      </p:to>
                                    </p:set>
                                    <p:anim calcmode="lin" valueType="num">
                                      <p:cBhvr additive="base">
                                        <p:cTn dur="500"/>
                                        <p:tgtEl>
                                          <p:spTgt spid="211"/>
                                        </p:tgtEl>
                                        <p:attrNameLst>
                                          <p:attrName>ppt_w</p:attrName>
                                        </p:attrNameLst>
                                      </p:cBhvr>
                                      <p:tavLst>
                                        <p:tav fmla="" tm="0">
                                          <p:val>
                                            <p:strVal val="0"/>
                                          </p:val>
                                        </p:tav>
                                        <p:tav fmla="" tm="100000">
                                          <p:val>
                                            <p:strVal val="#ppt_w"/>
                                          </p:val>
                                        </p:tav>
                                      </p:tavLst>
                                    </p:anim>
                                    <p:anim calcmode="lin" valueType="num">
                                      <p:cBhvr additive="base">
                                        <p:cTn dur="500"/>
                                        <p:tgtEl>
                                          <p:spTgt spid="211"/>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38135"/>
      </a:accent1>
      <a:accent2>
        <a:srgbClr val="ED7D31"/>
      </a:accent2>
      <a:accent3>
        <a:srgbClr val="A5A5A5"/>
      </a:accent3>
      <a:accent4>
        <a:srgbClr val="FFC000"/>
      </a:accent4>
      <a:accent5>
        <a:srgbClr val="375623"/>
      </a:accent5>
      <a:accent6>
        <a:srgbClr val="70AD47"/>
      </a:accent6>
      <a:hlink>
        <a:srgbClr val="375623"/>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38135"/>
      </a:accent1>
      <a:accent2>
        <a:srgbClr val="ED7D31"/>
      </a:accent2>
      <a:accent3>
        <a:srgbClr val="A5A5A5"/>
      </a:accent3>
      <a:accent4>
        <a:srgbClr val="FFC000"/>
      </a:accent4>
      <a:accent5>
        <a:srgbClr val="375623"/>
      </a:accent5>
      <a:accent6>
        <a:srgbClr val="70AD47"/>
      </a:accent6>
      <a:hlink>
        <a:srgbClr val="375623"/>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2021-05-10T15:49:33Z</dcterms:created>
  <dc:creator>china</dc:creator>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2052-3.4.0.5283</vt:lpwstr>
  </property>
</Properties>
</file>